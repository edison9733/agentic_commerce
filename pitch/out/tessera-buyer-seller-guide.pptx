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m" id="{c80d1526-efac-038a-a605-90881c955a61}">
          <p14:sldIdLst>
            <p14:sldId id="256"/>
            <p14:sldId id="257"/>
            <p14:sldId id="258"/>
          </p14:sldIdLst>
        </p14:section>
        <p14:section name="Setup" id="{f86a4469-8c85-c60d-b9d4-5b1f261461d0}">
          <p14:sldIdLst>
            <p14:sldId id="259"/>
            <p14:sldId id="260"/>
            <p14:sldId id="261"/>
            <p14:sldId id="262"/>
          </p14:sldIdLst>
        </p14:section>
        <p14:section name="Buy" id="{58e36741-b18b-a8a7-a6db-c90c34d8fdc7}">
          <p14:sldIdLst>
            <p14:sldId id="263"/>
            <p14:sldId id="264"/>
            <p14:sldId id="265"/>
            <p14:sldId id="266"/>
          </p14:sldIdLst>
        </p14:section>
        <p14:section name="Watch" id="{1eddc479-04e8-a43c-1554-c28c07d0deef}">
          <p14:sldIdLst>
            <p14:sldId id="267"/>
            <p14:sldId id="268"/>
            <p14:sldId id="269"/>
          </p14:sldIdLst>
        </p14:section>
        <p14:section name="Extras" id="{10c9c98d-ec8f-6346-9624-a920ebd8303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step-by-step playbook: download the project, run the seller side (the merchant agents), buy from it as a person in the browser and as an agent over x402, and watch every transaction live on the website and on Solana Explorer. Everything runs on Solana devnet with test USDC. No real money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The seller is the merchant-agent server: four honest shops (atlas sells network telemetry, quill text summaries, vera credit reports, pixel identicons), plus background jobs that release escrows, resolve disputes and hand out test funds. The buyer is either you in the browser with a wallet, or a buyer agent in the terminal that pays through an x402 facilitator. Either way the buyer verifies the escrow on-chain before paying and leaves an on-chain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three terminals. Terminal 1 runs the seller on port 4020. Terminal 2 runs the website on port 5173; it reads the chain directly, so it works even without the seller. Terminal 3 is for buyer agents: single purchases with npm run buy, or a whole simulated market with npm run swarm. All of them talk to the same Tessera program on Solana devnet.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install. To watch: Node 20.18 or newer and git. To buy in the browser: a Solana wallet extension set to devnet, or nothing, because the site has a built-in throwaway test wallet. To run the seller: the Solana CLI, so you have a funded wallet at ~/.config/solana/id.json. The setup script funds every agent from it: about 6.5 devnet SOL and about 30 devnet USDC. Rust and Anchor are only needed to rebuild the on-chain program; it is already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same for everyone: clone the repository, run npm install once, then npm run web. Open localhost:5173 and go to the live network page. The site has no server of its own: it reads the Tessera accounts from Solana devnet in your browser every few seconds. Only the market page needs the seller to be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seller needs a funded Solana CLI wallet; the setup script pays for everything from it. Set the CLI to devnet, create a keypair if you do not have one, and paste its address into the Solana faucet for SOL and Circle's faucet for devnet USDC. Faucets have per-request limits, so you may need several requests. If you still have the .keys folder from an earlier run, copy it into the repository root before the next step: the setup script reuses existing keys and only tops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run setup:devnet checks the program is deployed, creates the role and agent keypairs in .keys, funds them from your CLI wallet and gives each honest agent an on-chain profile. Every step checks the chain first, so it is safe to run again. If the on-chain config belongs to someone else's wallet, it leaves the config alone and uses its rules. Then npm run agents starts the seller on port 4020. The startup log lists the reachable x402 facilitators, the hold for each tier and each shop with its price. Mallory and washer are the scripted attackers; they only trade when the swarm runs. Never commit or share the .keys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seller running, open the market page. Connect a devnet wallet, or use the built-in test wallet that lives in the browser tab. Press Get test funds: the seller's faucet sends 0.8 test USDC and 0.02 SOL, once per wallet. Pick a service and pay. The checkout shows four steps: the merchant opens an escrow for you, your browser reads it from the chain and checks buyer, merchant, amount, mint and request hash, you pay into the vault, and the merchant delivers and commits the sha256 of the result, which your browser checks. A new wallet waits the New hold, two minutes on devnet. Release early if you are happy, dispute if not, then leave a review that is stored on-chain. On a brand-new setup the faucet only refills from the shops' takings, so make a few agent purchases first or use the public faucets.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x402 path. First, curl the plain HTTP endpoint without paying: the seller opens an order on-chain and answers 402 Payment Required, with a PAYMENT-REQUIRED header whose payTo is that order's escrow account. That curl opens a real quote; unpaid quotes are cancelled after about five minutes, and each wallet can hold three at once. Second, npm run buy runs a full purchase by the scout agent: it reads atlas's A2A agent card, gets the 402, verifies the escrow on-chain, signs an x402 payment and sends it through a public facilitator, which pays the fee, so the buyer needs no SOL. It prints Explorer links for the order and the settlement transaction, checks the delivery hash, waits for the hold and leaves a review. Third, buy:http does the same sale over plain HTTP 402 without A2A.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buying, an agent can ask Tessera who to buy from. Start the API with npm run api, then run tessera find with what you need, or call GET /v1/merchants on the API. MCP clients get the same thing as the find_merchants tool. Each row is a merchant ranked by its on-chain score: settled sales, distinct buyers, tenure, penalties, and reviews weighted by the money behind them. A review needs a real settled order, so faking a top rank costs real sales. Every row also says whether paying would settle instantly or go through escrow, and roughly how many seconds from paying to settled, so an agent can choose by quality, speed or price in one call. The output shown is abridged; your numbers come from devnet. If nothing matches, the answer is status no_match with an empty list. A merchant with a bad record is still listed, lower, and routed to escrow.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purchase is an Order account that owns a vault. AwaitingPayment is the quote. Funded means the USDC is in the vault; the program checks the vault balance rather than trusting anyone. Delivered means the merchant committed the hash of what it delivered, and the hold starts. Released pays the merchant minus a 1% protocol fee. If the merchant never delivers, anyone can refund the buyer after the deadline; during the hold, the buyer can dispute and the arbiter decides. The hold is the longer of the two parties' tier holds: on devnet two minutes for New, 45 seconds for Building, 10 seconds for Established and none for two Trusted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see transactions live. The live network page draws every agent, pair and open escrow from devnet and has a feed of the latest orders; each row opens the order in Solana Explorer. The agents page lists every credit file; each one shows the score stored on-chain next to the score recomputed in your browser. In Solana Explorer, with the cluster set to devnet, the program address lists every Tessera transaction, and any wallet or order address can be searched. Solscan works too with ?cluster=devnet. The buy command prints direct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purchase and watch it from both sides. The seller's terminal logs each release by the crank, with the hold it waited, and each dispute the arbiter resolves. The shop's wallet receives the USDC, the treasury its 1% fee, and the shop's credit file updates. The buyer sees the checkout steps, or the buy command's output, with links to the order and the settlement transaction, the hash check, and the review. The buyer's own credit file appears on the agents page after its first settled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busy network, run npm run swarm next to the seller. Six honest buyer agents trade every period, one minute on devnet, for 45 periods. Later three attacks join: a merchant that wash-trades with three sock puppets, a merchant that takes orders and never delivers, and a buyer that disputes deliveries that were fine. On the live network page you can watch honest agents climb tiers while the attackers stall or get penalised. Don't run it while recording a video; the public devnet RPC rate-limits.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have the buyer on a different computer, the seller exposes port 4020 over HTTPS with any tunnel, such as cloudflared or ngrok, and restarts the agents with AGENT_HOST set to the tunnel URL, so agent cards and x402 resources name the public address. The buyer clones the project, runs npm install, and starts the website with VITE_AGENTS_URL pointing at the tunnel. The default allowed origin is localhost:5173, which is where the buyer's own site runs. Agent buyers load keypairs from .keys, so in this demo they run on the seller's machine. On Windows PowerShell, set environment variables with $env: before running the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problems. The public devnet RPC rate-limits hard; the site retries, or you can give it your own RPC. If the market cannot reach the seller, start the agents or fix VITE_AGENTS_URL. The site faucet only has what the shops have earned, so on a new setup make a few purchases first. Wallets must be on devnet. The setup script stops if the CLI wallet runs out; top up and run it again. Disputes are resolved by the arbiter key recorded in the on-chain config, so if your keys are new and you are not the config authority, disputes stay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from this deck, in order. The seller runs setup once, then the agents. Anyone runs the website. Buyer bots run npm run buy or the swarm.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46304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algn="l" indent="0" marL="0">
              <a:buNone/>
              <a:defRPr lang="en-US" sz="2600" dirty="0">
                <a:solidFill>
                  <a:schemeClr val="accent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69848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1920240"/>
            <a:ext cx="10698480" cy="50292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spc="100" kern="0" dirty="0">
                <a:solidFill>
                  <a:schemeClr val="bg2"/>
                </a:solidFill>
                <a:latin typeface="+mj-lt" pitchFamily="34" charset="0"/>
                <a:ea typeface="+mj-lt" pitchFamily="34" charset="-122"/>
                <a:cs typeface="+mj-lt" pitchFamily="34" charset="-120"/>
              </a:rPr>
              <a:t>TESSERA · PLAYBOOK · DEVNET ONLY, TEST FUNDS ONLY</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371600"/>
            <a:ext cx="822960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TESSERA · PLAYBOOK · SOLANA DEVNET</a:t>
            </a:r>
            <a:endParaRPr lang="en-US" sz="1400" dirty="0"/>
          </a:p>
        </p:txBody>
      </p:sp>
      <p:sp>
        <p:nvSpPr>
          <p:cNvPr id="3" name="Text 0"/>
          <p:cNvSpPr/>
          <p:nvPr>
            <p:ph idx="100" type="title" hasCustomPrompt="1"/>
          </p:nvPr>
        </p:nvSpPr>
        <p:spPr>
          <a:xfrm>
            <a:off x="731520" y="1874520"/>
            <a:ext cx="10698480" cy="1463040"/>
          </a:xfrm>
          <a:prstGeom prst="rect">
            <a:avLst/>
          </a:prstGeom>
          <a:noFill/>
          <a:ln/>
        </p:spPr>
        <p:txBody>
          <a:bodyPr wrap="square" lIns="0" tIns="0" rIns="0" bIns="0" rtlCol="0" anchor="b"/>
          <a:lstStyle/>
          <a:p>
            <a:pPr algn="l" indent="0" marL="0">
              <a:buNone/>
            </a:pPr>
            <a:r>
              <a:rPr lang="en-US" sz="6600" b="1" dirty="0">
                <a:solidFill>
                  <a:schemeClr val="bg1"/>
                </a:solidFill>
              </a:rPr>
              <a:t>git clone → gm</a:t>
            </a:r>
            <a:endParaRPr lang="en-US" sz="6600" dirty="0"/>
          </a:p>
        </p:txBody>
      </p:sp>
      <p:sp>
        <p:nvSpPr>
          <p:cNvPr id="4" name="Text 0"/>
          <p:cNvSpPr/>
          <p:nvPr>
            <p:ph idx="101" type="body" hasCustomPrompt="1"/>
          </p:nvPr>
        </p:nvSpPr>
        <p:spPr>
          <a:xfrm>
            <a:off x="731520" y="3474720"/>
            <a:ext cx="10698480" cy="822960"/>
          </a:xfrm>
          <a:prstGeom prst="rect">
            <a:avLst/>
          </a:prstGeom>
          <a:noFill/>
          <a:ln/>
        </p:spPr>
        <p:txBody>
          <a:bodyPr wrap="square" lIns="0" tIns="0" rIns="0" bIns="0" rtlCol="0" anchor="t"/>
          <a:lstStyle/>
          <a:p>
            <a:pPr algn="l" indent="0" marL="0">
              <a:buNone/>
            </a:pPr>
            <a:r>
              <a:rPr lang="en-US" sz="2600" dirty="0">
                <a:solidFill>
                  <a:schemeClr val="accent1"/>
                </a:solidFill>
              </a:rPr>
              <a:t>be the seller AND the buyer: x402 escrow on Solana, live</a:t>
            </a:r>
            <a:endParaRPr lang="en-US" sz="2600" dirty="0"/>
          </a:p>
        </p:txBody>
      </p:sp>
      <p:sp>
        <p:nvSpPr>
          <p:cNvPr id="5" name="Tagline"/>
          <p:cNvSpPr txBox="1"/>
          <p:nvPr/>
        </p:nvSpPr>
        <p:spPr>
          <a:xfrm>
            <a:off x="731520" y="4343400"/>
            <a:ext cx="10515600" cy="457200"/>
          </a:xfrm>
          <a:prstGeom prst="rect">
            <a:avLst/>
          </a:prstGeom>
          <a:noFill/>
          <a:ln/>
        </p:spPr>
        <p:txBody>
          <a:bodyPr wrap="square" lIns="0" tIns="0" rIns="0" bIns="0" rtlCol="0" anchor="t"/>
          <a:lstStyle/>
          <a:p>
            <a:pPr indent="0" marL="0">
              <a:buNone/>
            </a:pPr>
            <a:r>
              <a:rPr lang="en-US" sz="2000" dirty="0">
                <a:solidFill>
                  <a:schemeClr val="bg2"/>
                </a:solidFill>
              </a:rPr>
              <a:t>fake money, real lessons. no seed phrases were harmed in this deck 🔑</a:t>
            </a:r>
            <a:endParaRPr lang="en-US" sz="2000" dirty="0"/>
          </a:p>
        </p:txBody>
      </p:sp>
      <p:sp>
        <p:nvSpPr>
          <p:cNvPr id="6" name="Byline"/>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200" dirty="0">
                <a:solidFill>
                  <a:schemeClr val="bg2"/>
                </a:solidFill>
                <a:latin typeface="+mj-lt" pitchFamily="34" charset="0"/>
                <a:ea typeface="+mj-lt" pitchFamily="34" charset="-122"/>
                <a:cs typeface="+mj-lt" pitchFamily="34" charset="-120"/>
              </a:rPr>
              <a:t>Edison Liu · Tessera · github.com/edison9733/agentic_commerce</a:t>
            </a:r>
            <a:endParaRPr lang="en-US" sz="1200" dirty="0"/>
          </a:p>
        </p:txBody>
      </p:sp>
      <p:sp>
        <p:nvSpPr>
          <p:cNvPr id="7" name="Icon chip"/>
          <p:cNvSpPr/>
          <p:nvPr/>
        </p:nvSpPr>
        <p:spPr>
          <a:xfrm>
            <a:off x="8641080" y="548640"/>
            <a:ext cx="1234440" cy="1234440"/>
          </a:xfrm>
          <a:prstGeom prst="ellipse">
            <a:avLst/>
          </a:prstGeom>
          <a:solidFill>
            <a:schemeClr val="accent4">
              <a:alpha val="22000"/>
            </a:schemeClr>
          </a:solidFill>
          <a:ln w="12700">
            <a:solidFill>
              <a:schemeClr val="accent4">
                <a:alpha val="70000"/>
              </a:schemeClr>
            </a:solidFill>
            <a:prstDash val="solid"/>
          </a:ln>
        </p:spPr>
      </p:sp>
      <p:pic>
        <p:nvPicPr>
          <p:cNvPr id="8" name="Icon" descr="preencoded.png">    </p:cNvPr>
          <p:cNvPicPr>
            <a:picLocks noChangeAspect="1"/>
          </p:cNvPicPr>
          <p:nvPr/>
        </p:nvPicPr>
        <p:blipFill>
          <a:blip r:embed="rId1"/>
          <a:stretch>
            <a:fillRect/>
          </a:stretch>
        </p:blipFill>
        <p:spPr>
          <a:xfrm>
            <a:off x="8949690" y="857250"/>
            <a:ext cx="617220" cy="617220"/>
          </a:xfrm>
          <a:prstGeom prst="rect">
            <a:avLst/>
          </a:prstGeom>
        </p:spPr>
      </p:pic>
      <p:sp>
        <p:nvSpPr>
          <p:cNvPr id="9" name="Icon chip"/>
          <p:cNvSpPr/>
          <p:nvPr/>
        </p:nvSpPr>
        <p:spPr>
          <a:xfrm>
            <a:off x="10058400" y="548640"/>
            <a:ext cx="1234440" cy="1234440"/>
          </a:xfrm>
          <a:prstGeom prst="ellipse">
            <a:avLst/>
          </a:prstGeom>
          <a:solidFill>
            <a:schemeClr val="accent5">
              <a:alpha val="22000"/>
            </a:schemeClr>
          </a:solidFill>
          <a:ln w="12700">
            <a:solidFill>
              <a:schemeClr val="accent5">
                <a:alpha val="70000"/>
              </a:schemeClr>
            </a:solidFill>
            <a:prstDash val="solid"/>
          </a:ln>
        </p:spPr>
      </p:sp>
      <p:pic>
        <p:nvPicPr>
          <p:cNvPr id="10" name="Icon" descr="preencoded.png">    </p:cNvPr>
          <p:cNvPicPr>
            <a:picLocks noChangeAspect="1"/>
          </p:cNvPicPr>
          <p:nvPr/>
        </p:nvPicPr>
        <p:blipFill>
          <a:blip r:embed="rId2"/>
          <a:stretch>
            <a:fillRect/>
          </a:stretch>
        </p:blipFill>
        <p:spPr>
          <a:xfrm>
            <a:off x="10367010" y="857250"/>
            <a:ext cx="617220" cy="617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THE CAST</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who’s who in this market</a:t>
            </a:r>
            <a:endParaRPr lang="en-US" sz="3600" dirty="0"/>
          </a:p>
        </p:txBody>
      </p:sp>
      <p:sp>
        <p:nvSpPr>
          <p:cNvPr id="4" name="Side 1"/>
          <p:cNvSpPr/>
          <p:nvPr/>
        </p:nvSpPr>
        <p:spPr>
          <a:xfrm>
            <a:off x="548640" y="1645920"/>
            <a:ext cx="5394960" cy="3840480"/>
          </a:xfrm>
          <a:prstGeom prst="roundRect">
            <a:avLst>
              <a:gd name="adj" fmla="val 3333"/>
            </a:avLst>
          </a:prstGeom>
          <a:solidFill>
            <a:schemeClr val="accent4">
              <a:alpha val="16000"/>
            </a:schemeClr>
          </a:solidFill>
          <a:ln w="12700">
            <a:solidFill>
              <a:schemeClr val="accent4">
                <a:alpha val="45000"/>
              </a:schemeClr>
            </a:solidFill>
            <a:prstDash val="solid"/>
          </a:ln>
        </p:spPr>
      </p:sp>
      <p:sp>
        <p:nvSpPr>
          <p:cNvPr id="5" name="Icon chip"/>
          <p:cNvSpPr/>
          <p:nvPr/>
        </p:nvSpPr>
        <p:spPr>
          <a:xfrm>
            <a:off x="777240" y="1847088"/>
            <a:ext cx="640080" cy="640080"/>
          </a:xfrm>
          <a:prstGeom prst="ellipse">
            <a:avLst/>
          </a:prstGeom>
          <a:solidFill>
            <a:schemeClr val="accent4">
              <a:alpha val="22000"/>
            </a:schemeClr>
          </a:solidFill>
          <a:ln w="12700">
            <a:solidFill>
              <a:schemeClr val="accent4">
                <a:alpha val="70000"/>
              </a:schemeClr>
            </a:solidFill>
            <a:prstDash val="solid"/>
          </a:ln>
        </p:spPr>
      </p:sp>
      <p:pic>
        <p:nvPicPr>
          <p:cNvPr id="6" name="Icon" descr="preencoded.png">    </p:cNvPr>
          <p:cNvPicPr>
            <a:picLocks noChangeAspect="1"/>
          </p:cNvPicPr>
          <p:nvPr/>
        </p:nvPicPr>
        <p:blipFill>
          <a:blip r:embed="rId1"/>
          <a:stretch>
            <a:fillRect/>
          </a:stretch>
        </p:blipFill>
        <p:spPr>
          <a:xfrm>
            <a:off x="937260" y="2007108"/>
            <a:ext cx="320040" cy="320040"/>
          </a:xfrm>
          <a:prstGeom prst="rect">
            <a:avLst/>
          </a:prstGeom>
        </p:spPr>
      </p:pic>
      <p:sp>
        <p:nvSpPr>
          <p:cNvPr id="7" name="Side 1 heading"/>
          <p:cNvSpPr txBox="1"/>
          <p:nvPr/>
        </p:nvSpPr>
        <p:spPr>
          <a:xfrm>
            <a:off x="1572768" y="1956816"/>
            <a:ext cx="4206240" cy="457200"/>
          </a:xfrm>
          <a:prstGeom prst="rect">
            <a:avLst/>
          </a:prstGeom>
          <a:noFill/>
          <a:ln/>
        </p:spPr>
        <p:txBody>
          <a:bodyPr wrap="square" lIns="0" tIns="0" rIns="0" bIns="0" rtlCol="0" anchor="t"/>
          <a:lstStyle/>
          <a:p>
            <a:pPr indent="0" marL="0">
              <a:buNone/>
            </a:pPr>
            <a:r>
              <a:rPr lang="en-US" sz="2100" b="1" dirty="0">
                <a:solidFill>
                  <a:schemeClr val="accent4"/>
                </a:solidFill>
                <a:latin typeface="+mj-lt" pitchFamily="34" charset="0"/>
                <a:ea typeface="+mj-lt" pitchFamily="34" charset="-122"/>
                <a:cs typeface="+mj-lt" pitchFamily="34" charset="-120"/>
              </a:rPr>
              <a:t>SELLER · the shops</a:t>
            </a:r>
            <a:endParaRPr lang="en-US" sz="2100" dirty="0"/>
          </a:p>
        </p:txBody>
      </p:sp>
      <p:sp>
        <p:nvSpPr>
          <p:cNvPr id="8" name="Side 1 list"/>
          <p:cNvSpPr txBox="1"/>
          <p:nvPr/>
        </p:nvSpPr>
        <p:spPr>
          <a:xfrm>
            <a:off x="822960" y="2743200"/>
            <a:ext cx="4892040" cy="2606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Runs npm run agents on port 4020 and holds the keys</a:t>
            </a:r>
            <a:endParaRPr lang="en-US" sz="1700" dirty="0"/>
          </a:p>
          <a:p>
            <a:pPr marL="342900" indent="-342900">
              <a:spcAft>
                <a:spcPts val="1000"/>
              </a:spcAft>
              <a:buSzPct val="100000"/>
              <a:buChar char="•"/>
            </a:pPr>
            <a:r>
              <a:rPr lang="en-US" sz="1700" dirty="0">
                <a:solidFill>
                  <a:schemeClr val="bg1"/>
                </a:solidFill>
              </a:rPr>
              <a:t>4 shops: atlas $0.20 · quill $0.25 · vera $0.30 · pixel $0.15</a:t>
            </a:r>
            <a:endParaRPr lang="en-US" sz="1700" dirty="0"/>
          </a:p>
          <a:p>
            <a:pPr marL="342900" indent="-342900">
              <a:spcAft>
                <a:spcPts val="1000"/>
              </a:spcAft>
              <a:buSzPct val="100000"/>
              <a:buChar char="•"/>
            </a:pPr>
            <a:r>
              <a:rPr lang="en-US" sz="1700" dirty="0">
                <a:solidFill>
                  <a:schemeClr val="bg1"/>
                </a:solidFill>
              </a:rPr>
              <a:t>Opens an escrow per order, delivers, commits a hash, gets paid when the hold ends</a:t>
            </a:r>
            <a:endParaRPr lang="en-US" sz="1700" dirty="0"/>
          </a:p>
          <a:p>
            <a:pPr marL="342900" indent="-342900">
              <a:spcAft>
                <a:spcPts val="1000"/>
              </a:spcAft>
              <a:buSzPct val="100000"/>
              <a:buChar char="•"/>
            </a:pPr>
            <a:r>
              <a:rPr lang="en-US" sz="1700" dirty="0">
                <a:solidFill>
                  <a:schemeClr val="bg1"/>
                </a:solidFill>
              </a:rPr>
              <a:t>Also runs the crank, a demo arbiter and a test-USDC faucet</a:t>
            </a:r>
            <a:endParaRPr lang="en-US" sz="1700" dirty="0"/>
          </a:p>
        </p:txBody>
      </p:sp>
      <p:sp>
        <p:nvSpPr>
          <p:cNvPr id="9" name="Side 2"/>
          <p:cNvSpPr/>
          <p:nvPr/>
        </p:nvSpPr>
        <p:spPr>
          <a:xfrm>
            <a:off x="6245352" y="1645920"/>
            <a:ext cx="5394960" cy="3840480"/>
          </a:xfrm>
          <a:prstGeom prst="roundRect">
            <a:avLst>
              <a:gd name="adj" fmla="val 3333"/>
            </a:avLst>
          </a:prstGeom>
          <a:solidFill>
            <a:schemeClr val="accent5">
              <a:alpha val="16000"/>
            </a:schemeClr>
          </a:solidFill>
          <a:ln w="12700">
            <a:solidFill>
              <a:schemeClr val="accent5">
                <a:alpha val="45000"/>
              </a:schemeClr>
            </a:solidFill>
            <a:prstDash val="solid"/>
          </a:ln>
        </p:spPr>
      </p:sp>
      <p:sp>
        <p:nvSpPr>
          <p:cNvPr id="10" name="Icon chip"/>
          <p:cNvSpPr/>
          <p:nvPr/>
        </p:nvSpPr>
        <p:spPr>
          <a:xfrm>
            <a:off x="6473952" y="1847088"/>
            <a:ext cx="640080" cy="640080"/>
          </a:xfrm>
          <a:prstGeom prst="ellipse">
            <a:avLst/>
          </a:prstGeom>
          <a:solidFill>
            <a:schemeClr val="accent5">
              <a:alpha val="22000"/>
            </a:schemeClr>
          </a:solidFill>
          <a:ln w="12700">
            <a:solidFill>
              <a:schemeClr val="accent5">
                <a:alpha val="70000"/>
              </a:schemeClr>
            </a:solidFill>
            <a:prstDash val="solid"/>
          </a:ln>
        </p:spPr>
      </p:sp>
      <p:pic>
        <p:nvPicPr>
          <p:cNvPr id="11" name="Icon" descr="preencoded.png">    </p:cNvPr>
          <p:cNvPicPr>
            <a:picLocks noChangeAspect="1"/>
          </p:cNvPicPr>
          <p:nvPr/>
        </p:nvPicPr>
        <p:blipFill>
          <a:blip r:embed="rId2"/>
          <a:stretch>
            <a:fillRect/>
          </a:stretch>
        </p:blipFill>
        <p:spPr>
          <a:xfrm>
            <a:off x="6633972" y="2007108"/>
            <a:ext cx="320040" cy="320040"/>
          </a:xfrm>
          <a:prstGeom prst="rect">
            <a:avLst/>
          </a:prstGeom>
        </p:spPr>
      </p:pic>
      <p:sp>
        <p:nvSpPr>
          <p:cNvPr id="12" name="Side 2 heading"/>
          <p:cNvSpPr txBox="1"/>
          <p:nvPr/>
        </p:nvSpPr>
        <p:spPr>
          <a:xfrm>
            <a:off x="7269480" y="1956816"/>
            <a:ext cx="4206240" cy="457200"/>
          </a:xfrm>
          <a:prstGeom prst="rect">
            <a:avLst/>
          </a:prstGeom>
          <a:noFill/>
          <a:ln/>
        </p:spPr>
        <p:txBody>
          <a:bodyPr wrap="square" lIns="0" tIns="0" rIns="0" bIns="0" rtlCol="0" anchor="t"/>
          <a:lstStyle/>
          <a:p>
            <a:pPr indent="0" marL="0">
              <a:buNone/>
            </a:pPr>
            <a:r>
              <a:rPr lang="en-US" sz="2100" b="1" dirty="0">
                <a:solidFill>
                  <a:schemeClr val="accent5"/>
                </a:solidFill>
                <a:latin typeface="+mj-lt" pitchFamily="34" charset="0"/>
                <a:ea typeface="+mj-lt" pitchFamily="34" charset="-122"/>
                <a:cs typeface="+mj-lt" pitchFamily="34" charset="-120"/>
              </a:rPr>
              <a:t>BUYER · you, or a bot</a:t>
            </a:r>
            <a:endParaRPr lang="en-US" sz="2100" dirty="0"/>
          </a:p>
        </p:txBody>
      </p:sp>
      <p:sp>
        <p:nvSpPr>
          <p:cNvPr id="13" name="Side 2 list"/>
          <p:cNvSpPr txBox="1"/>
          <p:nvPr/>
        </p:nvSpPr>
        <p:spPr>
          <a:xfrm>
            <a:off x="6519672" y="2743200"/>
            <a:ext cx="4892040" cy="2606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A: you in the browser with Phantom, Solflare, Backpack or the built-in test wallet</a:t>
            </a:r>
            <a:endParaRPr lang="en-US" sz="1700" dirty="0"/>
          </a:p>
          <a:p>
            <a:pPr marL="342900" indent="-342900">
              <a:spcAft>
                <a:spcPts val="1000"/>
              </a:spcAft>
              <a:buSzPct val="100000"/>
              <a:buChar char="•"/>
            </a:pPr>
            <a:r>
              <a:rPr lang="en-US" sz="1700" dirty="0">
                <a:solidFill>
                  <a:schemeClr val="bg1"/>
                </a:solidFill>
              </a:rPr>
              <a:t>B: a buyer agent in the terminal, paying over real x402 through a facilitator</a:t>
            </a:r>
            <a:endParaRPr lang="en-US" sz="1700" dirty="0"/>
          </a:p>
          <a:p>
            <a:pPr marL="342900" indent="-342900">
              <a:spcAft>
                <a:spcPts val="1000"/>
              </a:spcAft>
              <a:buSzPct val="100000"/>
              <a:buChar char="•"/>
            </a:pPr>
            <a:r>
              <a:rPr lang="en-US" sz="1700" dirty="0">
                <a:solidFill>
                  <a:schemeClr val="bg1"/>
                </a:solidFill>
              </a:rPr>
              <a:t>Checks the escrow on-chain before paying a cent</a:t>
            </a:r>
            <a:endParaRPr lang="en-US" sz="1700" dirty="0"/>
          </a:p>
          <a:p>
            <a:pPr marL="342900" indent="-342900">
              <a:spcAft>
                <a:spcPts val="1000"/>
              </a:spcAft>
              <a:buSzPct val="100000"/>
              <a:buChar char="•"/>
            </a:pPr>
            <a:r>
              <a:rPr lang="en-US" sz="1700" dirty="0">
                <a:solidFill>
                  <a:schemeClr val="bg1"/>
                </a:solidFill>
              </a:rPr>
              <a:t>Rates the seller on-chain when it’s done</a:t>
            </a:r>
            <a:endParaRPr lang="en-US" sz="1700" dirty="0"/>
          </a:p>
        </p:txBody>
      </p:sp>
      <p:sp>
        <p:nvSpPr>
          <p:cNvPr id="14" name="Quip"/>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both sides verify. nobody trusts. that’s the whole vibe.</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THE SETUP</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3 terminals, 2 ports, 1 chain</a:t>
            </a:r>
            <a:endParaRPr lang="en-US" sz="3600" dirty="0"/>
          </a:p>
        </p:txBody>
      </p:sp>
      <p:sp>
        <p:nvSpPr>
          <p:cNvPr id="4" name="Terminal 1"/>
          <p:cNvSpPr/>
          <p:nvPr/>
        </p:nvSpPr>
        <p:spPr>
          <a:xfrm>
            <a:off x="548640" y="1645920"/>
            <a:ext cx="3520440" cy="1920240"/>
          </a:xfrm>
          <a:prstGeom prst="roundRect">
            <a:avLst>
              <a:gd name="adj" fmla="val 6667"/>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1 dot 1"/>
          <p:cNvSpPr/>
          <p:nvPr/>
        </p:nvSpPr>
        <p:spPr>
          <a:xfrm>
            <a:off x="749808" y="1801368"/>
            <a:ext cx="118872" cy="118872"/>
          </a:xfrm>
          <a:prstGeom prst="ellipse">
            <a:avLst/>
          </a:prstGeom>
          <a:solidFill>
            <a:schemeClr val="accent6"/>
          </a:solidFill>
          <a:ln w="12700">
            <a:solidFill>
              <a:schemeClr val="accent6"/>
            </a:solidFill>
            <a:prstDash val="solid"/>
          </a:ln>
        </p:spPr>
      </p:sp>
      <p:sp>
        <p:nvSpPr>
          <p:cNvPr id="6" name="Terminal 1 dot 2"/>
          <p:cNvSpPr/>
          <p:nvPr/>
        </p:nvSpPr>
        <p:spPr>
          <a:xfrm>
            <a:off x="950976" y="1801368"/>
            <a:ext cx="118872" cy="118872"/>
          </a:xfrm>
          <a:prstGeom prst="ellipse">
            <a:avLst/>
          </a:prstGeom>
          <a:solidFill>
            <a:schemeClr val="accent3"/>
          </a:solidFill>
          <a:ln w="12700">
            <a:solidFill>
              <a:schemeClr val="accent3"/>
            </a:solidFill>
            <a:prstDash val="solid"/>
          </a:ln>
        </p:spPr>
      </p:sp>
      <p:sp>
        <p:nvSpPr>
          <p:cNvPr id="7" name="Terminal 1 dot 3"/>
          <p:cNvSpPr/>
          <p:nvPr/>
        </p:nvSpPr>
        <p:spPr>
          <a:xfrm>
            <a:off x="1152144" y="1801368"/>
            <a:ext cx="118872" cy="118872"/>
          </a:xfrm>
          <a:prstGeom prst="ellipse">
            <a:avLst/>
          </a:prstGeom>
          <a:solidFill>
            <a:schemeClr val="accent1"/>
          </a:solidFill>
          <a:ln w="12700">
            <a:solidFill>
              <a:schemeClr val="accent1"/>
            </a:solidFill>
            <a:prstDash val="solid"/>
          </a:ln>
        </p:spPr>
      </p:sp>
      <p:sp>
        <p:nvSpPr>
          <p:cNvPr id="8" name="Terminal 1 label"/>
          <p:cNvSpPr txBox="1"/>
          <p:nvPr/>
        </p:nvSpPr>
        <p:spPr>
          <a:xfrm>
            <a:off x="1417320" y="1728216"/>
            <a:ext cx="242316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1 · SELLER</a:t>
            </a:r>
            <a:endParaRPr lang="en-US" sz="1000" dirty="0"/>
          </a:p>
        </p:txBody>
      </p:sp>
      <p:sp>
        <p:nvSpPr>
          <p:cNvPr id="9" name="Terminal 1 text"/>
          <p:cNvSpPr txBox="1"/>
          <p:nvPr/>
        </p:nvSpPr>
        <p:spPr>
          <a:xfrm>
            <a:off x="822960" y="2084832"/>
            <a:ext cx="3017520" cy="1371600"/>
          </a:xfrm>
          <a:prstGeom prst="rect">
            <a:avLst/>
          </a:prstGeom>
          <a:noFill/>
          <a:ln/>
        </p:spPr>
        <p:txBody>
          <a:bodyPr wrap="square" lIns="0" tIns="0" rIns="0" bIns="0" rtlCol="0" anchor="t"/>
          <a:lstStyle/>
          <a:p>
            <a:pPr indent="0" marL="0">
              <a:lnSpc>
                <a:spcPct val="115000"/>
              </a:lnSpc>
              <a:buNone/>
            </a:pPr>
            <a:r>
              <a:rPr lang="en-US" sz="1700" b="1" dirty="0">
                <a:solidFill>
                  <a:schemeClr val="bg1"/>
                </a:solidFill>
                <a:latin typeface="+mj-lt" pitchFamily="34" charset="0"/>
                <a:ea typeface="+mj-lt" pitchFamily="34" charset="-122"/>
                <a:cs typeface="+mj-lt" pitchFamily="34" charset="-120"/>
              </a:rPr>
              <a:t>$ npm run agents</a:t>
            </a:r>
            <a:endParaRPr lang="en-US" sz="1700" dirty="0"/>
          </a:p>
          <a:p>
            <a:pPr indent="0" marL="0">
              <a:lnSpc>
                <a:spcPct val="115000"/>
              </a:lnSpc>
              <a:buNone/>
            </a:pPr>
            <a:r>
              <a:rPr lang="en-US" sz="1700" dirty="0">
                <a:solidFill>
                  <a:schemeClr val="accent1"/>
                </a:solidFill>
                <a:latin typeface="+mj-lt" pitchFamily="34" charset="0"/>
                <a:ea typeface="+mj-lt" pitchFamily="34" charset="-122"/>
                <a:cs typeface="+mj-lt" pitchFamily="34" charset="-120"/>
              </a:rPr>
              <a:t>→ localhost:4020</a:t>
            </a:r>
            <a:endParaRPr lang="en-US" sz="1700" dirty="0"/>
          </a:p>
          <a:p>
            <a:pPr indent="0" marL="0">
              <a:lnSpc>
                <a:spcPct val="115000"/>
              </a:lnSpc>
              <a:buNone/>
            </a:pPr>
            <a:r>
              <a:rPr lang="en-US" sz="1700" dirty="0">
                <a:solidFill>
                  <a:schemeClr val="bg2"/>
                </a:solidFill>
                <a:latin typeface="+mj-lt" pitchFamily="34" charset="0"/>
                <a:ea typeface="+mj-lt" pitchFamily="34" charset="-122"/>
                <a:cs typeface="+mj-lt" pitchFamily="34" charset="-120"/>
              </a:rPr>
              <a:t>shops + crank + faucet</a:t>
            </a:r>
            <a:endParaRPr lang="en-US" sz="1700" dirty="0"/>
          </a:p>
        </p:txBody>
      </p:sp>
      <p:sp>
        <p:nvSpPr>
          <p:cNvPr id="10" name="Arrow 1"/>
          <p:cNvSpPr/>
          <p:nvPr/>
        </p:nvSpPr>
        <p:spPr>
          <a:xfrm>
            <a:off x="2304288" y="3639312"/>
            <a:ext cx="0" cy="548640"/>
          </a:xfrm>
          <a:prstGeom prst="line">
            <a:avLst/>
          </a:prstGeom>
          <a:noFill/>
          <a:ln w="25400">
            <a:solidFill>
              <a:schemeClr val="accent1"/>
            </a:solidFill>
            <a:prstDash val="solid"/>
            <a:tailEnd type="triangle"/>
          </a:ln>
        </p:spPr>
      </p:sp>
      <p:sp>
        <p:nvSpPr>
          <p:cNvPr id="11" name="Terminal 2"/>
          <p:cNvSpPr/>
          <p:nvPr/>
        </p:nvSpPr>
        <p:spPr>
          <a:xfrm>
            <a:off x="4334256" y="1645920"/>
            <a:ext cx="3520440" cy="1920240"/>
          </a:xfrm>
          <a:prstGeom prst="roundRect">
            <a:avLst>
              <a:gd name="adj" fmla="val 6667"/>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2" name="Terminal 2 dot 1"/>
          <p:cNvSpPr/>
          <p:nvPr/>
        </p:nvSpPr>
        <p:spPr>
          <a:xfrm>
            <a:off x="4535424" y="1801368"/>
            <a:ext cx="118872" cy="118872"/>
          </a:xfrm>
          <a:prstGeom prst="ellipse">
            <a:avLst/>
          </a:prstGeom>
          <a:solidFill>
            <a:schemeClr val="accent6"/>
          </a:solidFill>
          <a:ln w="12700">
            <a:solidFill>
              <a:schemeClr val="accent6"/>
            </a:solidFill>
            <a:prstDash val="solid"/>
          </a:ln>
        </p:spPr>
      </p:sp>
      <p:sp>
        <p:nvSpPr>
          <p:cNvPr id="13" name="Terminal 2 dot 2"/>
          <p:cNvSpPr/>
          <p:nvPr/>
        </p:nvSpPr>
        <p:spPr>
          <a:xfrm>
            <a:off x="4736592" y="1801368"/>
            <a:ext cx="118872" cy="118872"/>
          </a:xfrm>
          <a:prstGeom prst="ellipse">
            <a:avLst/>
          </a:prstGeom>
          <a:solidFill>
            <a:schemeClr val="accent3"/>
          </a:solidFill>
          <a:ln w="12700">
            <a:solidFill>
              <a:schemeClr val="accent3"/>
            </a:solidFill>
            <a:prstDash val="solid"/>
          </a:ln>
        </p:spPr>
      </p:sp>
      <p:sp>
        <p:nvSpPr>
          <p:cNvPr id="14" name="Terminal 2 dot 3"/>
          <p:cNvSpPr/>
          <p:nvPr/>
        </p:nvSpPr>
        <p:spPr>
          <a:xfrm>
            <a:off x="4937760" y="1801368"/>
            <a:ext cx="118872" cy="118872"/>
          </a:xfrm>
          <a:prstGeom prst="ellipse">
            <a:avLst/>
          </a:prstGeom>
          <a:solidFill>
            <a:schemeClr val="accent1"/>
          </a:solidFill>
          <a:ln w="12700">
            <a:solidFill>
              <a:schemeClr val="accent1"/>
            </a:solidFill>
            <a:prstDash val="solid"/>
          </a:ln>
        </p:spPr>
      </p:sp>
      <p:sp>
        <p:nvSpPr>
          <p:cNvPr id="15" name="Terminal 2 label"/>
          <p:cNvSpPr txBox="1"/>
          <p:nvPr/>
        </p:nvSpPr>
        <p:spPr>
          <a:xfrm>
            <a:off x="5202936" y="1728216"/>
            <a:ext cx="242316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2 · WEBSITE</a:t>
            </a:r>
            <a:endParaRPr lang="en-US" sz="1000" dirty="0"/>
          </a:p>
        </p:txBody>
      </p:sp>
      <p:sp>
        <p:nvSpPr>
          <p:cNvPr id="16" name="Terminal 2 text"/>
          <p:cNvSpPr txBox="1"/>
          <p:nvPr/>
        </p:nvSpPr>
        <p:spPr>
          <a:xfrm>
            <a:off x="4608576" y="2084832"/>
            <a:ext cx="3017520" cy="1371600"/>
          </a:xfrm>
          <a:prstGeom prst="rect">
            <a:avLst/>
          </a:prstGeom>
          <a:noFill/>
          <a:ln/>
        </p:spPr>
        <p:txBody>
          <a:bodyPr wrap="square" lIns="0" tIns="0" rIns="0" bIns="0" rtlCol="0" anchor="t"/>
          <a:lstStyle/>
          <a:p>
            <a:pPr indent="0" marL="0">
              <a:lnSpc>
                <a:spcPct val="115000"/>
              </a:lnSpc>
              <a:buNone/>
            </a:pPr>
            <a:r>
              <a:rPr lang="en-US" sz="1700" b="1" dirty="0">
                <a:solidFill>
                  <a:schemeClr val="bg1"/>
                </a:solidFill>
                <a:latin typeface="+mj-lt" pitchFamily="34" charset="0"/>
                <a:ea typeface="+mj-lt" pitchFamily="34" charset="-122"/>
                <a:cs typeface="+mj-lt" pitchFamily="34" charset="-120"/>
              </a:rPr>
              <a:t>$ npm run web</a:t>
            </a:r>
            <a:endParaRPr lang="en-US" sz="1700" dirty="0"/>
          </a:p>
          <a:p>
            <a:pPr indent="0" marL="0">
              <a:lnSpc>
                <a:spcPct val="115000"/>
              </a:lnSpc>
              <a:buNone/>
            </a:pPr>
            <a:r>
              <a:rPr lang="en-US" sz="1700" dirty="0">
                <a:solidFill>
                  <a:schemeClr val="accent1"/>
                </a:solidFill>
                <a:latin typeface="+mj-lt" pitchFamily="34" charset="0"/>
                <a:ea typeface="+mj-lt" pitchFamily="34" charset="-122"/>
                <a:cs typeface="+mj-lt" pitchFamily="34" charset="-120"/>
              </a:rPr>
              <a:t>→ localhost:5173</a:t>
            </a:r>
            <a:endParaRPr lang="en-US" sz="1700" dirty="0"/>
          </a:p>
          <a:p>
            <a:pPr indent="0" marL="0">
              <a:lnSpc>
                <a:spcPct val="115000"/>
              </a:lnSpc>
              <a:buNone/>
            </a:pPr>
            <a:r>
              <a:rPr lang="en-US" sz="1700" dirty="0">
                <a:solidFill>
                  <a:schemeClr val="bg2"/>
                </a:solidFill>
                <a:latin typeface="+mj-lt" pitchFamily="34" charset="0"/>
                <a:ea typeface="+mj-lt" pitchFamily="34" charset="-122"/>
                <a:cs typeface="+mj-lt" pitchFamily="34" charset="-120"/>
              </a:rPr>
              <a:t>reads devnet directly</a:t>
            </a:r>
            <a:endParaRPr lang="en-US" sz="1700" dirty="0"/>
          </a:p>
        </p:txBody>
      </p:sp>
      <p:sp>
        <p:nvSpPr>
          <p:cNvPr id="17" name="Arrow 2"/>
          <p:cNvSpPr/>
          <p:nvPr/>
        </p:nvSpPr>
        <p:spPr>
          <a:xfrm>
            <a:off x="6089904" y="3639312"/>
            <a:ext cx="0" cy="548640"/>
          </a:xfrm>
          <a:prstGeom prst="line">
            <a:avLst/>
          </a:prstGeom>
          <a:noFill/>
          <a:ln w="25400">
            <a:solidFill>
              <a:schemeClr val="accent1"/>
            </a:solidFill>
            <a:prstDash val="solid"/>
            <a:tailEnd type="triangle"/>
          </a:ln>
        </p:spPr>
      </p:sp>
      <p:sp>
        <p:nvSpPr>
          <p:cNvPr id="18" name="Terminal 3"/>
          <p:cNvSpPr/>
          <p:nvPr/>
        </p:nvSpPr>
        <p:spPr>
          <a:xfrm>
            <a:off x="8119872" y="1645920"/>
            <a:ext cx="3520440" cy="1920240"/>
          </a:xfrm>
          <a:prstGeom prst="roundRect">
            <a:avLst>
              <a:gd name="adj" fmla="val 6667"/>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9" name="Terminal 3 dot 1"/>
          <p:cNvSpPr/>
          <p:nvPr/>
        </p:nvSpPr>
        <p:spPr>
          <a:xfrm>
            <a:off x="8321040" y="1801368"/>
            <a:ext cx="118872" cy="118872"/>
          </a:xfrm>
          <a:prstGeom prst="ellipse">
            <a:avLst/>
          </a:prstGeom>
          <a:solidFill>
            <a:schemeClr val="accent6"/>
          </a:solidFill>
          <a:ln w="12700">
            <a:solidFill>
              <a:schemeClr val="accent6"/>
            </a:solidFill>
            <a:prstDash val="solid"/>
          </a:ln>
        </p:spPr>
      </p:sp>
      <p:sp>
        <p:nvSpPr>
          <p:cNvPr id="20" name="Terminal 3 dot 2"/>
          <p:cNvSpPr/>
          <p:nvPr/>
        </p:nvSpPr>
        <p:spPr>
          <a:xfrm>
            <a:off x="8522208" y="1801368"/>
            <a:ext cx="118872" cy="118872"/>
          </a:xfrm>
          <a:prstGeom prst="ellipse">
            <a:avLst/>
          </a:prstGeom>
          <a:solidFill>
            <a:schemeClr val="accent3"/>
          </a:solidFill>
          <a:ln w="12700">
            <a:solidFill>
              <a:schemeClr val="accent3"/>
            </a:solidFill>
            <a:prstDash val="solid"/>
          </a:ln>
        </p:spPr>
      </p:sp>
      <p:sp>
        <p:nvSpPr>
          <p:cNvPr id="21" name="Terminal 3 dot 3"/>
          <p:cNvSpPr/>
          <p:nvPr/>
        </p:nvSpPr>
        <p:spPr>
          <a:xfrm>
            <a:off x="8723376" y="1801368"/>
            <a:ext cx="118872" cy="118872"/>
          </a:xfrm>
          <a:prstGeom prst="ellipse">
            <a:avLst/>
          </a:prstGeom>
          <a:solidFill>
            <a:schemeClr val="accent1"/>
          </a:solidFill>
          <a:ln w="12700">
            <a:solidFill>
              <a:schemeClr val="accent1"/>
            </a:solidFill>
            <a:prstDash val="solid"/>
          </a:ln>
        </p:spPr>
      </p:sp>
      <p:sp>
        <p:nvSpPr>
          <p:cNvPr id="22" name="Terminal 3 label"/>
          <p:cNvSpPr txBox="1"/>
          <p:nvPr/>
        </p:nvSpPr>
        <p:spPr>
          <a:xfrm>
            <a:off x="8988552" y="1728216"/>
            <a:ext cx="242316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3 · BUYER BOT</a:t>
            </a:r>
            <a:endParaRPr lang="en-US" sz="1000" dirty="0"/>
          </a:p>
        </p:txBody>
      </p:sp>
      <p:sp>
        <p:nvSpPr>
          <p:cNvPr id="23" name="Terminal 3 text"/>
          <p:cNvSpPr txBox="1"/>
          <p:nvPr/>
        </p:nvSpPr>
        <p:spPr>
          <a:xfrm>
            <a:off x="8394192" y="2084832"/>
            <a:ext cx="3017520" cy="1371600"/>
          </a:xfrm>
          <a:prstGeom prst="rect">
            <a:avLst/>
          </a:prstGeom>
          <a:noFill/>
          <a:ln/>
        </p:spPr>
        <p:txBody>
          <a:bodyPr wrap="square" lIns="0" tIns="0" rIns="0" bIns="0" rtlCol="0" anchor="t"/>
          <a:lstStyle/>
          <a:p>
            <a:pPr indent="0" marL="0">
              <a:lnSpc>
                <a:spcPct val="115000"/>
              </a:lnSpc>
              <a:buNone/>
            </a:pPr>
            <a:r>
              <a:rPr lang="en-US" sz="1700" b="1" dirty="0">
                <a:solidFill>
                  <a:schemeClr val="bg1"/>
                </a:solidFill>
                <a:latin typeface="+mj-lt" pitchFamily="34" charset="0"/>
                <a:ea typeface="+mj-lt" pitchFamily="34" charset="-122"/>
                <a:cs typeface="+mj-lt" pitchFamily="34" charset="-120"/>
              </a:rPr>
              <a:t>$ npm run buy …</a:t>
            </a:r>
            <a:endParaRPr lang="en-US" sz="1700" dirty="0"/>
          </a:p>
          <a:p>
            <a:pPr indent="0" marL="0">
              <a:lnSpc>
                <a:spcPct val="115000"/>
              </a:lnSpc>
              <a:buNone/>
            </a:pPr>
            <a:r>
              <a:rPr lang="en-US" sz="1700" dirty="0">
                <a:solidFill>
                  <a:schemeClr val="accent1"/>
                </a:solidFill>
                <a:latin typeface="+mj-lt" pitchFamily="34" charset="0"/>
                <a:ea typeface="+mj-lt" pitchFamily="34" charset="-122"/>
                <a:cs typeface="+mj-lt" pitchFamily="34" charset="-120"/>
              </a:rPr>
              <a:t>→ pays over x402</a:t>
            </a:r>
            <a:endParaRPr lang="en-US" sz="1700" dirty="0"/>
          </a:p>
          <a:p>
            <a:pPr indent="0" marL="0">
              <a:lnSpc>
                <a:spcPct val="115000"/>
              </a:lnSpc>
              <a:buNone/>
            </a:pPr>
            <a:r>
              <a:rPr lang="en-US" sz="1700" dirty="0">
                <a:solidFill>
                  <a:schemeClr val="bg2"/>
                </a:solidFill>
                <a:latin typeface="+mj-lt" pitchFamily="34" charset="0"/>
                <a:ea typeface="+mj-lt" pitchFamily="34" charset="-122"/>
                <a:cs typeface="+mj-lt" pitchFamily="34" charset="-120"/>
              </a:rPr>
              <a:t>or: npm run swarm</a:t>
            </a:r>
            <a:endParaRPr lang="en-US" sz="1700" dirty="0"/>
          </a:p>
        </p:txBody>
      </p:sp>
      <p:sp>
        <p:nvSpPr>
          <p:cNvPr id="24" name="Arrow 3"/>
          <p:cNvSpPr/>
          <p:nvPr/>
        </p:nvSpPr>
        <p:spPr>
          <a:xfrm>
            <a:off x="9875520" y="3639312"/>
            <a:ext cx="0" cy="548640"/>
          </a:xfrm>
          <a:prstGeom prst="line">
            <a:avLst/>
          </a:prstGeom>
          <a:noFill/>
          <a:ln w="25400">
            <a:solidFill>
              <a:schemeClr val="accent1"/>
            </a:solidFill>
            <a:prstDash val="solid"/>
            <a:tailEnd type="triangle"/>
          </a:ln>
        </p:spPr>
      </p:sp>
      <p:sp>
        <p:nvSpPr>
          <p:cNvPr id="25" name="Chain"/>
          <p:cNvSpPr/>
          <p:nvPr/>
        </p:nvSpPr>
        <p:spPr>
          <a:xfrm>
            <a:off x="548640" y="4279392"/>
            <a:ext cx="11091672" cy="960120"/>
          </a:xfrm>
          <a:prstGeom prst="roundRect">
            <a:avLst>
              <a:gd name="adj" fmla="val 13333"/>
            </a:avLst>
          </a:prstGeom>
          <a:solidFill>
            <a:schemeClr val="accent2">
              <a:alpha val="16000"/>
            </a:schemeClr>
          </a:solidFill>
          <a:ln w="12700">
            <a:solidFill>
              <a:schemeClr val="accent2">
                <a:alpha val="45000"/>
              </a:schemeClr>
            </a:solidFill>
            <a:prstDash val="solid"/>
          </a:ln>
        </p:spPr>
      </p:sp>
      <p:sp>
        <p:nvSpPr>
          <p:cNvPr id="26" name="Icon chip"/>
          <p:cNvSpPr/>
          <p:nvPr/>
        </p:nvSpPr>
        <p:spPr>
          <a:xfrm>
            <a:off x="777240" y="4462272"/>
            <a:ext cx="594360" cy="594360"/>
          </a:xfrm>
          <a:prstGeom prst="ellipse">
            <a:avLst/>
          </a:prstGeom>
          <a:solidFill>
            <a:schemeClr val="accent2">
              <a:alpha val="22000"/>
            </a:schemeClr>
          </a:solidFill>
          <a:ln w="12700">
            <a:solidFill>
              <a:schemeClr val="accent2">
                <a:alpha val="70000"/>
              </a:schemeClr>
            </a:solidFill>
            <a:prstDash val="solid"/>
          </a:ln>
        </p:spPr>
      </p:sp>
      <p:pic>
        <p:nvPicPr>
          <p:cNvPr id="27" name="Icon" descr="preencoded.png">    </p:cNvPr>
          <p:cNvPicPr>
            <a:picLocks noChangeAspect="1"/>
          </p:cNvPicPr>
          <p:nvPr/>
        </p:nvPicPr>
        <p:blipFill>
          <a:blip r:embed="rId1"/>
          <a:stretch>
            <a:fillRect/>
          </a:stretch>
        </p:blipFill>
        <p:spPr>
          <a:xfrm>
            <a:off x="925830" y="4610862"/>
            <a:ext cx="297180" cy="297180"/>
          </a:xfrm>
          <a:prstGeom prst="rect">
            <a:avLst/>
          </a:prstGeom>
        </p:spPr>
      </p:pic>
      <p:sp>
        <p:nvSpPr>
          <p:cNvPr id="28" name="Chain text"/>
          <p:cNvSpPr txBox="1"/>
          <p:nvPr/>
        </p:nvSpPr>
        <p:spPr>
          <a:xfrm>
            <a:off x="1554480" y="4462272"/>
            <a:ext cx="9875520" cy="594360"/>
          </a:xfrm>
          <a:prstGeom prst="rect">
            <a:avLst/>
          </a:prstGeom>
          <a:noFill/>
          <a:ln/>
        </p:spPr>
        <p:txBody>
          <a:bodyPr wrap="square" lIns="0" tIns="0" rIns="0" bIns="0" rtlCol="0" anchor="ctr"/>
          <a:lstStyle/>
          <a:p>
            <a:pPr indent="0" marL="0">
              <a:buNone/>
            </a:pPr>
            <a:r>
              <a:rPr lang="en-US" sz="1800" b="1" dirty="0">
                <a:solidFill>
                  <a:schemeClr val="bg1"/>
                </a:solidFill>
              </a:rPr>
              <a:t>Solana devnet · program TessSe…1CQ · devnet USDC · every step is a real transaction</a:t>
            </a:r>
            <a:endParaRPr lang="en-US" sz="1800" dirty="0"/>
          </a:p>
        </p:txBody>
      </p:sp>
      <p:sp>
        <p:nvSpPr>
          <p:cNvPr id="29" name="Hint"/>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700" dirty="0">
                <a:solidFill>
                  <a:schemeClr val="accent3"/>
                </a:solidFill>
              </a:rPr>
              <a:t>Just watching? You only need terminal 2. Seller and buyer on one laptop? Open all three.</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0</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pack your bags 🎒</a:t>
            </a:r>
            <a:endParaRPr lang="en-US" sz="3600" dirty="0"/>
          </a:p>
        </p:txBody>
      </p:sp>
      <p:sp>
        <p:nvSpPr>
          <p:cNvPr id="4" name="Pack 1"/>
          <p:cNvSpPr/>
          <p:nvPr/>
        </p:nvSpPr>
        <p:spPr>
          <a:xfrm>
            <a:off x="548640" y="1645920"/>
            <a:ext cx="5394960" cy="1828800"/>
          </a:xfrm>
          <a:prstGeom prst="roundRect">
            <a:avLst>
              <a:gd name="adj" fmla="val 7000"/>
            </a:avLst>
          </a:prstGeom>
          <a:solidFill>
            <a:schemeClr val="tx2"/>
          </a:solidFill>
          <a:ln w="12700">
            <a:solidFill>
              <a:schemeClr val="accent2">
                <a:alpha val="45000"/>
              </a:schemeClr>
            </a:solidFill>
            <a:prstDash val="solid"/>
          </a:ln>
        </p:spPr>
      </p:sp>
      <p:sp>
        <p:nvSpPr>
          <p:cNvPr id="5" name="Icon chip"/>
          <p:cNvSpPr/>
          <p:nvPr/>
        </p:nvSpPr>
        <p:spPr>
          <a:xfrm>
            <a:off x="777240" y="1874520"/>
            <a:ext cx="640080" cy="640080"/>
          </a:xfrm>
          <a:prstGeom prst="ellipse">
            <a:avLst/>
          </a:prstGeom>
          <a:solidFill>
            <a:schemeClr val="accent1">
              <a:alpha val="22000"/>
            </a:schemeClr>
          </a:solidFill>
          <a:ln w="12700">
            <a:solidFill>
              <a:schemeClr val="accent1">
                <a:alpha val="70000"/>
              </a:schemeClr>
            </a:solidFill>
            <a:prstDash val="solid"/>
          </a:ln>
        </p:spPr>
      </p:sp>
      <p:pic>
        <p:nvPicPr>
          <p:cNvPr id="6" name="Icon" descr="preencoded.png">    </p:cNvPr>
          <p:cNvPicPr>
            <a:picLocks noChangeAspect="1"/>
          </p:cNvPicPr>
          <p:nvPr/>
        </p:nvPicPr>
        <p:blipFill>
          <a:blip r:embed="rId1"/>
          <a:stretch>
            <a:fillRect/>
          </a:stretch>
        </p:blipFill>
        <p:spPr>
          <a:xfrm>
            <a:off x="937260" y="2034540"/>
            <a:ext cx="320040" cy="320040"/>
          </a:xfrm>
          <a:prstGeom prst="rect">
            <a:avLst/>
          </a:prstGeom>
        </p:spPr>
      </p:pic>
      <p:sp>
        <p:nvSpPr>
          <p:cNvPr id="7" name="Pack 1 title"/>
          <p:cNvSpPr txBox="1"/>
          <p:nvPr/>
        </p:nvSpPr>
        <p:spPr>
          <a:xfrm>
            <a:off x="1600200" y="1938528"/>
            <a:ext cx="4114800" cy="41148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EVERYONE</a:t>
            </a:r>
            <a:endParaRPr lang="en-US" sz="1800" dirty="0"/>
          </a:p>
        </p:txBody>
      </p:sp>
      <p:sp>
        <p:nvSpPr>
          <p:cNvPr id="8" name="Pack 1 body"/>
          <p:cNvSpPr txBox="1"/>
          <p:nvPr/>
        </p:nvSpPr>
        <p:spPr>
          <a:xfrm>
            <a:off x="1600200" y="2395728"/>
            <a:ext cx="4114800" cy="1005840"/>
          </a:xfrm>
          <a:prstGeom prst="rect">
            <a:avLst/>
          </a:prstGeom>
          <a:noFill/>
          <a:ln/>
        </p:spPr>
        <p:txBody>
          <a:bodyPr wrap="square" lIns="0" tIns="0" rIns="0" bIns="0" rtlCol="0" anchor="t"/>
          <a:lstStyle/>
          <a:p>
            <a:pPr indent="0" marL="0">
              <a:buNone/>
            </a:pPr>
            <a:r>
              <a:rPr lang="en-US" sz="1600" dirty="0">
                <a:solidFill>
                  <a:schemeClr val="bg1"/>
                </a:solidFill>
              </a:rPr>
              <a:t>Node 20.18 or newer, git and a browser. That’s all you need to watch the live network.</a:t>
            </a:r>
            <a:endParaRPr lang="en-US" sz="1600" dirty="0"/>
          </a:p>
        </p:txBody>
      </p:sp>
      <p:sp>
        <p:nvSpPr>
          <p:cNvPr id="9" name="Pack 2"/>
          <p:cNvSpPr/>
          <p:nvPr/>
        </p:nvSpPr>
        <p:spPr>
          <a:xfrm>
            <a:off x="6245352" y="1645920"/>
            <a:ext cx="5394960" cy="1828800"/>
          </a:xfrm>
          <a:prstGeom prst="roundRect">
            <a:avLst>
              <a:gd name="adj" fmla="val 7000"/>
            </a:avLst>
          </a:prstGeom>
          <a:solidFill>
            <a:schemeClr val="tx2"/>
          </a:solidFill>
          <a:ln w="12700">
            <a:solidFill>
              <a:schemeClr val="accent2">
                <a:alpha val="45000"/>
              </a:schemeClr>
            </a:solidFill>
            <a:prstDash val="solid"/>
          </a:ln>
        </p:spPr>
      </p:sp>
      <p:sp>
        <p:nvSpPr>
          <p:cNvPr id="10" name="Icon chip"/>
          <p:cNvSpPr/>
          <p:nvPr/>
        </p:nvSpPr>
        <p:spPr>
          <a:xfrm>
            <a:off x="6473952" y="1874520"/>
            <a:ext cx="640080" cy="640080"/>
          </a:xfrm>
          <a:prstGeom prst="ellipse">
            <a:avLst/>
          </a:prstGeom>
          <a:solidFill>
            <a:schemeClr val="accent5">
              <a:alpha val="22000"/>
            </a:schemeClr>
          </a:solidFill>
          <a:ln w="12700">
            <a:solidFill>
              <a:schemeClr val="accent5">
                <a:alpha val="70000"/>
              </a:schemeClr>
            </a:solidFill>
            <a:prstDash val="solid"/>
          </a:ln>
        </p:spPr>
      </p:sp>
      <p:pic>
        <p:nvPicPr>
          <p:cNvPr id="11" name="Icon" descr="preencoded.png">    </p:cNvPr>
          <p:cNvPicPr>
            <a:picLocks noChangeAspect="1"/>
          </p:cNvPicPr>
          <p:nvPr/>
        </p:nvPicPr>
        <p:blipFill>
          <a:blip r:embed="rId2"/>
          <a:stretch>
            <a:fillRect/>
          </a:stretch>
        </p:blipFill>
        <p:spPr>
          <a:xfrm>
            <a:off x="6633972" y="2034540"/>
            <a:ext cx="320040" cy="320040"/>
          </a:xfrm>
          <a:prstGeom prst="rect">
            <a:avLst/>
          </a:prstGeom>
        </p:spPr>
      </p:pic>
      <p:sp>
        <p:nvSpPr>
          <p:cNvPr id="12" name="Pack 2 title"/>
          <p:cNvSpPr txBox="1"/>
          <p:nvPr/>
        </p:nvSpPr>
        <p:spPr>
          <a:xfrm>
            <a:off x="7296912" y="1938528"/>
            <a:ext cx="4114800" cy="411480"/>
          </a:xfrm>
          <a:prstGeom prst="rect">
            <a:avLst/>
          </a:prstGeom>
          <a:noFill/>
          <a:ln/>
        </p:spPr>
        <p:txBody>
          <a:bodyPr wrap="square" lIns="0" tIns="0" rIns="0" bIns="0" rtlCol="0" anchor="t"/>
          <a:lstStyle/>
          <a:p>
            <a:pPr indent="0" marL="0">
              <a:buNone/>
            </a:pPr>
            <a:r>
              <a:rPr lang="en-US" sz="1800" b="1" dirty="0">
                <a:solidFill>
                  <a:schemeClr val="accent5"/>
                </a:solidFill>
                <a:latin typeface="+mj-lt" pitchFamily="34" charset="0"/>
                <a:ea typeface="+mj-lt" pitchFamily="34" charset="-122"/>
                <a:cs typeface="+mj-lt" pitchFamily="34" charset="-120"/>
              </a:rPr>
              <a:t>BROWSER BUYER</a:t>
            </a:r>
            <a:endParaRPr lang="en-US" sz="1800" dirty="0"/>
          </a:p>
        </p:txBody>
      </p:sp>
      <p:sp>
        <p:nvSpPr>
          <p:cNvPr id="13" name="Pack 2 body"/>
          <p:cNvSpPr txBox="1"/>
          <p:nvPr/>
        </p:nvSpPr>
        <p:spPr>
          <a:xfrm>
            <a:off x="7296912" y="2395728"/>
            <a:ext cx="4114800" cy="1005840"/>
          </a:xfrm>
          <a:prstGeom prst="rect">
            <a:avLst/>
          </a:prstGeom>
          <a:noFill/>
          <a:ln/>
        </p:spPr>
        <p:txBody>
          <a:bodyPr wrap="square" lIns="0" tIns="0" rIns="0" bIns="0" rtlCol="0" anchor="t"/>
          <a:lstStyle/>
          <a:p>
            <a:pPr indent="0" marL="0">
              <a:buNone/>
            </a:pPr>
            <a:r>
              <a:rPr lang="en-US" sz="1600" dirty="0">
                <a:solidFill>
                  <a:schemeClr val="bg1"/>
                </a:solidFill>
              </a:rPr>
              <a:t>Phantom, Solflare or Backpack, switched to devnet. Or skip it: the site has a built-in test wallet.</a:t>
            </a:r>
            <a:endParaRPr lang="en-US" sz="1600" dirty="0"/>
          </a:p>
        </p:txBody>
      </p:sp>
      <p:sp>
        <p:nvSpPr>
          <p:cNvPr id="14" name="Pack 3"/>
          <p:cNvSpPr/>
          <p:nvPr/>
        </p:nvSpPr>
        <p:spPr>
          <a:xfrm>
            <a:off x="548640" y="3657600"/>
            <a:ext cx="5394960" cy="1828800"/>
          </a:xfrm>
          <a:prstGeom prst="roundRect">
            <a:avLst>
              <a:gd name="adj" fmla="val 7000"/>
            </a:avLst>
          </a:prstGeom>
          <a:solidFill>
            <a:schemeClr val="tx2"/>
          </a:solidFill>
          <a:ln w="12700">
            <a:solidFill>
              <a:schemeClr val="accent2">
                <a:alpha val="45000"/>
              </a:schemeClr>
            </a:solidFill>
            <a:prstDash val="solid"/>
          </a:ln>
        </p:spPr>
      </p:sp>
      <p:sp>
        <p:nvSpPr>
          <p:cNvPr id="15" name="Icon chip"/>
          <p:cNvSpPr/>
          <p:nvPr/>
        </p:nvSpPr>
        <p:spPr>
          <a:xfrm>
            <a:off x="777240" y="3886200"/>
            <a:ext cx="640080" cy="640080"/>
          </a:xfrm>
          <a:prstGeom prst="ellipse">
            <a:avLst/>
          </a:prstGeom>
          <a:solidFill>
            <a:schemeClr val="accent4">
              <a:alpha val="22000"/>
            </a:schemeClr>
          </a:solidFill>
          <a:ln w="12700">
            <a:solidFill>
              <a:schemeClr val="accent4">
                <a:alpha val="70000"/>
              </a:schemeClr>
            </a:solidFill>
            <a:prstDash val="solid"/>
          </a:ln>
        </p:spPr>
      </p:sp>
      <p:pic>
        <p:nvPicPr>
          <p:cNvPr id="16" name="Icon" descr="preencoded.png">    </p:cNvPr>
          <p:cNvPicPr>
            <a:picLocks noChangeAspect="1"/>
          </p:cNvPicPr>
          <p:nvPr/>
        </p:nvPicPr>
        <p:blipFill>
          <a:blip r:embed="rId3"/>
          <a:stretch>
            <a:fillRect/>
          </a:stretch>
        </p:blipFill>
        <p:spPr>
          <a:xfrm>
            <a:off x="937260" y="4046220"/>
            <a:ext cx="320040" cy="320040"/>
          </a:xfrm>
          <a:prstGeom prst="rect">
            <a:avLst/>
          </a:prstGeom>
        </p:spPr>
      </p:pic>
      <p:sp>
        <p:nvSpPr>
          <p:cNvPr id="17" name="Pack 3 title"/>
          <p:cNvSpPr txBox="1"/>
          <p:nvPr/>
        </p:nvSpPr>
        <p:spPr>
          <a:xfrm>
            <a:off x="1600200" y="3950208"/>
            <a:ext cx="4114800" cy="411480"/>
          </a:xfrm>
          <a:prstGeom prst="rect">
            <a:avLst/>
          </a:prstGeom>
          <a:noFill/>
          <a:ln/>
        </p:spPr>
        <p:txBody>
          <a:bodyPr wrap="square" lIns="0" tIns="0" rIns="0" bIns="0" rtlCol="0" anchor="t"/>
          <a:lstStyle/>
          <a:p>
            <a:pPr indent="0" marL="0">
              <a:buNone/>
            </a:pPr>
            <a:r>
              <a:rPr lang="en-US" sz="1800" b="1" dirty="0">
                <a:solidFill>
                  <a:schemeClr val="accent4"/>
                </a:solidFill>
                <a:latin typeface="+mj-lt" pitchFamily="34" charset="0"/>
                <a:ea typeface="+mj-lt" pitchFamily="34" charset="-122"/>
                <a:cs typeface="+mj-lt" pitchFamily="34" charset="-120"/>
              </a:rPr>
              <a:t>SELLER</a:t>
            </a:r>
            <a:endParaRPr lang="en-US" sz="1800" dirty="0"/>
          </a:p>
        </p:txBody>
      </p:sp>
      <p:sp>
        <p:nvSpPr>
          <p:cNvPr id="18" name="Pack 3 body"/>
          <p:cNvSpPr txBox="1"/>
          <p:nvPr/>
        </p:nvSpPr>
        <p:spPr>
          <a:xfrm>
            <a:off x="1600200" y="4407408"/>
            <a:ext cx="4114800" cy="1005840"/>
          </a:xfrm>
          <a:prstGeom prst="rect">
            <a:avLst/>
          </a:prstGeom>
          <a:noFill/>
          <a:ln/>
        </p:spPr>
        <p:txBody>
          <a:bodyPr wrap="square" lIns="0" tIns="0" rIns="0" bIns="0" rtlCol="0" anchor="t"/>
          <a:lstStyle/>
          <a:p>
            <a:pPr indent="0" marL="0">
              <a:buNone/>
            </a:pPr>
            <a:r>
              <a:rPr lang="en-US" sz="1600" dirty="0">
                <a:solidFill>
                  <a:schemeClr val="bg1"/>
                </a:solidFill>
              </a:rPr>
              <a:t>Solana CLI for a keypair, about 6.5 devnet SOL (faucet.solana.com) and about 30 devnet USDC (faucet.circle.com, pick Solana Devnet).</a:t>
            </a:r>
            <a:endParaRPr lang="en-US" sz="1600" dirty="0"/>
          </a:p>
        </p:txBody>
      </p:sp>
      <p:sp>
        <p:nvSpPr>
          <p:cNvPr id="19" name="Pack 4"/>
          <p:cNvSpPr/>
          <p:nvPr/>
        </p:nvSpPr>
        <p:spPr>
          <a:xfrm>
            <a:off x="6245352" y="3657600"/>
            <a:ext cx="5394960" cy="1828800"/>
          </a:xfrm>
          <a:prstGeom prst="roundRect">
            <a:avLst>
              <a:gd name="adj" fmla="val 7000"/>
            </a:avLst>
          </a:prstGeom>
          <a:solidFill>
            <a:schemeClr val="tx2"/>
          </a:solidFill>
          <a:ln w="12700">
            <a:solidFill>
              <a:schemeClr val="accent2">
                <a:alpha val="45000"/>
              </a:schemeClr>
            </a:solidFill>
            <a:prstDash val="solid"/>
          </a:ln>
        </p:spPr>
      </p:sp>
      <p:sp>
        <p:nvSpPr>
          <p:cNvPr id="20" name="Icon chip"/>
          <p:cNvSpPr/>
          <p:nvPr/>
        </p:nvSpPr>
        <p:spPr>
          <a:xfrm>
            <a:off x="6473952" y="3886200"/>
            <a:ext cx="640080" cy="640080"/>
          </a:xfrm>
          <a:prstGeom prst="ellipse">
            <a:avLst/>
          </a:prstGeom>
          <a:solidFill>
            <a:schemeClr val="accent3">
              <a:alpha val="22000"/>
            </a:schemeClr>
          </a:solidFill>
          <a:ln w="12700">
            <a:solidFill>
              <a:schemeClr val="accent3">
                <a:alpha val="70000"/>
              </a:schemeClr>
            </a:solidFill>
            <a:prstDash val="solid"/>
          </a:ln>
        </p:spPr>
      </p:sp>
      <p:pic>
        <p:nvPicPr>
          <p:cNvPr id="21" name="Icon" descr="preencoded.png">    </p:cNvPr>
          <p:cNvPicPr>
            <a:picLocks noChangeAspect="1"/>
          </p:cNvPicPr>
          <p:nvPr/>
        </p:nvPicPr>
        <p:blipFill>
          <a:blip r:embed="rId4"/>
          <a:stretch>
            <a:fillRect/>
          </a:stretch>
        </p:blipFill>
        <p:spPr>
          <a:xfrm>
            <a:off x="6633972" y="4046220"/>
            <a:ext cx="320040" cy="320040"/>
          </a:xfrm>
          <a:prstGeom prst="rect">
            <a:avLst/>
          </a:prstGeom>
        </p:spPr>
      </p:pic>
      <p:sp>
        <p:nvSpPr>
          <p:cNvPr id="22" name="Pack 4 title"/>
          <p:cNvSpPr txBox="1"/>
          <p:nvPr/>
        </p:nvSpPr>
        <p:spPr>
          <a:xfrm>
            <a:off x="7296912" y="3950208"/>
            <a:ext cx="4114800" cy="41148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NOT NEEDED</a:t>
            </a:r>
            <a:endParaRPr lang="en-US" sz="1800" dirty="0"/>
          </a:p>
        </p:txBody>
      </p:sp>
      <p:sp>
        <p:nvSpPr>
          <p:cNvPr id="23" name="Pack 4 body"/>
          <p:cNvSpPr txBox="1"/>
          <p:nvPr/>
        </p:nvSpPr>
        <p:spPr>
          <a:xfrm>
            <a:off x="7296912" y="4407408"/>
            <a:ext cx="4114800" cy="1005840"/>
          </a:xfrm>
          <a:prstGeom prst="rect">
            <a:avLst/>
          </a:prstGeom>
          <a:noFill/>
          <a:ln/>
        </p:spPr>
        <p:txBody>
          <a:bodyPr wrap="square" lIns="0" tIns="0" rIns="0" bIns="0" rtlCol="0" anchor="t"/>
          <a:lstStyle/>
          <a:p>
            <a:pPr indent="0" marL="0">
              <a:buNone/>
            </a:pPr>
            <a:r>
              <a:rPr lang="en-US" sz="1600" dirty="0">
                <a:solidFill>
                  <a:schemeClr val="bg1"/>
                </a:solidFill>
              </a:rPr>
              <a:t>Rust and Anchor. The program is already deployed on devnet; you only need them to rebuild it.</a:t>
            </a:r>
            <a:endParaRPr lang="en-US" sz="1600" dirty="0"/>
          </a:p>
        </p:txBody>
      </p:sp>
      <p:sp>
        <p:nvSpPr>
          <p:cNvPr id="24" name="Meme line"/>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it’s devnet, ser. the money is fake. the escrow is real.</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1 · ANYONE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clone it (spectator mode) 👀</a:t>
            </a:r>
            <a:endParaRPr lang="en-US" sz="3600" dirty="0"/>
          </a:p>
        </p:txBody>
      </p:sp>
      <p:sp>
        <p:nvSpPr>
          <p:cNvPr id="4" name="Terminal"/>
          <p:cNvSpPr/>
          <p:nvPr/>
        </p:nvSpPr>
        <p:spPr>
          <a:xfrm>
            <a:off x="548640" y="1645920"/>
            <a:ext cx="7406640" cy="3429000"/>
          </a:xfrm>
          <a:prstGeom prst="roundRect">
            <a:avLst>
              <a:gd name="adj" fmla="val 3733"/>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80136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80136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80136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728216"/>
            <a:ext cx="630936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anon@laptop:~</a:t>
            </a:r>
            <a:endParaRPr lang="en-US" sz="1000" dirty="0"/>
          </a:p>
        </p:txBody>
      </p:sp>
      <p:sp>
        <p:nvSpPr>
          <p:cNvPr id="9" name="Terminal text"/>
          <p:cNvSpPr txBox="1"/>
          <p:nvPr/>
        </p:nvSpPr>
        <p:spPr>
          <a:xfrm>
            <a:off x="822960" y="2084832"/>
            <a:ext cx="6903720" cy="2880360"/>
          </a:xfrm>
          <a:prstGeom prst="rect">
            <a:avLst/>
          </a:prstGeom>
          <a:noFill/>
          <a:ln/>
        </p:spPr>
        <p:txBody>
          <a:bodyPr wrap="square" lIns="0" tIns="0" rIns="0" bIns="0" rtlCol="0" anchor="t"/>
          <a:lstStyle/>
          <a:p>
            <a:pPr indent="0" marL="0">
              <a:lnSpc>
                <a:spcPct val="115000"/>
              </a:lnSpc>
              <a:buNone/>
            </a:pPr>
            <a:r>
              <a:rPr lang="en-US" sz="1400" dirty="0">
                <a:solidFill>
                  <a:schemeClr val="bg2"/>
                </a:solidFill>
                <a:latin typeface="+mj-lt" pitchFamily="34" charset="0"/>
                <a:ea typeface="+mj-lt" pitchFamily="34" charset="-122"/>
                <a:cs typeface="+mj-lt" pitchFamily="34" charset="-120"/>
              </a:rPr>
              <a:t># 1. download</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git clone https://github.com/edison9733/agentic_commerce.git</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cd agentic_commerce</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2. install, one time</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install</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3. start the website</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web</a:t>
            </a:r>
            <a:endParaRPr lang="en-US" sz="1400" dirty="0"/>
          </a:p>
          <a:p>
            <a:pPr indent="0" marL="0">
              <a:lnSpc>
                <a:spcPct val="115000"/>
              </a:lnSpc>
              <a:buNone/>
            </a:pPr>
            <a:r>
              <a:rPr lang="en-US" sz="1400" dirty="0">
                <a:solidFill>
                  <a:schemeClr val="accent1"/>
                </a:solidFill>
                <a:latin typeface="+mj-lt" pitchFamily="34" charset="0"/>
                <a:ea typeface="+mj-lt" pitchFamily="34" charset="-122"/>
                <a:cs typeface="+mj-lt" pitchFamily="34" charset="-120"/>
              </a:rPr>
              <a:t>→ open http://localhost:5173/#/network</a:t>
            </a:r>
            <a:endParaRPr lang="en-US" sz="1400" dirty="0"/>
          </a:p>
        </p:txBody>
      </p:sp>
      <p:sp>
        <p:nvSpPr>
          <p:cNvPr id="10" name="No keys"/>
          <p:cNvSpPr txBox="1"/>
          <p:nvPr/>
        </p:nvSpPr>
        <p:spPr>
          <a:xfrm>
            <a:off x="548640" y="5257800"/>
            <a:ext cx="7406640" cy="822960"/>
          </a:xfrm>
          <a:prstGeom prst="rect">
            <a:avLst/>
          </a:prstGeom>
          <a:noFill/>
          <a:ln/>
        </p:spPr>
        <p:txBody>
          <a:bodyPr wrap="square" lIns="0" tIns="0" rIns="0" bIns="0" rtlCol="0" anchor="t"/>
          <a:lstStyle/>
          <a:p>
            <a:pPr indent="0" marL="0">
              <a:buNone/>
            </a:pPr>
            <a:r>
              <a:rPr lang="en-US" sz="1700" dirty="0">
                <a:solidFill>
                  <a:schemeClr val="bg1"/>
                </a:solidFill>
              </a:rPr>
              <a:t>No keys, no backend: the site reads Solana devnet straight from your browser. You’re already watching the real chain.</a:t>
            </a:r>
            <a:endParaRPr lang="en-US" sz="1700" dirty="0"/>
          </a:p>
        </p:txBody>
      </p:sp>
      <p:sp>
        <p:nvSpPr>
          <p:cNvPr id="11" name="Pages card"/>
          <p:cNvSpPr/>
          <p:nvPr/>
        </p:nvSpPr>
        <p:spPr>
          <a:xfrm>
            <a:off x="8229600" y="1645920"/>
            <a:ext cx="3410712" cy="4434840"/>
          </a:xfrm>
          <a:prstGeom prst="roundRect">
            <a:avLst>
              <a:gd name="adj" fmla="val 3753"/>
            </a:avLst>
          </a:prstGeom>
          <a:solidFill>
            <a:schemeClr val="accent1">
              <a:alpha val="16000"/>
            </a:schemeClr>
          </a:solidFill>
          <a:ln w="12700">
            <a:solidFill>
              <a:schemeClr val="accent1">
                <a:alpha val="45000"/>
              </a:schemeClr>
            </a:solidFill>
            <a:prstDash val="solid"/>
          </a:ln>
        </p:spPr>
      </p:sp>
      <p:sp>
        <p:nvSpPr>
          <p:cNvPr id="12" name="Icon chip"/>
          <p:cNvSpPr/>
          <p:nvPr/>
        </p:nvSpPr>
        <p:spPr>
          <a:xfrm>
            <a:off x="8458200" y="1847088"/>
            <a:ext cx="594360" cy="594360"/>
          </a:xfrm>
          <a:prstGeom prst="ellipse">
            <a:avLst/>
          </a:prstGeom>
          <a:solidFill>
            <a:schemeClr val="accent1">
              <a:alpha val="22000"/>
            </a:schemeClr>
          </a:solidFill>
          <a:ln w="12700">
            <a:solidFill>
              <a:schemeClr val="accent1">
                <a:alpha val="70000"/>
              </a:schemeClr>
            </a:solidFill>
            <a:prstDash val="solid"/>
          </a:ln>
        </p:spPr>
      </p:sp>
      <p:pic>
        <p:nvPicPr>
          <p:cNvPr id="13" name="Icon" descr="preencoded.png">    </p:cNvPr>
          <p:cNvPicPr>
            <a:picLocks noChangeAspect="1"/>
          </p:cNvPicPr>
          <p:nvPr/>
        </p:nvPicPr>
        <p:blipFill>
          <a:blip r:embed="rId1"/>
          <a:stretch>
            <a:fillRect/>
          </a:stretch>
        </p:blipFill>
        <p:spPr>
          <a:xfrm>
            <a:off x="8606790" y="1995678"/>
            <a:ext cx="297180" cy="297180"/>
          </a:xfrm>
          <a:prstGeom prst="rect">
            <a:avLst/>
          </a:prstGeom>
        </p:spPr>
      </p:pic>
      <p:sp>
        <p:nvSpPr>
          <p:cNvPr id="14" name="Pages heading"/>
          <p:cNvSpPr txBox="1"/>
          <p:nvPr/>
        </p:nvSpPr>
        <p:spPr>
          <a:xfrm>
            <a:off x="9189720" y="1965960"/>
            <a:ext cx="2331720" cy="365760"/>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pages to click</a:t>
            </a:r>
            <a:endParaRPr lang="en-US" sz="1700" dirty="0"/>
          </a:p>
        </p:txBody>
      </p:sp>
      <p:sp>
        <p:nvSpPr>
          <p:cNvPr id="15" name="Page 1"/>
          <p:cNvSpPr txBox="1"/>
          <p:nvPr/>
        </p:nvSpPr>
        <p:spPr>
          <a:xfrm>
            <a:off x="8503920" y="2697480"/>
            <a:ext cx="3017520" cy="329184"/>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#/network</a:t>
            </a:r>
            <a:endParaRPr lang="en-US" sz="1600" dirty="0"/>
          </a:p>
        </p:txBody>
      </p:sp>
      <p:sp>
        <p:nvSpPr>
          <p:cNvPr id="16" name="Page 1 desc"/>
          <p:cNvSpPr txBox="1"/>
          <p:nvPr/>
        </p:nvSpPr>
        <p:spPr>
          <a:xfrm>
            <a:off x="8503920" y="3035808"/>
            <a:ext cx="3017520" cy="365760"/>
          </a:xfrm>
          <a:prstGeom prst="rect">
            <a:avLst/>
          </a:prstGeom>
          <a:noFill/>
          <a:ln/>
        </p:spPr>
        <p:txBody>
          <a:bodyPr wrap="square" lIns="0" tIns="0" rIns="0" bIns="0" rtlCol="0" anchor="t"/>
          <a:lstStyle/>
          <a:p>
            <a:pPr indent="0" marL="0">
              <a:buNone/>
            </a:pPr>
            <a:r>
              <a:rPr lang="en-US" sz="1500" dirty="0">
                <a:solidFill>
                  <a:schemeClr val="bg2"/>
                </a:solidFill>
              </a:rPr>
              <a:t>live graph + feed</a:t>
            </a:r>
            <a:endParaRPr lang="en-US" sz="1500" dirty="0"/>
          </a:p>
        </p:txBody>
      </p:sp>
      <p:sp>
        <p:nvSpPr>
          <p:cNvPr id="17" name="Page 2"/>
          <p:cNvSpPr txBox="1"/>
          <p:nvPr/>
        </p:nvSpPr>
        <p:spPr>
          <a:xfrm>
            <a:off x="8503920" y="3520440"/>
            <a:ext cx="3017520" cy="329184"/>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#/agents</a:t>
            </a:r>
            <a:endParaRPr lang="en-US" sz="1600" dirty="0"/>
          </a:p>
        </p:txBody>
      </p:sp>
      <p:sp>
        <p:nvSpPr>
          <p:cNvPr id="18" name="Page 2 desc"/>
          <p:cNvSpPr txBox="1"/>
          <p:nvPr/>
        </p:nvSpPr>
        <p:spPr>
          <a:xfrm>
            <a:off x="8503920" y="3858768"/>
            <a:ext cx="3017520" cy="365760"/>
          </a:xfrm>
          <a:prstGeom prst="rect">
            <a:avLst/>
          </a:prstGeom>
          <a:noFill/>
          <a:ln/>
        </p:spPr>
        <p:txBody>
          <a:bodyPr wrap="square" lIns="0" tIns="0" rIns="0" bIns="0" rtlCol="0" anchor="t"/>
          <a:lstStyle/>
          <a:p>
            <a:pPr indent="0" marL="0">
              <a:buNone/>
            </a:pPr>
            <a:r>
              <a:rPr lang="en-US" sz="1500" dirty="0">
                <a:solidFill>
                  <a:schemeClr val="bg2"/>
                </a:solidFill>
              </a:rPr>
              <a:t>every credit file</a:t>
            </a:r>
            <a:endParaRPr lang="en-US" sz="1500" dirty="0"/>
          </a:p>
        </p:txBody>
      </p:sp>
      <p:sp>
        <p:nvSpPr>
          <p:cNvPr id="19" name="Page 3"/>
          <p:cNvSpPr txBox="1"/>
          <p:nvPr/>
        </p:nvSpPr>
        <p:spPr>
          <a:xfrm>
            <a:off x="8503920" y="4343400"/>
            <a:ext cx="3017520" cy="329184"/>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#/market</a:t>
            </a:r>
            <a:endParaRPr lang="en-US" sz="1600" dirty="0"/>
          </a:p>
        </p:txBody>
      </p:sp>
      <p:sp>
        <p:nvSpPr>
          <p:cNvPr id="20" name="Page 3 desc"/>
          <p:cNvSpPr txBox="1"/>
          <p:nvPr/>
        </p:nvSpPr>
        <p:spPr>
          <a:xfrm>
            <a:off x="8503920" y="4681728"/>
            <a:ext cx="3017520" cy="365760"/>
          </a:xfrm>
          <a:prstGeom prst="rect">
            <a:avLst/>
          </a:prstGeom>
          <a:noFill/>
          <a:ln/>
        </p:spPr>
        <p:txBody>
          <a:bodyPr wrap="square" lIns="0" tIns="0" rIns="0" bIns="0" rtlCol="0" anchor="t"/>
          <a:lstStyle/>
          <a:p>
            <a:pPr indent="0" marL="0">
              <a:buNone/>
            </a:pPr>
            <a:r>
              <a:rPr lang="en-US" sz="1500" dirty="0">
                <a:solidFill>
                  <a:schemeClr val="bg2"/>
                </a:solidFill>
              </a:rPr>
              <a:t>buy stuff (needs the seller)</a:t>
            </a:r>
            <a:endParaRPr lang="en-US" sz="1500" dirty="0"/>
          </a:p>
        </p:txBody>
      </p:sp>
      <p:sp>
        <p:nvSpPr>
          <p:cNvPr id="21" name="Page 4"/>
          <p:cNvSpPr txBox="1"/>
          <p:nvPr/>
        </p:nvSpPr>
        <p:spPr>
          <a:xfrm>
            <a:off x="8503920" y="5166360"/>
            <a:ext cx="3017520" cy="329184"/>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#/formula</a:t>
            </a:r>
            <a:endParaRPr lang="en-US" sz="1600" dirty="0"/>
          </a:p>
        </p:txBody>
      </p:sp>
      <p:sp>
        <p:nvSpPr>
          <p:cNvPr id="22" name="Page 4 desc"/>
          <p:cNvSpPr txBox="1"/>
          <p:nvPr/>
        </p:nvSpPr>
        <p:spPr>
          <a:xfrm>
            <a:off x="8503920" y="5504688"/>
            <a:ext cx="3017520" cy="365760"/>
          </a:xfrm>
          <a:prstGeom prst="rect">
            <a:avLst/>
          </a:prstGeom>
          <a:noFill/>
          <a:ln/>
        </p:spPr>
        <p:txBody>
          <a:bodyPr wrap="square" lIns="0" tIns="0" rIns="0" bIns="0" rtlCol="0" anchor="t"/>
          <a:lstStyle/>
          <a:p>
            <a:pPr indent="0" marL="0">
              <a:buNone/>
            </a:pPr>
            <a:r>
              <a:rPr lang="en-US" sz="1500" dirty="0">
                <a:solidFill>
                  <a:schemeClr val="bg2"/>
                </a:solidFill>
              </a:rPr>
              <a:t>how the score works</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2 · SELLER</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get a wallet + bags 💰</a:t>
            </a:r>
            <a:endParaRPr lang="en-US" sz="3600" dirty="0"/>
          </a:p>
        </p:txBody>
      </p:sp>
      <p:sp>
        <p:nvSpPr>
          <p:cNvPr id="4" name="Terminal"/>
          <p:cNvSpPr/>
          <p:nvPr/>
        </p:nvSpPr>
        <p:spPr>
          <a:xfrm>
            <a:off x="548640" y="1645920"/>
            <a:ext cx="6949440" cy="3291840"/>
          </a:xfrm>
          <a:prstGeom prst="roundRect">
            <a:avLst>
              <a:gd name="adj" fmla="val 3889"/>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80136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80136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80136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728216"/>
            <a:ext cx="585216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seller@laptop:~/agentic_commerce</a:t>
            </a:r>
            <a:endParaRPr lang="en-US" sz="1000" dirty="0"/>
          </a:p>
        </p:txBody>
      </p:sp>
      <p:sp>
        <p:nvSpPr>
          <p:cNvPr id="9" name="Terminal text"/>
          <p:cNvSpPr txBox="1"/>
          <p:nvPr/>
        </p:nvSpPr>
        <p:spPr>
          <a:xfrm>
            <a:off x="822960" y="2084832"/>
            <a:ext cx="6446520" cy="2743200"/>
          </a:xfrm>
          <a:prstGeom prst="rect">
            <a:avLst/>
          </a:prstGeom>
          <a:noFill/>
          <a:ln/>
        </p:spPr>
        <p:txBody>
          <a:bodyPr wrap="square" lIns="0" tIns="0" rIns="0" bIns="0" rtlCol="0" anchor="t"/>
          <a:lstStyle/>
          <a:p>
            <a:pPr indent="0" marL="0">
              <a:lnSpc>
                <a:spcPct val="115000"/>
              </a:lnSpc>
              <a:buNone/>
            </a:pPr>
            <a:r>
              <a:rPr lang="en-US" sz="1400" dirty="0">
                <a:solidFill>
                  <a:schemeClr val="bg2"/>
                </a:solidFill>
                <a:latin typeface="+mj-lt" pitchFamily="34" charset="0"/>
                <a:ea typeface="+mj-lt" pitchFamily="34" charset="-122"/>
                <a:cs typeface="+mj-lt" pitchFamily="34" charset="-120"/>
              </a:rPr>
              <a:t># point the CLI at devnet</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solana config set --url devnet</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make a wallet (skip if ~/.config/solana/id.json exists)</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solana-keygen new</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solana address</a:t>
            </a:r>
            <a:endParaRPr lang="en-US" sz="1400" dirty="0"/>
          </a:p>
          <a:p>
            <a:pPr indent="0" marL="0">
              <a:lnSpc>
                <a:spcPct val="115000"/>
              </a:lnSpc>
              <a:buNone/>
            </a:pPr>
            <a:r>
              <a:rPr lang="en-US" sz="1400" dirty="0">
                <a:solidFill>
                  <a:schemeClr val="accent3"/>
                </a:solidFill>
                <a:latin typeface="+mj-lt" pitchFamily="34" charset="0"/>
                <a:ea typeface="+mj-lt" pitchFamily="34" charset="-122"/>
                <a:cs typeface="+mj-lt" pitchFamily="34" charset="-120"/>
              </a:rPr>
              <a:t># → paste that address into both faucets</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solana balance</a:t>
            </a:r>
            <a:endParaRPr lang="en-US" sz="1400" dirty="0"/>
          </a:p>
        </p:txBody>
      </p:sp>
      <p:sp>
        <p:nvSpPr>
          <p:cNvPr id="10" name="Bag 1"/>
          <p:cNvSpPr/>
          <p:nvPr/>
        </p:nvSpPr>
        <p:spPr>
          <a:xfrm>
            <a:off x="7772400" y="1645920"/>
            <a:ext cx="3867912" cy="1005840"/>
          </a:xfrm>
          <a:prstGeom prst="roundRect">
            <a:avLst>
              <a:gd name="adj" fmla="val 12727"/>
            </a:avLst>
          </a:prstGeom>
          <a:solidFill>
            <a:schemeClr val="tx2"/>
          </a:solidFill>
          <a:ln w="12700">
            <a:solidFill>
              <a:schemeClr val="accent2">
                <a:alpha val="45000"/>
              </a:schemeClr>
            </a:solidFill>
            <a:prstDash val="solid"/>
          </a:ln>
        </p:spPr>
      </p:sp>
      <p:sp>
        <p:nvSpPr>
          <p:cNvPr id="11" name="Icon chip"/>
          <p:cNvSpPr/>
          <p:nvPr/>
        </p:nvSpPr>
        <p:spPr>
          <a:xfrm>
            <a:off x="7936992" y="1847088"/>
            <a:ext cx="566928" cy="566928"/>
          </a:xfrm>
          <a:prstGeom prst="ellipse">
            <a:avLst/>
          </a:prstGeom>
          <a:solidFill>
            <a:schemeClr val="accent1">
              <a:alpha val="22000"/>
            </a:schemeClr>
          </a:solidFill>
          <a:ln w="12700">
            <a:solidFill>
              <a:schemeClr val="accent1">
                <a:alpha val="70000"/>
              </a:schemeClr>
            </a:solidFill>
            <a:prstDash val="solid"/>
          </a:ln>
        </p:spPr>
      </p:sp>
      <p:pic>
        <p:nvPicPr>
          <p:cNvPr id="12" name="Icon" descr="preencoded.png">    </p:cNvPr>
          <p:cNvPicPr>
            <a:picLocks noChangeAspect="1"/>
          </p:cNvPicPr>
          <p:nvPr/>
        </p:nvPicPr>
        <p:blipFill>
          <a:blip r:embed="rId1"/>
          <a:stretch>
            <a:fillRect/>
          </a:stretch>
        </p:blipFill>
        <p:spPr>
          <a:xfrm>
            <a:off x="8078724" y="1988820"/>
            <a:ext cx="283464" cy="283464"/>
          </a:xfrm>
          <a:prstGeom prst="rect">
            <a:avLst/>
          </a:prstGeom>
        </p:spPr>
      </p:pic>
      <p:sp>
        <p:nvSpPr>
          <p:cNvPr id="13" name="Bag 1 title"/>
          <p:cNvSpPr txBox="1"/>
          <p:nvPr/>
        </p:nvSpPr>
        <p:spPr>
          <a:xfrm>
            <a:off x="8641080" y="1764792"/>
            <a:ext cx="2880360" cy="347472"/>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faucet.solana.com</a:t>
            </a:r>
            <a:endParaRPr lang="en-US" sz="1500" dirty="0"/>
          </a:p>
        </p:txBody>
      </p:sp>
      <p:sp>
        <p:nvSpPr>
          <p:cNvPr id="14" name="Bag 1 body"/>
          <p:cNvSpPr txBox="1"/>
          <p:nvPr/>
        </p:nvSpPr>
        <p:spPr>
          <a:xfrm>
            <a:off x="8641080" y="2103120"/>
            <a:ext cx="2880360" cy="502920"/>
          </a:xfrm>
          <a:prstGeom prst="rect">
            <a:avLst/>
          </a:prstGeom>
          <a:noFill/>
          <a:ln/>
        </p:spPr>
        <p:txBody>
          <a:bodyPr wrap="square" lIns="0" tIns="0" rIns="0" bIns="0" rtlCol="0" anchor="t"/>
          <a:lstStyle/>
          <a:p>
            <a:pPr indent="0" marL="0">
              <a:buNone/>
            </a:pPr>
            <a:r>
              <a:rPr lang="en-US" sz="1400" dirty="0">
                <a:solidFill>
                  <a:schemeClr val="bg2"/>
                </a:solidFill>
              </a:rPr>
              <a:t>~6.5 devnet SOL</a:t>
            </a:r>
            <a:endParaRPr lang="en-US" sz="1400" dirty="0"/>
          </a:p>
        </p:txBody>
      </p:sp>
      <p:sp>
        <p:nvSpPr>
          <p:cNvPr id="15" name="Bag 2"/>
          <p:cNvSpPr/>
          <p:nvPr/>
        </p:nvSpPr>
        <p:spPr>
          <a:xfrm>
            <a:off x="7772400" y="2788920"/>
            <a:ext cx="3867912" cy="1005840"/>
          </a:xfrm>
          <a:prstGeom prst="roundRect">
            <a:avLst>
              <a:gd name="adj" fmla="val 12727"/>
            </a:avLst>
          </a:prstGeom>
          <a:solidFill>
            <a:schemeClr val="tx2"/>
          </a:solidFill>
          <a:ln w="12700">
            <a:solidFill>
              <a:schemeClr val="accent2">
                <a:alpha val="45000"/>
              </a:schemeClr>
            </a:solidFill>
            <a:prstDash val="solid"/>
          </a:ln>
        </p:spPr>
      </p:sp>
      <p:sp>
        <p:nvSpPr>
          <p:cNvPr id="16" name="Icon chip"/>
          <p:cNvSpPr/>
          <p:nvPr/>
        </p:nvSpPr>
        <p:spPr>
          <a:xfrm>
            <a:off x="7936992" y="2990088"/>
            <a:ext cx="566928" cy="566928"/>
          </a:xfrm>
          <a:prstGeom prst="ellipse">
            <a:avLst/>
          </a:prstGeom>
          <a:solidFill>
            <a:schemeClr val="accent5">
              <a:alpha val="22000"/>
            </a:schemeClr>
          </a:solidFill>
          <a:ln w="12700">
            <a:solidFill>
              <a:schemeClr val="accent5">
                <a:alpha val="70000"/>
              </a:schemeClr>
            </a:solidFill>
            <a:prstDash val="solid"/>
          </a:ln>
        </p:spPr>
      </p:sp>
      <p:pic>
        <p:nvPicPr>
          <p:cNvPr id="17" name="Icon" descr="preencoded.png">    </p:cNvPr>
          <p:cNvPicPr>
            <a:picLocks noChangeAspect="1"/>
          </p:cNvPicPr>
          <p:nvPr/>
        </p:nvPicPr>
        <p:blipFill>
          <a:blip r:embed="rId2"/>
          <a:stretch>
            <a:fillRect/>
          </a:stretch>
        </p:blipFill>
        <p:spPr>
          <a:xfrm>
            <a:off x="8078724" y="3131820"/>
            <a:ext cx="283464" cy="283464"/>
          </a:xfrm>
          <a:prstGeom prst="rect">
            <a:avLst/>
          </a:prstGeom>
        </p:spPr>
      </p:pic>
      <p:sp>
        <p:nvSpPr>
          <p:cNvPr id="18" name="Bag 2 title"/>
          <p:cNvSpPr txBox="1"/>
          <p:nvPr/>
        </p:nvSpPr>
        <p:spPr>
          <a:xfrm>
            <a:off x="8641080" y="2907792"/>
            <a:ext cx="2880360" cy="347472"/>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faucet.circle.com</a:t>
            </a:r>
            <a:endParaRPr lang="en-US" sz="1500" dirty="0"/>
          </a:p>
        </p:txBody>
      </p:sp>
      <p:sp>
        <p:nvSpPr>
          <p:cNvPr id="19" name="Bag 2 body"/>
          <p:cNvSpPr txBox="1"/>
          <p:nvPr/>
        </p:nvSpPr>
        <p:spPr>
          <a:xfrm>
            <a:off x="8641080" y="3246120"/>
            <a:ext cx="2880360" cy="502920"/>
          </a:xfrm>
          <a:prstGeom prst="rect">
            <a:avLst/>
          </a:prstGeom>
          <a:noFill/>
          <a:ln/>
        </p:spPr>
        <p:txBody>
          <a:bodyPr wrap="square" lIns="0" tIns="0" rIns="0" bIns="0" rtlCol="0" anchor="t"/>
          <a:lstStyle/>
          <a:p>
            <a:pPr indent="0" marL="0">
              <a:buNone/>
            </a:pPr>
            <a:r>
              <a:rPr lang="en-US" sz="1400" dirty="0">
                <a:solidFill>
                  <a:schemeClr val="bg2"/>
                </a:solidFill>
              </a:rPr>
              <a:t>~30 USDC · network: Solana Devnet</a:t>
            </a:r>
            <a:endParaRPr lang="en-US" sz="1400" dirty="0"/>
          </a:p>
        </p:txBody>
      </p:sp>
      <p:sp>
        <p:nvSpPr>
          <p:cNvPr id="20" name="Bag 3"/>
          <p:cNvSpPr/>
          <p:nvPr/>
        </p:nvSpPr>
        <p:spPr>
          <a:xfrm>
            <a:off x="7772400" y="3931920"/>
            <a:ext cx="3867912" cy="1005840"/>
          </a:xfrm>
          <a:prstGeom prst="roundRect">
            <a:avLst>
              <a:gd name="adj" fmla="val 12727"/>
            </a:avLst>
          </a:prstGeom>
          <a:solidFill>
            <a:schemeClr val="tx2"/>
          </a:solidFill>
          <a:ln w="12700">
            <a:solidFill>
              <a:schemeClr val="accent2">
                <a:alpha val="45000"/>
              </a:schemeClr>
            </a:solidFill>
            <a:prstDash val="solid"/>
          </a:ln>
        </p:spPr>
      </p:sp>
      <p:sp>
        <p:nvSpPr>
          <p:cNvPr id="21" name="Icon chip"/>
          <p:cNvSpPr/>
          <p:nvPr/>
        </p:nvSpPr>
        <p:spPr>
          <a:xfrm>
            <a:off x="7936992" y="4133088"/>
            <a:ext cx="566928" cy="566928"/>
          </a:xfrm>
          <a:prstGeom prst="ellipse">
            <a:avLst/>
          </a:prstGeom>
          <a:solidFill>
            <a:schemeClr val="accent3">
              <a:alpha val="22000"/>
            </a:schemeClr>
          </a:solidFill>
          <a:ln w="12700">
            <a:solidFill>
              <a:schemeClr val="accent3">
                <a:alpha val="70000"/>
              </a:schemeClr>
            </a:solidFill>
            <a:prstDash val="solid"/>
          </a:ln>
        </p:spPr>
      </p:sp>
      <p:pic>
        <p:nvPicPr>
          <p:cNvPr id="22" name="Icon" descr="preencoded.png">    </p:cNvPr>
          <p:cNvPicPr>
            <a:picLocks noChangeAspect="1"/>
          </p:cNvPicPr>
          <p:nvPr/>
        </p:nvPicPr>
        <p:blipFill>
          <a:blip r:embed="rId3"/>
          <a:stretch>
            <a:fillRect/>
          </a:stretch>
        </p:blipFill>
        <p:spPr>
          <a:xfrm>
            <a:off x="8078724" y="4274820"/>
            <a:ext cx="283464" cy="283464"/>
          </a:xfrm>
          <a:prstGeom prst="rect">
            <a:avLst/>
          </a:prstGeom>
        </p:spPr>
      </p:pic>
      <p:sp>
        <p:nvSpPr>
          <p:cNvPr id="23" name="Bag 3 title"/>
          <p:cNvSpPr txBox="1"/>
          <p:nvPr/>
        </p:nvSpPr>
        <p:spPr>
          <a:xfrm>
            <a:off x="8641080" y="4050792"/>
            <a:ext cx="2880360" cy="347472"/>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old .keys/ backup?</a:t>
            </a:r>
            <a:endParaRPr lang="en-US" sz="1500" dirty="0"/>
          </a:p>
        </p:txBody>
      </p:sp>
      <p:sp>
        <p:nvSpPr>
          <p:cNvPr id="24" name="Bag 3 body"/>
          <p:cNvSpPr txBox="1"/>
          <p:nvPr/>
        </p:nvSpPr>
        <p:spPr>
          <a:xfrm>
            <a:off x="8641080" y="4389120"/>
            <a:ext cx="2880360" cy="502920"/>
          </a:xfrm>
          <a:prstGeom prst="rect">
            <a:avLst/>
          </a:prstGeom>
          <a:noFill/>
          <a:ln/>
        </p:spPr>
        <p:txBody>
          <a:bodyPr wrap="square" lIns="0" tIns="0" rIns="0" bIns="0" rtlCol="0" anchor="t"/>
          <a:lstStyle/>
          <a:p>
            <a:pPr indent="0" marL="0">
              <a:buNone/>
            </a:pPr>
            <a:r>
              <a:rPr lang="en-US" sz="1400" dirty="0">
                <a:solidFill>
                  <a:schemeClr val="bg2"/>
                </a:solidFill>
              </a:rPr>
              <a:t>Copy it into the repo root first. Setup only tops up what’s missing.</a:t>
            </a:r>
            <a:endParaRPr lang="en-US" sz="1400" dirty="0"/>
          </a:p>
        </p:txBody>
      </p:sp>
      <p:sp>
        <p:nvSpPr>
          <p:cNvPr id="25" name="Why SOL"/>
          <p:cNvSpPr/>
          <p:nvPr/>
        </p:nvSpPr>
        <p:spPr>
          <a:xfrm>
            <a:off x="548640" y="5166360"/>
            <a:ext cx="11091672" cy="960120"/>
          </a:xfrm>
          <a:prstGeom prst="roundRect">
            <a:avLst>
              <a:gd name="adj" fmla="val 13333"/>
            </a:avLst>
          </a:prstGeom>
          <a:solidFill>
            <a:schemeClr val="accent3">
              <a:alpha val="16000"/>
            </a:schemeClr>
          </a:solidFill>
          <a:ln w="12700">
            <a:solidFill>
              <a:schemeClr val="accent3">
                <a:alpha val="45000"/>
              </a:schemeClr>
            </a:solidFill>
            <a:prstDash val="solid"/>
          </a:ln>
        </p:spPr>
      </p:sp>
      <p:sp>
        <p:nvSpPr>
          <p:cNvPr id="26" name="Why SOL text"/>
          <p:cNvSpPr txBox="1"/>
          <p:nvPr/>
        </p:nvSpPr>
        <p:spPr>
          <a:xfrm>
            <a:off x="777240" y="5230368"/>
            <a:ext cx="10698480" cy="822960"/>
          </a:xfrm>
          <a:prstGeom prst="rect">
            <a:avLst/>
          </a:prstGeom>
          <a:noFill/>
          <a:ln/>
        </p:spPr>
        <p:txBody>
          <a:bodyPr wrap="square" lIns="0" tIns="0" rIns="0" bIns="0" rtlCol="0" anchor="ctr"/>
          <a:lstStyle/>
          <a:p>
            <a:pPr indent="0" marL="0">
              <a:buNone/>
            </a:pPr>
            <a:r>
              <a:rPr lang="en-US" sz="1600" dirty="0">
                <a:solidFill>
                  <a:schemeClr val="bg1"/>
                </a:solidFill>
              </a:rPr>
              <a:t>🤔 why so much SOL? 5 of it goes to the server wallet. It fronts each order’s rent (you get it back when the order closes) and feeds the site’s test faucet.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3 · SELLER</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boot the shops 🏪</a:t>
            </a:r>
            <a:endParaRPr lang="en-US" sz="3600" dirty="0"/>
          </a:p>
        </p:txBody>
      </p:sp>
      <p:sp>
        <p:nvSpPr>
          <p:cNvPr id="4" name="Terminal"/>
          <p:cNvSpPr/>
          <p:nvPr/>
        </p:nvSpPr>
        <p:spPr>
          <a:xfrm>
            <a:off x="548640" y="1600200"/>
            <a:ext cx="11091672" cy="1600200"/>
          </a:xfrm>
          <a:prstGeom prst="roundRect">
            <a:avLst>
              <a:gd name="adj" fmla="val 8000"/>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75564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75564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75564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682496"/>
            <a:ext cx="9994392"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1 · seller</a:t>
            </a:r>
            <a:endParaRPr lang="en-US" sz="1000" dirty="0"/>
          </a:p>
        </p:txBody>
      </p:sp>
      <p:sp>
        <p:nvSpPr>
          <p:cNvPr id="9" name="Terminal text"/>
          <p:cNvSpPr txBox="1"/>
          <p:nvPr/>
        </p:nvSpPr>
        <p:spPr>
          <a:xfrm>
            <a:off x="822960" y="2039112"/>
            <a:ext cx="10588752" cy="1051560"/>
          </a:xfrm>
          <a:prstGeom prst="rect">
            <a:avLst/>
          </a:prstGeom>
          <a:noFill/>
          <a:ln/>
        </p:spPr>
        <p:txBody>
          <a:bodyPr wrap="square" lIns="0" tIns="0" rIns="0" bIns="0" rtlCol="0" anchor="t"/>
          <a:lstStyle/>
          <a:p>
            <a:pPr indent="0" marL="0">
              <a:lnSpc>
                <a:spcPct val="115000"/>
              </a:lnSpc>
              <a:buNone/>
            </a:pPr>
            <a:r>
              <a:rPr lang="en-US" sz="1500" b="1" dirty="0">
                <a:solidFill>
                  <a:schemeClr val="bg1"/>
                </a:solidFill>
                <a:latin typeface="+mj-lt" pitchFamily="34" charset="0"/>
                <a:ea typeface="+mj-lt" pitchFamily="34" charset="-122"/>
                <a:cs typeface="+mj-lt" pitchFamily="34" charset="-120"/>
              </a:rPr>
              <a:t>$ npm run setup:devnet</a:t>
            </a:r>
            <a:endParaRPr lang="en-US" sz="1500" dirty="0"/>
          </a:p>
          <a:p>
            <a:pPr indent="0" marL="0">
              <a:lnSpc>
                <a:spcPct val="115000"/>
              </a:lnSpc>
              <a:buNone/>
            </a:pPr>
            <a:r>
              <a:rPr lang="en-US" sz="1500" dirty="0">
                <a:solidFill>
                  <a:schemeClr val="bg2"/>
                </a:solidFill>
                <a:latin typeface="+mj-lt" pitchFamily="34" charset="0"/>
                <a:ea typeface="+mj-lt" pitchFamily="34" charset="-122"/>
                <a:cs typeface="+mj-lt" pitchFamily="34" charset="-120"/>
              </a:rPr>
              <a:t># makes keys in .keys/, funds every agent, writes on-chain profiles. safe to re-run.</a:t>
            </a:r>
            <a:endParaRPr lang="en-US" sz="1500" dirty="0"/>
          </a:p>
          <a:p>
            <a:pPr indent="0" marL="0">
              <a:lnSpc>
                <a:spcPct val="115000"/>
              </a:lnSpc>
              <a:buNone/>
            </a:pPr>
            <a:r>
              <a:rPr lang="en-US" sz="1500" b="1" dirty="0">
                <a:solidFill>
                  <a:schemeClr val="bg1"/>
                </a:solidFill>
                <a:latin typeface="+mj-lt" pitchFamily="34" charset="0"/>
                <a:ea typeface="+mj-lt" pitchFamily="34" charset="-122"/>
                <a:cs typeface="+mj-lt" pitchFamily="34" charset="-120"/>
              </a:rPr>
              <a:t>$ npm run agents</a:t>
            </a:r>
            <a:endParaRPr lang="en-US" sz="1500" dirty="0"/>
          </a:p>
        </p:txBody>
      </p:sp>
      <p:sp>
        <p:nvSpPr>
          <p:cNvPr id="10" name="Terminal"/>
          <p:cNvSpPr/>
          <p:nvPr/>
        </p:nvSpPr>
        <p:spPr>
          <a:xfrm>
            <a:off x="548640" y="3383280"/>
            <a:ext cx="11091672" cy="2148840"/>
          </a:xfrm>
          <a:prstGeom prst="roundRect">
            <a:avLst>
              <a:gd name="adj" fmla="val 5957"/>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1" name="Terminal dot 1"/>
          <p:cNvSpPr/>
          <p:nvPr/>
        </p:nvSpPr>
        <p:spPr>
          <a:xfrm>
            <a:off x="749808" y="3538728"/>
            <a:ext cx="118872" cy="118872"/>
          </a:xfrm>
          <a:prstGeom prst="ellipse">
            <a:avLst/>
          </a:prstGeom>
          <a:solidFill>
            <a:schemeClr val="accent6"/>
          </a:solidFill>
          <a:ln w="12700">
            <a:solidFill>
              <a:schemeClr val="accent6"/>
            </a:solidFill>
            <a:prstDash val="solid"/>
          </a:ln>
        </p:spPr>
      </p:sp>
      <p:sp>
        <p:nvSpPr>
          <p:cNvPr id="12" name="Terminal dot 2"/>
          <p:cNvSpPr/>
          <p:nvPr/>
        </p:nvSpPr>
        <p:spPr>
          <a:xfrm>
            <a:off x="950976" y="3538728"/>
            <a:ext cx="118872" cy="118872"/>
          </a:xfrm>
          <a:prstGeom prst="ellipse">
            <a:avLst/>
          </a:prstGeom>
          <a:solidFill>
            <a:schemeClr val="accent3"/>
          </a:solidFill>
          <a:ln w="12700">
            <a:solidFill>
              <a:schemeClr val="accent3"/>
            </a:solidFill>
            <a:prstDash val="solid"/>
          </a:ln>
        </p:spPr>
      </p:sp>
      <p:sp>
        <p:nvSpPr>
          <p:cNvPr id="13" name="Terminal dot 3"/>
          <p:cNvSpPr/>
          <p:nvPr/>
        </p:nvSpPr>
        <p:spPr>
          <a:xfrm>
            <a:off x="1152144" y="3538728"/>
            <a:ext cx="118872" cy="118872"/>
          </a:xfrm>
          <a:prstGeom prst="ellipse">
            <a:avLst/>
          </a:prstGeom>
          <a:solidFill>
            <a:schemeClr val="accent1"/>
          </a:solidFill>
          <a:ln w="12700">
            <a:solidFill>
              <a:schemeClr val="accent1"/>
            </a:solidFill>
            <a:prstDash val="solid"/>
          </a:ln>
        </p:spPr>
      </p:sp>
      <p:sp>
        <p:nvSpPr>
          <p:cNvPr id="14" name="Terminal label"/>
          <p:cNvSpPr txBox="1"/>
          <p:nvPr/>
        </p:nvSpPr>
        <p:spPr>
          <a:xfrm>
            <a:off x="1417320" y="3465576"/>
            <a:ext cx="9994392"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what success looks like</a:t>
            </a:r>
            <a:endParaRPr lang="en-US" sz="1000" dirty="0"/>
          </a:p>
        </p:txBody>
      </p:sp>
      <p:sp>
        <p:nvSpPr>
          <p:cNvPr id="15" name="Terminal text"/>
          <p:cNvSpPr txBox="1"/>
          <p:nvPr/>
        </p:nvSpPr>
        <p:spPr>
          <a:xfrm>
            <a:off x="822960" y="3822192"/>
            <a:ext cx="10588752" cy="1600200"/>
          </a:xfrm>
          <a:prstGeom prst="rect">
            <a:avLst/>
          </a:prstGeom>
          <a:noFill/>
          <a:ln/>
        </p:spPr>
        <p:txBody>
          <a:bodyPr wrap="square" lIns="0" tIns="0" rIns="0" bIns="0" rtlCol="0" anchor="t"/>
          <a:lstStyle/>
          <a:p>
            <a:pPr indent="0" marL="0">
              <a:lnSpc>
                <a:spcPct val="115000"/>
              </a:lnSpc>
              <a:buNone/>
            </a:pPr>
            <a:r>
              <a:rPr lang="en-US" sz="1400" dirty="0">
                <a:solidFill>
                  <a:schemeClr val="accent1"/>
                </a:solidFill>
                <a:latin typeface="+mj-lt" pitchFamily="34" charset="0"/>
                <a:ea typeface="+mj-lt" pitchFamily="34" charset="-122"/>
                <a:cs typeface="+mj-lt" pitchFamily="34" charset="-120"/>
              </a:rPr>
              <a:t>Tessera agents on http://localhost:4020</a:t>
            </a:r>
            <a:endParaRPr lang="en-US" sz="1400" dirty="0"/>
          </a:p>
          <a:p>
            <a:pPr indent="0" marL="0">
              <a:lnSpc>
                <a:spcPct val="115000"/>
              </a:lnSpc>
              <a:buNone/>
            </a:pPr>
            <a:r>
              <a:rPr lang="en-US" sz="1400" dirty="0">
                <a:solidFill>
                  <a:schemeClr val="bg1"/>
                </a:solidFill>
                <a:latin typeface="+mj-lt" pitchFamily="34" charset="0"/>
                <a:ea typeface="+mj-lt" pitchFamily="34" charset="-122"/>
                <a:cs typeface="+mj-lt" pitchFamily="34" charset="-120"/>
              </a:rPr>
              <a:t>  facilitators: https://x402.org/facilitator, https://facilitator.payai.network</a:t>
            </a:r>
            <a:endParaRPr lang="en-US" sz="1400" dirty="0"/>
          </a:p>
          <a:p>
            <a:pPr indent="0" marL="0">
              <a:lnSpc>
                <a:spcPct val="115000"/>
              </a:lnSpc>
              <a:buNone/>
            </a:pPr>
            <a:r>
              <a:rPr lang="en-US" sz="1400" dirty="0">
                <a:solidFill>
                  <a:schemeClr val="bg1"/>
                </a:solidFill>
                <a:latin typeface="+mj-lt" pitchFamily="34" charset="0"/>
                <a:ea typeface="+mj-lt" pitchFamily="34" charset="-122"/>
                <a:cs typeface="+mj-lt" pitchFamily="34" charset="-120"/>
              </a:rPr>
              <a:t>  holds by tier: New 120s, Building 45s, Established 10s, Trusted 0s; fee 1%</a:t>
            </a:r>
            <a:endParaRPr lang="en-US" sz="1400" dirty="0"/>
          </a:p>
          <a:p>
            <a:pPr indent="0" marL="0">
              <a:lnSpc>
                <a:spcPct val="115000"/>
              </a:lnSpc>
              <a:buNone/>
            </a:pPr>
            <a:r>
              <a:rPr lang="en-US" sz="1400" dirty="0">
                <a:solidFill>
                  <a:schemeClr val="bg1"/>
                </a:solidFill>
                <a:latin typeface="+mj-lt" pitchFamily="34" charset="0"/>
                <a:ea typeface="+mj-lt" pitchFamily="34" charset="-122"/>
                <a:cs typeface="+mj-lt" pitchFamily="34" charset="-120"/>
              </a:rPr>
              <a:t>  atlas    &lt;wallet&gt;  telemetry 0.20</a:t>
            </a:r>
            <a:endParaRPr lang="en-US" sz="1400" dirty="0"/>
          </a:p>
          <a:p>
            <a:pPr indent="0" marL="0">
              <a:lnSpc>
                <a:spcPct val="115000"/>
              </a:lnSpc>
              <a:buNone/>
            </a:pPr>
            <a:r>
              <a:rPr lang="en-US" sz="1400" dirty="0">
                <a:solidFill>
                  <a:schemeClr val="bg1"/>
                </a:solidFill>
                <a:latin typeface="+mj-lt" pitchFamily="34" charset="0"/>
                <a:ea typeface="+mj-lt" pitchFamily="34" charset="-122"/>
                <a:cs typeface="+mj-lt" pitchFamily="34" charset="-120"/>
              </a:rPr>
              <a:t>  quill    &lt;wallet&gt;  summary 0.25</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 vera, pixel, and the two villains: mallory, washer</a:t>
            </a:r>
            <a:endParaRPr lang="en-US" sz="1400" dirty="0"/>
          </a:p>
        </p:txBody>
      </p:sp>
      <p:sp>
        <p:nvSpPr>
          <p:cNvPr id="16" name="Health check"/>
          <p:cNvSpPr txBox="1"/>
          <p:nvPr/>
        </p:nvSpPr>
        <p:spPr>
          <a:xfrm>
            <a:off x="548640" y="5669280"/>
            <a:ext cx="6766560" cy="41148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sanity check: curl localhost:4020/health → {"ok":true, …}</a:t>
            </a:r>
            <a:endParaRPr lang="en-US" sz="1500" dirty="0"/>
          </a:p>
        </p:txBody>
      </p:sp>
      <p:sp>
        <p:nvSpPr>
          <p:cNvPr id="17" name="Keys warning"/>
          <p:cNvSpPr txBox="1"/>
          <p:nvPr/>
        </p:nvSpPr>
        <p:spPr>
          <a:xfrm>
            <a:off x="7589520" y="5687568"/>
            <a:ext cx="4050792" cy="411480"/>
          </a:xfrm>
          <a:prstGeom prst="rect">
            <a:avLst/>
          </a:prstGeom>
          <a:noFill/>
          <a:ln/>
        </p:spPr>
        <p:txBody>
          <a:bodyPr wrap="square" lIns="0" tIns="0" rIns="0" bIns="0" rtlCol="0" anchor="t"/>
          <a:lstStyle/>
          <a:p>
            <a:pPr indent="0" marL="0">
              <a:buNone/>
            </a:pPr>
            <a:r>
              <a:rPr lang="en-US" sz="1400" dirty="0">
                <a:solidFill>
                  <a:schemeClr val="accent3"/>
                </a:solidFill>
              </a:rPr>
              <a:t>.keys/ is gitignored. never commit it 🙃</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4A · BUYER IN THE BROWSER</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ape in, responsibly 🛒</a:t>
            </a:r>
            <a:endParaRPr lang="en-US" sz="3600" dirty="0"/>
          </a:p>
        </p:txBody>
      </p:sp>
      <p:sp>
        <p:nvSpPr>
          <p:cNvPr id="4" name="Buy step 1"/>
          <p:cNvSpPr/>
          <p:nvPr/>
        </p:nvSpPr>
        <p:spPr>
          <a:xfrm>
            <a:off x="548640" y="164592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5" name="Step 1"/>
          <p:cNvSpPr/>
          <p:nvPr/>
        </p:nvSpPr>
        <p:spPr>
          <a:xfrm>
            <a:off x="731520" y="1874520"/>
            <a:ext cx="502920" cy="502920"/>
          </a:xfrm>
          <a:prstGeom prst="ellipse">
            <a:avLst/>
          </a:prstGeom>
          <a:solidFill>
            <a:schemeClr val="accent1">
              <a:alpha val="85000"/>
            </a:schemeClr>
          </a:solidFill>
          <a:ln w="12700">
            <a:solidFill>
              <a:schemeClr val="accent1"/>
            </a:solidFill>
            <a:prstDash val="solid"/>
          </a:ln>
        </p:spPr>
      </p:sp>
      <p:sp>
        <p:nvSpPr>
          <p:cNvPr id="6" name="Step 1 label"/>
          <p:cNvSpPr txBox="1"/>
          <p:nvPr/>
        </p:nvSpPr>
        <p:spPr>
          <a:xfrm>
            <a:off x="731520" y="18745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7" name="Buy step 1 title"/>
          <p:cNvSpPr txBox="1"/>
          <p:nvPr/>
        </p:nvSpPr>
        <p:spPr>
          <a:xfrm>
            <a:off x="1417320" y="1737360"/>
            <a:ext cx="4389120" cy="347472"/>
          </a:xfrm>
          <a:prstGeom prst="rect">
            <a:avLst/>
          </a:prstGeom>
          <a:noFill/>
          <a:ln/>
        </p:spPr>
        <p:txBody>
          <a:bodyPr wrap="square" lIns="0" tIns="0" rIns="0" bIns="0" rtlCol="0" anchor="t"/>
          <a:lstStyle/>
          <a:p>
            <a:pPr indent="0" marL="0">
              <a:buNone/>
            </a:pPr>
            <a:r>
              <a:rPr lang="en-US" sz="1700" b="1" dirty="0">
                <a:solidFill>
                  <a:schemeClr val="bg1"/>
                </a:solidFill>
              </a:rPr>
              <a:t>Open localhost:5173/#/market</a:t>
            </a:r>
            <a:endParaRPr lang="en-US" sz="1700" dirty="0"/>
          </a:p>
        </p:txBody>
      </p:sp>
      <p:sp>
        <p:nvSpPr>
          <p:cNvPr id="8" name="Buy step 1 body"/>
          <p:cNvSpPr txBox="1"/>
          <p:nvPr/>
        </p:nvSpPr>
        <p:spPr>
          <a:xfrm>
            <a:off x="1417320" y="2084832"/>
            <a:ext cx="4389120" cy="475488"/>
          </a:xfrm>
          <a:prstGeom prst="rect">
            <a:avLst/>
          </a:prstGeom>
          <a:noFill/>
          <a:ln/>
        </p:spPr>
        <p:txBody>
          <a:bodyPr wrap="square" lIns="0" tIns="0" rIns="0" bIns="0" rtlCol="0" anchor="t"/>
          <a:lstStyle/>
          <a:p>
            <a:pPr indent="0" marL="0">
              <a:buNone/>
            </a:pPr>
            <a:r>
              <a:rPr lang="en-US" sz="1400" dirty="0">
                <a:solidFill>
                  <a:schemeClr val="bg2"/>
                </a:solidFill>
              </a:rPr>
              <a:t>the 4 shops appear with prices and your hold time</a:t>
            </a:r>
            <a:endParaRPr lang="en-US" sz="1400" dirty="0"/>
          </a:p>
        </p:txBody>
      </p:sp>
      <p:sp>
        <p:nvSpPr>
          <p:cNvPr id="9" name="Buy step 2"/>
          <p:cNvSpPr/>
          <p:nvPr/>
        </p:nvSpPr>
        <p:spPr>
          <a:xfrm>
            <a:off x="548640" y="274320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10" name="Step 2"/>
          <p:cNvSpPr/>
          <p:nvPr/>
        </p:nvSpPr>
        <p:spPr>
          <a:xfrm>
            <a:off x="731520" y="2971800"/>
            <a:ext cx="502920" cy="502920"/>
          </a:xfrm>
          <a:prstGeom prst="ellipse">
            <a:avLst/>
          </a:prstGeom>
          <a:solidFill>
            <a:schemeClr val="accent5">
              <a:alpha val="85000"/>
            </a:schemeClr>
          </a:solidFill>
          <a:ln w="12700">
            <a:solidFill>
              <a:schemeClr val="accent5"/>
            </a:solidFill>
            <a:prstDash val="solid"/>
          </a:ln>
        </p:spPr>
      </p:sp>
      <p:sp>
        <p:nvSpPr>
          <p:cNvPr id="11" name="Step 2 label"/>
          <p:cNvSpPr txBox="1"/>
          <p:nvPr/>
        </p:nvSpPr>
        <p:spPr>
          <a:xfrm>
            <a:off x="731520" y="2971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2" name="Buy step 2 title"/>
          <p:cNvSpPr txBox="1"/>
          <p:nvPr/>
        </p:nvSpPr>
        <p:spPr>
          <a:xfrm>
            <a:off x="1417320" y="2834640"/>
            <a:ext cx="4389120" cy="347472"/>
          </a:xfrm>
          <a:prstGeom prst="rect">
            <a:avLst/>
          </a:prstGeom>
          <a:noFill/>
          <a:ln/>
        </p:spPr>
        <p:txBody>
          <a:bodyPr wrap="square" lIns="0" tIns="0" rIns="0" bIns="0" rtlCol="0" anchor="t"/>
          <a:lstStyle/>
          <a:p>
            <a:pPr indent="0" marL="0">
              <a:buNone/>
            </a:pPr>
            <a:r>
              <a:rPr lang="en-US" sz="1700" b="1" dirty="0">
                <a:solidFill>
                  <a:schemeClr val="bg1"/>
                </a:solidFill>
              </a:rPr>
              <a:t>Connect wallet (devnet)</a:t>
            </a:r>
            <a:endParaRPr lang="en-US" sz="1700" dirty="0"/>
          </a:p>
        </p:txBody>
      </p:sp>
      <p:sp>
        <p:nvSpPr>
          <p:cNvPr id="13" name="Buy step 2 body"/>
          <p:cNvSpPr txBox="1"/>
          <p:nvPr/>
        </p:nvSpPr>
        <p:spPr>
          <a:xfrm>
            <a:off x="1417320" y="3182112"/>
            <a:ext cx="4389120" cy="475488"/>
          </a:xfrm>
          <a:prstGeom prst="rect">
            <a:avLst/>
          </a:prstGeom>
          <a:noFill/>
          <a:ln/>
        </p:spPr>
        <p:txBody>
          <a:bodyPr wrap="square" lIns="0" tIns="0" rIns="0" bIns="0" rtlCol="0" anchor="t"/>
          <a:lstStyle/>
          <a:p>
            <a:pPr indent="0" marL="0">
              <a:buNone/>
            </a:pPr>
            <a:r>
              <a:rPr lang="en-US" sz="1400" dirty="0">
                <a:solidFill>
                  <a:schemeClr val="bg2"/>
                </a:solidFill>
              </a:rPr>
              <a:t>or do nothing: a built-in test wallet is already loaded</a:t>
            </a:r>
            <a:endParaRPr lang="en-US" sz="1400" dirty="0"/>
          </a:p>
        </p:txBody>
      </p:sp>
      <p:sp>
        <p:nvSpPr>
          <p:cNvPr id="14" name="Buy step 3"/>
          <p:cNvSpPr/>
          <p:nvPr/>
        </p:nvSpPr>
        <p:spPr>
          <a:xfrm>
            <a:off x="548640" y="384048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15" name="Step 3"/>
          <p:cNvSpPr/>
          <p:nvPr/>
        </p:nvSpPr>
        <p:spPr>
          <a:xfrm>
            <a:off x="731520" y="4069080"/>
            <a:ext cx="502920" cy="502920"/>
          </a:xfrm>
          <a:prstGeom prst="ellipse">
            <a:avLst/>
          </a:prstGeom>
          <a:solidFill>
            <a:schemeClr val="accent3">
              <a:alpha val="85000"/>
            </a:schemeClr>
          </a:solidFill>
          <a:ln w="12700">
            <a:solidFill>
              <a:schemeClr val="accent3"/>
            </a:solidFill>
            <a:prstDash val="solid"/>
          </a:ln>
        </p:spPr>
      </p:sp>
      <p:sp>
        <p:nvSpPr>
          <p:cNvPr id="16" name="Step 3 label"/>
          <p:cNvSpPr txBox="1"/>
          <p:nvPr/>
        </p:nvSpPr>
        <p:spPr>
          <a:xfrm>
            <a:off x="731520" y="40690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7" name="Buy step 3 title"/>
          <p:cNvSpPr txBox="1"/>
          <p:nvPr/>
        </p:nvSpPr>
        <p:spPr>
          <a:xfrm>
            <a:off x="1417320" y="3931920"/>
            <a:ext cx="4389120" cy="347472"/>
          </a:xfrm>
          <a:prstGeom prst="rect">
            <a:avLst/>
          </a:prstGeom>
          <a:noFill/>
          <a:ln/>
        </p:spPr>
        <p:txBody>
          <a:bodyPr wrap="square" lIns="0" tIns="0" rIns="0" bIns="0" rtlCol="0" anchor="t"/>
          <a:lstStyle/>
          <a:p>
            <a:pPr indent="0" marL="0">
              <a:buNone/>
            </a:pPr>
            <a:r>
              <a:rPr lang="en-US" sz="1700" b="1" dirty="0">
                <a:solidFill>
                  <a:schemeClr val="bg1"/>
                </a:solidFill>
              </a:rPr>
              <a:t>Get test funds</a:t>
            </a:r>
            <a:endParaRPr lang="en-US" sz="1700" dirty="0"/>
          </a:p>
        </p:txBody>
      </p:sp>
      <p:sp>
        <p:nvSpPr>
          <p:cNvPr id="18" name="Buy step 3 body"/>
          <p:cNvSpPr txBox="1"/>
          <p:nvPr/>
        </p:nvSpPr>
        <p:spPr>
          <a:xfrm>
            <a:off x="1417320" y="4279392"/>
            <a:ext cx="4389120" cy="475488"/>
          </a:xfrm>
          <a:prstGeom prst="rect">
            <a:avLst/>
          </a:prstGeom>
          <a:noFill/>
          <a:ln/>
        </p:spPr>
        <p:txBody>
          <a:bodyPr wrap="square" lIns="0" tIns="0" rIns="0" bIns="0" rtlCol="0" anchor="t"/>
          <a:lstStyle/>
          <a:p>
            <a:pPr indent="0" marL="0">
              <a:buNone/>
            </a:pPr>
            <a:r>
              <a:rPr lang="en-US" sz="1400" dirty="0">
                <a:solidFill>
                  <a:schemeClr val="bg2"/>
                </a:solidFill>
              </a:rPr>
              <a:t>the site faucet sends 0.8 test USDC + 0.02 SOL</a:t>
            </a:r>
            <a:endParaRPr lang="en-US" sz="1400" dirty="0"/>
          </a:p>
        </p:txBody>
      </p:sp>
      <p:sp>
        <p:nvSpPr>
          <p:cNvPr id="19" name="Buy step 4"/>
          <p:cNvSpPr/>
          <p:nvPr/>
        </p:nvSpPr>
        <p:spPr>
          <a:xfrm>
            <a:off x="6245352" y="164592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20" name="Step 4"/>
          <p:cNvSpPr/>
          <p:nvPr/>
        </p:nvSpPr>
        <p:spPr>
          <a:xfrm>
            <a:off x="6428232" y="1874520"/>
            <a:ext cx="502920" cy="502920"/>
          </a:xfrm>
          <a:prstGeom prst="ellipse">
            <a:avLst/>
          </a:prstGeom>
          <a:solidFill>
            <a:schemeClr val="accent4">
              <a:alpha val="85000"/>
            </a:schemeClr>
          </a:solidFill>
          <a:ln w="12700">
            <a:solidFill>
              <a:schemeClr val="accent4"/>
            </a:solidFill>
            <a:prstDash val="solid"/>
          </a:ln>
        </p:spPr>
      </p:sp>
      <p:sp>
        <p:nvSpPr>
          <p:cNvPr id="21" name="Step 4 label"/>
          <p:cNvSpPr txBox="1"/>
          <p:nvPr/>
        </p:nvSpPr>
        <p:spPr>
          <a:xfrm>
            <a:off x="6428232" y="18745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22" name="Buy step 4 title"/>
          <p:cNvSpPr txBox="1"/>
          <p:nvPr/>
        </p:nvSpPr>
        <p:spPr>
          <a:xfrm>
            <a:off x="7114032" y="1737360"/>
            <a:ext cx="4389120" cy="347472"/>
          </a:xfrm>
          <a:prstGeom prst="rect">
            <a:avLst/>
          </a:prstGeom>
          <a:noFill/>
          <a:ln/>
        </p:spPr>
        <p:txBody>
          <a:bodyPr wrap="square" lIns="0" tIns="0" rIns="0" bIns="0" rtlCol="0" anchor="t"/>
          <a:lstStyle/>
          <a:p>
            <a:pPr indent="0" marL="0">
              <a:buNone/>
            </a:pPr>
            <a:r>
              <a:rPr lang="en-US" sz="1700" b="1" dirty="0">
                <a:solidFill>
                  <a:schemeClr val="bg1"/>
                </a:solidFill>
              </a:rPr>
              <a:t>Buy → Pay into escrow</a:t>
            </a:r>
            <a:endParaRPr lang="en-US" sz="1700" dirty="0"/>
          </a:p>
        </p:txBody>
      </p:sp>
      <p:sp>
        <p:nvSpPr>
          <p:cNvPr id="23" name="Buy step 4 body"/>
          <p:cNvSpPr txBox="1"/>
          <p:nvPr/>
        </p:nvSpPr>
        <p:spPr>
          <a:xfrm>
            <a:off x="7114032" y="2084832"/>
            <a:ext cx="4389120" cy="475488"/>
          </a:xfrm>
          <a:prstGeom prst="rect">
            <a:avLst/>
          </a:prstGeom>
          <a:noFill/>
          <a:ln/>
        </p:spPr>
        <p:txBody>
          <a:bodyPr wrap="square" lIns="0" tIns="0" rIns="0" bIns="0" rtlCol="0" anchor="t"/>
          <a:lstStyle/>
          <a:p>
            <a:pPr indent="0" marL="0">
              <a:buNone/>
            </a:pPr>
            <a:r>
              <a:rPr lang="en-US" sz="1400" dirty="0">
                <a:solidFill>
                  <a:schemeClr val="bg2"/>
                </a:solidFill>
              </a:rPr>
              <a:t>approve one transfer: USDC goes into the order’s vault, not to the seller</a:t>
            </a:r>
            <a:endParaRPr lang="en-US" sz="1400" dirty="0"/>
          </a:p>
        </p:txBody>
      </p:sp>
      <p:sp>
        <p:nvSpPr>
          <p:cNvPr id="24" name="Buy step 5"/>
          <p:cNvSpPr/>
          <p:nvPr/>
        </p:nvSpPr>
        <p:spPr>
          <a:xfrm>
            <a:off x="6245352" y="274320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25" name="Step 5"/>
          <p:cNvSpPr/>
          <p:nvPr/>
        </p:nvSpPr>
        <p:spPr>
          <a:xfrm>
            <a:off x="6428232" y="2971800"/>
            <a:ext cx="502920" cy="502920"/>
          </a:xfrm>
          <a:prstGeom prst="ellipse">
            <a:avLst/>
          </a:prstGeom>
          <a:solidFill>
            <a:schemeClr val="accent2">
              <a:alpha val="85000"/>
            </a:schemeClr>
          </a:solidFill>
          <a:ln w="12700">
            <a:solidFill>
              <a:schemeClr val="accent2"/>
            </a:solidFill>
            <a:prstDash val="solid"/>
          </a:ln>
        </p:spPr>
      </p:sp>
      <p:sp>
        <p:nvSpPr>
          <p:cNvPr id="26" name="Step 5 label"/>
          <p:cNvSpPr txBox="1"/>
          <p:nvPr/>
        </p:nvSpPr>
        <p:spPr>
          <a:xfrm>
            <a:off x="6428232" y="29718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5</a:t>
            </a:r>
            <a:endParaRPr lang="en-US" sz="1800" dirty="0"/>
          </a:p>
        </p:txBody>
      </p:sp>
      <p:sp>
        <p:nvSpPr>
          <p:cNvPr id="27" name="Buy step 5 title"/>
          <p:cNvSpPr txBox="1"/>
          <p:nvPr/>
        </p:nvSpPr>
        <p:spPr>
          <a:xfrm>
            <a:off x="7114032" y="2834640"/>
            <a:ext cx="4389120" cy="347472"/>
          </a:xfrm>
          <a:prstGeom prst="rect">
            <a:avLst/>
          </a:prstGeom>
          <a:noFill/>
          <a:ln/>
        </p:spPr>
        <p:txBody>
          <a:bodyPr wrap="square" lIns="0" tIns="0" rIns="0" bIns="0" rtlCol="0" anchor="t"/>
          <a:lstStyle/>
          <a:p>
            <a:pPr indent="0" marL="0">
              <a:buNone/>
            </a:pPr>
            <a:r>
              <a:rPr lang="en-US" sz="1700" b="1" dirty="0">
                <a:solidFill>
                  <a:schemeClr val="bg1"/>
                </a:solidFill>
              </a:rPr>
              <a:t>Watch 4 checks go ✓</a:t>
            </a:r>
            <a:endParaRPr lang="en-US" sz="1700" dirty="0"/>
          </a:p>
        </p:txBody>
      </p:sp>
      <p:sp>
        <p:nvSpPr>
          <p:cNvPr id="28" name="Buy step 5 body"/>
          <p:cNvSpPr txBox="1"/>
          <p:nvPr/>
        </p:nvSpPr>
        <p:spPr>
          <a:xfrm>
            <a:off x="7114032" y="3182112"/>
            <a:ext cx="4389120" cy="475488"/>
          </a:xfrm>
          <a:prstGeom prst="rect">
            <a:avLst/>
          </a:prstGeom>
          <a:noFill/>
          <a:ln/>
        </p:spPr>
        <p:txBody>
          <a:bodyPr wrap="square" lIns="0" tIns="0" rIns="0" bIns="0" rtlCol="0" anchor="t"/>
          <a:lstStyle/>
          <a:p>
            <a:pPr indent="0" marL="0">
              <a:buNone/>
            </a:pPr>
            <a:r>
              <a:rPr lang="en-US" sz="1400" dirty="0">
                <a:solidFill>
                  <a:schemeClr val="bg2"/>
                </a:solidFill>
              </a:rPr>
              <a:t>escrow opened → verified on-chain by your browser → paid → delivered, hash matches</a:t>
            </a:r>
            <a:endParaRPr lang="en-US" sz="1400" dirty="0"/>
          </a:p>
        </p:txBody>
      </p:sp>
      <p:sp>
        <p:nvSpPr>
          <p:cNvPr id="29" name="Buy step 6"/>
          <p:cNvSpPr/>
          <p:nvPr/>
        </p:nvSpPr>
        <p:spPr>
          <a:xfrm>
            <a:off x="6245352" y="3840480"/>
            <a:ext cx="5394960" cy="960120"/>
          </a:xfrm>
          <a:prstGeom prst="roundRect">
            <a:avLst>
              <a:gd name="adj" fmla="val 13333"/>
            </a:avLst>
          </a:prstGeom>
          <a:solidFill>
            <a:schemeClr val="tx2"/>
          </a:solidFill>
          <a:ln w="12700">
            <a:solidFill>
              <a:schemeClr val="accent2">
                <a:alpha val="45000"/>
              </a:schemeClr>
            </a:solidFill>
            <a:prstDash val="solid"/>
          </a:ln>
        </p:spPr>
      </p:sp>
      <p:sp>
        <p:nvSpPr>
          <p:cNvPr id="30" name="Step 6"/>
          <p:cNvSpPr/>
          <p:nvPr/>
        </p:nvSpPr>
        <p:spPr>
          <a:xfrm>
            <a:off x="6428232" y="4069080"/>
            <a:ext cx="502920" cy="502920"/>
          </a:xfrm>
          <a:prstGeom prst="ellipse">
            <a:avLst/>
          </a:prstGeom>
          <a:solidFill>
            <a:schemeClr val="accent1">
              <a:alpha val="85000"/>
            </a:schemeClr>
          </a:solidFill>
          <a:ln w="12700">
            <a:solidFill>
              <a:schemeClr val="accent1"/>
            </a:solidFill>
            <a:prstDash val="solid"/>
          </a:ln>
        </p:spPr>
      </p:sp>
      <p:sp>
        <p:nvSpPr>
          <p:cNvPr id="31" name="Step 6 label"/>
          <p:cNvSpPr txBox="1"/>
          <p:nvPr/>
        </p:nvSpPr>
        <p:spPr>
          <a:xfrm>
            <a:off x="6428232" y="40690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6</a:t>
            </a:r>
            <a:endParaRPr lang="en-US" sz="1800" dirty="0"/>
          </a:p>
        </p:txBody>
      </p:sp>
      <p:sp>
        <p:nvSpPr>
          <p:cNvPr id="32" name="Buy step 6 title"/>
          <p:cNvSpPr txBox="1"/>
          <p:nvPr/>
        </p:nvSpPr>
        <p:spPr>
          <a:xfrm>
            <a:off x="7114032" y="3931920"/>
            <a:ext cx="4389120" cy="347472"/>
          </a:xfrm>
          <a:prstGeom prst="rect">
            <a:avLst/>
          </a:prstGeom>
          <a:noFill/>
          <a:ln/>
        </p:spPr>
        <p:txBody>
          <a:bodyPr wrap="square" lIns="0" tIns="0" rIns="0" bIns="0" rtlCol="0" anchor="t"/>
          <a:lstStyle/>
          <a:p>
            <a:pPr indent="0" marL="0">
              <a:buNone/>
            </a:pPr>
            <a:r>
              <a:rPr lang="en-US" sz="1700" b="1" dirty="0">
                <a:solidFill>
                  <a:schemeClr val="bg1"/>
                </a:solidFill>
              </a:rPr>
              <a:t>Release or dispute, then rate</a:t>
            </a:r>
            <a:endParaRPr lang="en-US" sz="1700" dirty="0"/>
          </a:p>
        </p:txBody>
      </p:sp>
      <p:sp>
        <p:nvSpPr>
          <p:cNvPr id="33" name="Buy step 6 body"/>
          <p:cNvSpPr txBox="1"/>
          <p:nvPr/>
        </p:nvSpPr>
        <p:spPr>
          <a:xfrm>
            <a:off x="7114032" y="4279392"/>
            <a:ext cx="4389120" cy="475488"/>
          </a:xfrm>
          <a:prstGeom prst="rect">
            <a:avLst/>
          </a:prstGeom>
          <a:noFill/>
          <a:ln/>
        </p:spPr>
        <p:txBody>
          <a:bodyPr wrap="square" lIns="0" tIns="0" rIns="0" bIns="0" rtlCol="0" anchor="t"/>
          <a:lstStyle/>
          <a:p>
            <a:pPr indent="0" marL="0">
              <a:buNone/>
            </a:pPr>
            <a:r>
              <a:rPr lang="en-US" sz="1400" dirty="0">
                <a:solidFill>
                  <a:schemeClr val="bg2"/>
                </a:solidFill>
              </a:rPr>
              <a:t>hold countdown → “Release now” or “Dispute” → ★★★★★ stored on-chain</a:t>
            </a:r>
            <a:endParaRPr lang="en-US" sz="1400" dirty="0"/>
          </a:p>
        </p:txBody>
      </p:sp>
      <p:sp>
        <p:nvSpPr>
          <p:cNvPr id="34" name="Fresh setup"/>
          <p:cNvSpPr/>
          <p:nvPr/>
        </p:nvSpPr>
        <p:spPr>
          <a:xfrm>
            <a:off x="548640" y="4983480"/>
            <a:ext cx="11091672" cy="1143000"/>
          </a:xfrm>
          <a:prstGeom prst="roundRect">
            <a:avLst>
              <a:gd name="adj" fmla="val 11200"/>
            </a:avLst>
          </a:prstGeom>
          <a:solidFill>
            <a:schemeClr val="accent3">
              <a:alpha val="16000"/>
            </a:schemeClr>
          </a:solidFill>
          <a:ln w="12700">
            <a:solidFill>
              <a:schemeClr val="accent3">
                <a:alpha val="45000"/>
              </a:schemeClr>
            </a:solidFill>
            <a:prstDash val="solid"/>
          </a:ln>
        </p:spPr>
      </p:sp>
      <p:sp>
        <p:nvSpPr>
          <p:cNvPr id="35" name="Fresh setup text"/>
          <p:cNvSpPr txBox="1"/>
          <p:nvPr/>
        </p:nvSpPr>
        <p:spPr>
          <a:xfrm>
            <a:off x="777240" y="5047488"/>
            <a:ext cx="10698480" cy="1005840"/>
          </a:xfrm>
          <a:prstGeom prst="rect">
            <a:avLst/>
          </a:prstGeom>
          <a:noFill/>
          <a:ln/>
        </p:spPr>
        <p:txBody>
          <a:bodyPr wrap="square" lIns="0" tIns="0" rIns="0" bIns="0" rtlCol="0" anchor="ctr"/>
          <a:lstStyle/>
          <a:p>
            <a:pPr indent="0" marL="0">
              <a:buNone/>
            </a:pPr>
            <a:r>
              <a:rPr lang="en-US" sz="1500" dirty="0">
                <a:solidFill>
                  <a:schemeClr val="bg1"/>
                </a:solidFill>
              </a:rPr>
              <a:t>⚠️ Fresh setup? The site faucet is empty until the shops earn something. Do 2–3 agent buys first (next slide), or fill your own wallet from faucet.circle.com and faucet.solana.com. FYI: the browser pays the escrow straight from your wallet; the x402-facilitator path is the agent buyer.</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4B · BUYER BOT, REAL X402</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speak x402 🤖</a:t>
            </a:r>
            <a:endParaRPr lang="en-US" sz="3600" dirty="0"/>
          </a:p>
        </p:txBody>
      </p:sp>
      <p:sp>
        <p:nvSpPr>
          <p:cNvPr id="4" name="Terminal"/>
          <p:cNvSpPr/>
          <p:nvPr/>
        </p:nvSpPr>
        <p:spPr>
          <a:xfrm>
            <a:off x="548640" y="1600200"/>
            <a:ext cx="11091672" cy="3154680"/>
          </a:xfrm>
          <a:prstGeom prst="roundRect">
            <a:avLst>
              <a:gd name="adj" fmla="val 4058"/>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75564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75564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75564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682496"/>
            <a:ext cx="9994392"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3 · buyer bot</a:t>
            </a:r>
            <a:endParaRPr lang="en-US" sz="1000" dirty="0"/>
          </a:p>
        </p:txBody>
      </p:sp>
      <p:sp>
        <p:nvSpPr>
          <p:cNvPr id="9" name="Terminal text"/>
          <p:cNvSpPr txBox="1"/>
          <p:nvPr/>
        </p:nvSpPr>
        <p:spPr>
          <a:xfrm>
            <a:off x="822960" y="2039112"/>
            <a:ext cx="10588752" cy="2606040"/>
          </a:xfrm>
          <a:prstGeom prst="rect">
            <a:avLst/>
          </a:prstGeom>
          <a:noFill/>
          <a:ln/>
        </p:spPr>
        <p:txBody>
          <a:bodyPr wrap="square" lIns="0" tIns="0" rIns="0" bIns="0" rtlCol="0" anchor="t"/>
          <a:lstStyle/>
          <a:p>
            <a:pPr indent="0" marL="0">
              <a:lnSpc>
                <a:spcPct val="115000"/>
              </a:lnSpc>
              <a:buNone/>
            </a:pPr>
            <a:r>
              <a:rPr lang="en-US" sz="1400" dirty="0">
                <a:solidFill>
                  <a:schemeClr val="bg2"/>
                </a:solidFill>
                <a:latin typeface="+mj-lt" pitchFamily="34" charset="0"/>
                <a:ea typeface="+mj-lt" pitchFamily="34" charset="-122"/>
                <a:cs typeface="+mj-lt" pitchFamily="34" charset="-120"/>
              </a:rPr>
              <a:t># scout is a buyer agent that setup:devnet made for you</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solana address -k .keys/agents/scout.json</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1) the raw 402: payTo is the escrow, not the seller</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curl -i "http://localhost:4020/agents/atlas/x402/telemetry?buyer=&lt;SCOUT_ADDRESS&gt;"</a:t>
            </a:r>
            <a:endParaRPr lang="en-US" sz="1400" dirty="0"/>
          </a:p>
          <a:p>
            <a:pPr indent="0" marL="0">
              <a:lnSpc>
                <a:spcPct val="115000"/>
              </a:lnSpc>
              <a:buNone/>
            </a:pPr>
            <a:r>
              <a:rPr lang="en-US" sz="1400" dirty="0">
                <a:solidFill>
                  <a:schemeClr val="accent1"/>
                </a:solidFill>
                <a:latin typeface="+mj-lt" pitchFamily="34" charset="0"/>
                <a:ea typeface="+mj-lt" pitchFamily="34" charset="-122"/>
                <a:cs typeface="+mj-lt" pitchFamily="34" charset="-120"/>
              </a:rPr>
              <a:t>HTTP/1.1 402 Payment Required   (+ PAYMENT-REQUIRED header)</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2) full A2A + x402 purchase through a facilitator (buyer pays 0 SOL)</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buy -w @tessera/agents -- --buyer scout --merchant atlas --mode x402</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3) the same sale over plain HTTP 402, no A2A</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buy:http -w @tessera/agents -- --buyer nova --merchant quill</a:t>
            </a:r>
            <a:endParaRPr lang="en-US" sz="1400" dirty="0"/>
          </a:p>
        </p:txBody>
      </p:sp>
      <p:sp>
        <p:nvSpPr>
          <p:cNvPr id="10" name="Output 1"/>
          <p:cNvSpPr/>
          <p:nvPr/>
        </p:nvSpPr>
        <p:spPr>
          <a:xfrm>
            <a:off x="548640" y="4937760"/>
            <a:ext cx="3520440" cy="1188720"/>
          </a:xfrm>
          <a:prstGeom prst="roundRect">
            <a:avLst>
              <a:gd name="adj" fmla="val 10769"/>
            </a:avLst>
          </a:prstGeom>
          <a:solidFill>
            <a:schemeClr val="tx2"/>
          </a:solidFill>
          <a:ln w="12700">
            <a:solidFill>
              <a:schemeClr val="accent2">
                <a:alpha val="45000"/>
              </a:schemeClr>
            </a:solidFill>
            <a:prstDash val="solid"/>
          </a:ln>
        </p:spPr>
      </p:sp>
      <p:sp>
        <p:nvSpPr>
          <p:cNvPr id="11" name="Icon chip"/>
          <p:cNvSpPr/>
          <p:nvPr/>
        </p:nvSpPr>
        <p:spPr>
          <a:xfrm>
            <a:off x="731520" y="5138928"/>
            <a:ext cx="548640" cy="548640"/>
          </a:xfrm>
          <a:prstGeom prst="ellipse">
            <a:avLst/>
          </a:prstGeom>
          <a:solidFill>
            <a:schemeClr val="accent5">
              <a:alpha val="22000"/>
            </a:schemeClr>
          </a:solidFill>
          <a:ln w="12700">
            <a:solidFill>
              <a:schemeClr val="accent5">
                <a:alpha val="70000"/>
              </a:schemeClr>
            </a:solidFill>
            <a:prstDash val="solid"/>
          </a:ln>
        </p:spPr>
      </p:sp>
      <p:pic>
        <p:nvPicPr>
          <p:cNvPr id="12" name="Icon" descr="preencoded.png">    </p:cNvPr>
          <p:cNvPicPr>
            <a:picLocks noChangeAspect="1"/>
          </p:cNvPicPr>
          <p:nvPr/>
        </p:nvPicPr>
        <p:blipFill>
          <a:blip r:embed="rId1"/>
          <a:stretch>
            <a:fillRect/>
          </a:stretch>
        </p:blipFill>
        <p:spPr>
          <a:xfrm>
            <a:off x="868680" y="5276088"/>
            <a:ext cx="274320" cy="274320"/>
          </a:xfrm>
          <a:prstGeom prst="rect">
            <a:avLst/>
          </a:prstGeom>
        </p:spPr>
      </p:pic>
      <p:sp>
        <p:nvSpPr>
          <p:cNvPr id="13" name="Output 1 title"/>
          <p:cNvSpPr txBox="1"/>
          <p:nvPr/>
        </p:nvSpPr>
        <p:spPr>
          <a:xfrm>
            <a:off x="1417320" y="5074920"/>
            <a:ext cx="2514600"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order</a:t>
            </a:r>
            <a:endParaRPr lang="en-US" sz="1600" dirty="0"/>
          </a:p>
        </p:txBody>
      </p:sp>
      <p:sp>
        <p:nvSpPr>
          <p:cNvPr id="14" name="Output 1 body"/>
          <p:cNvSpPr txBox="1"/>
          <p:nvPr/>
        </p:nvSpPr>
        <p:spPr>
          <a:xfrm>
            <a:off x="1417320" y="5440680"/>
            <a:ext cx="2514600" cy="594360"/>
          </a:xfrm>
          <a:prstGeom prst="rect">
            <a:avLst/>
          </a:prstGeom>
          <a:noFill/>
          <a:ln/>
        </p:spPr>
        <p:txBody>
          <a:bodyPr wrap="square" lIns="0" tIns="0" rIns="0" bIns="0" rtlCol="0" anchor="t"/>
          <a:lstStyle/>
          <a:p>
            <a:pPr indent="0" marL="0">
              <a:buNone/>
            </a:pPr>
            <a:r>
              <a:rPr lang="en-US" sz="1400" dirty="0">
                <a:solidFill>
                  <a:schemeClr val="bg2"/>
                </a:solidFill>
              </a:rPr>
              <a:t>the escrow account, as an Explorer link</a:t>
            </a:r>
            <a:endParaRPr lang="en-US" sz="1400" dirty="0"/>
          </a:p>
        </p:txBody>
      </p:sp>
      <p:sp>
        <p:nvSpPr>
          <p:cNvPr id="15" name="Output 2"/>
          <p:cNvSpPr/>
          <p:nvPr/>
        </p:nvSpPr>
        <p:spPr>
          <a:xfrm>
            <a:off x="4334256" y="4937760"/>
            <a:ext cx="3520440" cy="1188720"/>
          </a:xfrm>
          <a:prstGeom prst="roundRect">
            <a:avLst>
              <a:gd name="adj" fmla="val 10769"/>
            </a:avLst>
          </a:prstGeom>
          <a:solidFill>
            <a:schemeClr val="tx2"/>
          </a:solidFill>
          <a:ln w="12700">
            <a:solidFill>
              <a:schemeClr val="accent2">
                <a:alpha val="45000"/>
              </a:schemeClr>
            </a:solidFill>
            <a:prstDash val="solid"/>
          </a:ln>
        </p:spPr>
      </p:sp>
      <p:sp>
        <p:nvSpPr>
          <p:cNvPr id="16" name="Icon chip"/>
          <p:cNvSpPr/>
          <p:nvPr/>
        </p:nvSpPr>
        <p:spPr>
          <a:xfrm>
            <a:off x="4517136" y="5138928"/>
            <a:ext cx="548640" cy="548640"/>
          </a:xfrm>
          <a:prstGeom prst="ellipse">
            <a:avLst/>
          </a:prstGeom>
          <a:solidFill>
            <a:schemeClr val="accent2">
              <a:alpha val="22000"/>
            </a:schemeClr>
          </a:solidFill>
          <a:ln w="12700">
            <a:solidFill>
              <a:schemeClr val="accent2">
                <a:alpha val="70000"/>
              </a:schemeClr>
            </a:solidFill>
            <a:prstDash val="solid"/>
          </a:ln>
        </p:spPr>
      </p:sp>
      <p:pic>
        <p:nvPicPr>
          <p:cNvPr id="17" name="Icon" descr="preencoded.png">    </p:cNvPr>
          <p:cNvPicPr>
            <a:picLocks noChangeAspect="1"/>
          </p:cNvPicPr>
          <p:nvPr/>
        </p:nvPicPr>
        <p:blipFill>
          <a:blip r:embed="rId2"/>
          <a:stretch>
            <a:fillRect/>
          </a:stretch>
        </p:blipFill>
        <p:spPr>
          <a:xfrm>
            <a:off x="4654296" y="5276088"/>
            <a:ext cx="274320" cy="274320"/>
          </a:xfrm>
          <a:prstGeom prst="rect">
            <a:avLst/>
          </a:prstGeom>
        </p:spPr>
      </p:pic>
      <p:sp>
        <p:nvSpPr>
          <p:cNvPr id="18" name="Output 2 title"/>
          <p:cNvSpPr txBox="1"/>
          <p:nvPr/>
        </p:nvSpPr>
        <p:spPr>
          <a:xfrm>
            <a:off x="5202936" y="5074920"/>
            <a:ext cx="2514600"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settle tx</a:t>
            </a:r>
            <a:endParaRPr lang="en-US" sz="1600" dirty="0"/>
          </a:p>
        </p:txBody>
      </p:sp>
      <p:sp>
        <p:nvSpPr>
          <p:cNvPr id="19" name="Output 2 body"/>
          <p:cNvSpPr txBox="1"/>
          <p:nvPr/>
        </p:nvSpPr>
        <p:spPr>
          <a:xfrm>
            <a:off x="5202936" y="5440680"/>
            <a:ext cx="2514600" cy="594360"/>
          </a:xfrm>
          <a:prstGeom prst="rect">
            <a:avLst/>
          </a:prstGeom>
          <a:noFill/>
          <a:ln/>
        </p:spPr>
        <p:txBody>
          <a:bodyPr wrap="square" lIns="0" tIns="0" rIns="0" bIns="0" rtlCol="0" anchor="t"/>
          <a:lstStyle/>
          <a:p>
            <a:pPr indent="0" marL="0">
              <a:buNone/>
            </a:pPr>
            <a:r>
              <a:rPr lang="en-US" sz="1400" dirty="0">
                <a:solidFill>
                  <a:schemeClr val="bg2"/>
                </a:solidFill>
              </a:rPr>
              <a:t>the facilitator’s transfer into the vault</a:t>
            </a:r>
            <a:endParaRPr lang="en-US" sz="1400" dirty="0"/>
          </a:p>
        </p:txBody>
      </p:sp>
      <p:sp>
        <p:nvSpPr>
          <p:cNvPr id="20" name="Output 3"/>
          <p:cNvSpPr/>
          <p:nvPr/>
        </p:nvSpPr>
        <p:spPr>
          <a:xfrm>
            <a:off x="8119872" y="4937760"/>
            <a:ext cx="3520440" cy="1188720"/>
          </a:xfrm>
          <a:prstGeom prst="roundRect">
            <a:avLst>
              <a:gd name="adj" fmla="val 10769"/>
            </a:avLst>
          </a:prstGeom>
          <a:solidFill>
            <a:schemeClr val="tx2"/>
          </a:solidFill>
          <a:ln w="12700">
            <a:solidFill>
              <a:schemeClr val="accent2">
                <a:alpha val="45000"/>
              </a:schemeClr>
            </a:solidFill>
            <a:prstDash val="solid"/>
          </a:ln>
        </p:spPr>
      </p:sp>
      <p:sp>
        <p:nvSpPr>
          <p:cNvPr id="21" name="Icon chip"/>
          <p:cNvSpPr/>
          <p:nvPr/>
        </p:nvSpPr>
        <p:spPr>
          <a:xfrm>
            <a:off x="8302752" y="5138928"/>
            <a:ext cx="548640" cy="548640"/>
          </a:xfrm>
          <a:prstGeom prst="ellipse">
            <a:avLst/>
          </a:prstGeom>
          <a:solidFill>
            <a:schemeClr val="accent3">
              <a:alpha val="22000"/>
            </a:schemeClr>
          </a:solidFill>
          <a:ln w="12700">
            <a:solidFill>
              <a:schemeClr val="accent3">
                <a:alpha val="70000"/>
              </a:schemeClr>
            </a:solidFill>
            <a:prstDash val="solid"/>
          </a:ln>
        </p:spPr>
      </p:sp>
      <p:pic>
        <p:nvPicPr>
          <p:cNvPr id="22" name="Icon" descr="preencoded.png">    </p:cNvPr>
          <p:cNvPicPr>
            <a:picLocks noChangeAspect="1"/>
          </p:cNvPicPr>
          <p:nvPr/>
        </p:nvPicPr>
        <p:blipFill>
          <a:blip r:embed="rId3"/>
          <a:stretch>
            <a:fillRect/>
          </a:stretch>
        </p:blipFill>
        <p:spPr>
          <a:xfrm>
            <a:off x="8439912" y="5276088"/>
            <a:ext cx="274320" cy="274320"/>
          </a:xfrm>
          <a:prstGeom prst="rect">
            <a:avLst/>
          </a:prstGeom>
        </p:spPr>
      </p:pic>
      <p:sp>
        <p:nvSpPr>
          <p:cNvPr id="23" name="Output 3 title"/>
          <p:cNvSpPr txBox="1"/>
          <p:nvPr/>
        </p:nvSpPr>
        <p:spPr>
          <a:xfrm>
            <a:off x="8988552" y="5074920"/>
            <a:ext cx="2514600" cy="347472"/>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final</a:t>
            </a:r>
            <a:endParaRPr lang="en-US" sz="1600" dirty="0"/>
          </a:p>
        </p:txBody>
      </p:sp>
      <p:sp>
        <p:nvSpPr>
          <p:cNvPr id="24" name="Output 3 body"/>
          <p:cNvSpPr txBox="1"/>
          <p:nvPr/>
        </p:nvSpPr>
        <p:spPr>
          <a:xfrm>
            <a:off x="8988552" y="5440680"/>
            <a:ext cx="2514600" cy="594360"/>
          </a:xfrm>
          <a:prstGeom prst="rect">
            <a:avLst/>
          </a:prstGeom>
          <a:noFill/>
          <a:ln/>
        </p:spPr>
        <p:txBody>
          <a:bodyPr wrap="square" lIns="0" tIns="0" rIns="0" bIns="0" rtlCol="0" anchor="t"/>
          <a:lstStyle/>
          <a:p>
            <a:pPr indent="0" marL="0">
              <a:buNone/>
            </a:pPr>
            <a:r>
              <a:rPr lang="en-US" sz="1400" dirty="0">
                <a:solidFill>
                  <a:schemeClr val="bg2"/>
                </a:solidFill>
              </a:rPr>
              <a:t>settles after the hold, then scout reviews atlas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4C · LET YOUR AGENT PICK THE SELLER</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DYOR, but automated 🔎</a:t>
            </a:r>
            <a:endParaRPr lang="en-US" sz="3600" dirty="0"/>
          </a:p>
        </p:txBody>
      </p:sp>
      <p:sp>
        <p:nvSpPr>
          <p:cNvPr id="4" name="Terminal"/>
          <p:cNvSpPr/>
          <p:nvPr/>
        </p:nvSpPr>
        <p:spPr>
          <a:xfrm>
            <a:off x="548640" y="1600200"/>
            <a:ext cx="11091672" cy="2743200"/>
          </a:xfrm>
          <a:prstGeom prst="roundRect">
            <a:avLst>
              <a:gd name="adj" fmla="val 4667"/>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75564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75564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75564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682496"/>
            <a:ext cx="9994392"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4 · the Tessera API (any buyer, any machine)</a:t>
            </a:r>
            <a:endParaRPr lang="en-US" sz="1000" dirty="0"/>
          </a:p>
        </p:txBody>
      </p:sp>
      <p:sp>
        <p:nvSpPr>
          <p:cNvPr id="9" name="Terminal text"/>
          <p:cNvSpPr txBox="1"/>
          <p:nvPr/>
        </p:nvSpPr>
        <p:spPr>
          <a:xfrm>
            <a:off x="822960" y="2039112"/>
            <a:ext cx="10588752" cy="219456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api                 # → http://127.0.0.1:4030</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one call: who is best for this, what it costs, how fast it settles</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tessera -- find text summary --sort fastest</a:t>
            </a:r>
            <a:endParaRPr lang="en-US" sz="1400" dirty="0"/>
          </a:p>
          <a:p>
            <a:pPr indent="0" marL="0">
              <a:lnSpc>
                <a:spcPct val="115000"/>
              </a:lnSpc>
              <a:buNone/>
            </a:pPr>
            <a:r>
              <a:rPr lang="en-US" sz="1400" dirty="0">
                <a:solidFill>
                  <a:schemeClr val="accent1"/>
                </a:solidFill>
                <a:latin typeface="+mj-lt" pitchFamily="34" charset="0"/>
                <a:ea typeface="+mj-lt" pitchFamily="34" charset="-122"/>
                <a:cs typeface="+mj-lt" pitchFamily="34" charset="-120"/>
              </a:rPr>
              <a:t> 1. BhQ7…6Rc  quill  Trusted 1000 ★4.83 (… reviews, 42 sales)</a:t>
            </a:r>
            <a:endParaRPr lang="en-US" sz="1400" dirty="0"/>
          </a:p>
          <a:p>
            <a:pPr indent="0" marL="0">
              <a:lnSpc>
                <a:spcPct val="115000"/>
              </a:lnSpc>
              <a:buNone/>
            </a:pPr>
            <a:r>
              <a:rPr lang="en-US" sz="1400" dirty="0">
                <a:solidFill>
                  <a:schemeClr val="accent1"/>
                </a:solidFill>
                <a:latin typeface="+mj-lt" pitchFamily="34" charset="0"/>
                <a:ea typeface="+mj-lt" pitchFamily="34" charset="-122"/>
                <a:cs typeface="+mj-lt" pitchFamily="34" charset="-120"/>
              </a:rPr>
              <a:t>    INSTANT ~… s to settled  summary 0.25 USDC</a:t>
            </a:r>
            <a:endParaRPr lang="en-US" sz="1400" dirty="0"/>
          </a:p>
          <a:p>
            <a:pPr indent="0" marL="0">
              <a:lnSpc>
                <a:spcPct val="115000"/>
              </a:lnSpc>
              <a:buNone/>
            </a:pPr>
            <a:r>
              <a:rPr lang="en-US" sz="1400" dirty="0">
                <a:solidFill>
                  <a:schemeClr val="bg2"/>
                </a:solidFill>
                <a:latin typeface="+mj-lt" pitchFamily="34" charset="0"/>
                <a:ea typeface="+mj-lt" pitchFamily="34" charset="-122"/>
                <a:cs typeface="+mj-lt" pitchFamily="34" charset="-120"/>
              </a:rPr>
              <a:t># same thing raw, for any agent: GET /v1/merchants?need=text%20summary</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curl -s "localhost:4030/v1/merchants?need=text%20summary&amp;sort=best&amp;limit=3"</a:t>
            </a:r>
            <a:endParaRPr lang="en-US" sz="1400" dirty="0"/>
          </a:p>
        </p:txBody>
      </p:sp>
      <p:sp>
        <p:nvSpPr>
          <p:cNvPr id="10" name="Find point 1"/>
          <p:cNvSpPr/>
          <p:nvPr/>
        </p:nvSpPr>
        <p:spPr>
          <a:xfrm>
            <a:off x="548640" y="4526280"/>
            <a:ext cx="3520440" cy="1600200"/>
          </a:xfrm>
          <a:prstGeom prst="roundRect">
            <a:avLst>
              <a:gd name="adj" fmla="val 8000"/>
            </a:avLst>
          </a:prstGeom>
          <a:solidFill>
            <a:schemeClr val="tx2"/>
          </a:solidFill>
          <a:ln w="12700">
            <a:solidFill>
              <a:schemeClr val="accent2">
                <a:alpha val="45000"/>
              </a:schemeClr>
            </a:solidFill>
            <a:prstDash val="solid"/>
          </a:ln>
        </p:spPr>
      </p:sp>
      <p:sp>
        <p:nvSpPr>
          <p:cNvPr id="11" name="Icon chip"/>
          <p:cNvSpPr/>
          <p:nvPr/>
        </p:nvSpPr>
        <p:spPr>
          <a:xfrm>
            <a:off x="731520" y="4727448"/>
            <a:ext cx="548640" cy="548640"/>
          </a:xfrm>
          <a:prstGeom prst="ellipse">
            <a:avLst/>
          </a:prstGeom>
          <a:solidFill>
            <a:schemeClr val="accent3">
              <a:alpha val="22000"/>
            </a:schemeClr>
          </a:solidFill>
          <a:ln w="12700">
            <a:solidFill>
              <a:schemeClr val="accent3">
                <a:alpha val="70000"/>
              </a:schemeClr>
            </a:solidFill>
            <a:prstDash val="solid"/>
          </a:ln>
        </p:spPr>
      </p:sp>
      <p:pic>
        <p:nvPicPr>
          <p:cNvPr id="12" name="Icon" descr="preencoded.png">    </p:cNvPr>
          <p:cNvPicPr>
            <a:picLocks noChangeAspect="1"/>
          </p:cNvPicPr>
          <p:nvPr/>
        </p:nvPicPr>
        <p:blipFill>
          <a:blip r:embed="rId1"/>
          <a:stretch>
            <a:fillRect/>
          </a:stretch>
        </p:blipFill>
        <p:spPr>
          <a:xfrm>
            <a:off x="868680" y="4864608"/>
            <a:ext cx="274320" cy="274320"/>
          </a:xfrm>
          <a:prstGeom prst="rect">
            <a:avLst/>
          </a:prstGeom>
        </p:spPr>
      </p:pic>
      <p:sp>
        <p:nvSpPr>
          <p:cNvPr id="13" name="Find point 1 title"/>
          <p:cNvSpPr txBox="1"/>
          <p:nvPr/>
        </p:nvSpPr>
        <p:spPr>
          <a:xfrm>
            <a:off x="1417320" y="4663440"/>
            <a:ext cx="25146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ranked by receipts</a:t>
            </a:r>
            <a:endParaRPr lang="en-US" sz="1600" dirty="0"/>
          </a:p>
        </p:txBody>
      </p:sp>
      <p:sp>
        <p:nvSpPr>
          <p:cNvPr id="14" name="Find point 1 body"/>
          <p:cNvSpPr txBox="1"/>
          <p:nvPr/>
        </p:nvSpPr>
        <p:spPr>
          <a:xfrm>
            <a:off x="1417320" y="5029200"/>
            <a:ext cx="2514600" cy="1005840"/>
          </a:xfrm>
          <a:prstGeom prst="rect">
            <a:avLst/>
          </a:prstGeom>
          <a:noFill/>
          <a:ln/>
        </p:spPr>
        <p:txBody>
          <a:bodyPr wrap="square" lIns="0" tIns="0" rIns="0" bIns="0" rtlCol="0" anchor="t"/>
          <a:lstStyle/>
          <a:p>
            <a:pPr indent="0" marL="0">
              <a:buNone/>
            </a:pPr>
            <a:r>
              <a:rPr lang="en-US" sz="1300" dirty="0">
                <a:solidFill>
                  <a:schemeClr val="bg2"/>
                </a:solidFill>
              </a:rPr>
              <a:t>every review behind the rank cost a real settled order. fake stars = real money.</a:t>
            </a:r>
            <a:endParaRPr lang="en-US" sz="1300" dirty="0"/>
          </a:p>
        </p:txBody>
      </p:sp>
      <p:sp>
        <p:nvSpPr>
          <p:cNvPr id="15" name="Find point 2"/>
          <p:cNvSpPr/>
          <p:nvPr/>
        </p:nvSpPr>
        <p:spPr>
          <a:xfrm>
            <a:off x="4334256" y="4526280"/>
            <a:ext cx="3520440" cy="1600200"/>
          </a:xfrm>
          <a:prstGeom prst="roundRect">
            <a:avLst>
              <a:gd name="adj" fmla="val 8000"/>
            </a:avLst>
          </a:prstGeom>
          <a:solidFill>
            <a:schemeClr val="tx2"/>
          </a:solidFill>
          <a:ln w="12700">
            <a:solidFill>
              <a:schemeClr val="accent2">
                <a:alpha val="45000"/>
              </a:schemeClr>
            </a:solidFill>
            <a:prstDash val="solid"/>
          </a:ln>
        </p:spPr>
      </p:sp>
      <p:sp>
        <p:nvSpPr>
          <p:cNvPr id="16" name="Icon chip"/>
          <p:cNvSpPr/>
          <p:nvPr/>
        </p:nvSpPr>
        <p:spPr>
          <a:xfrm>
            <a:off x="4517136" y="4727448"/>
            <a:ext cx="548640" cy="548640"/>
          </a:xfrm>
          <a:prstGeom prst="ellipse">
            <a:avLst/>
          </a:prstGeom>
          <a:solidFill>
            <a:schemeClr val="accent2">
              <a:alpha val="22000"/>
            </a:schemeClr>
          </a:solidFill>
          <a:ln w="12700">
            <a:solidFill>
              <a:schemeClr val="accent2">
                <a:alpha val="70000"/>
              </a:schemeClr>
            </a:solidFill>
            <a:prstDash val="solid"/>
          </a:ln>
        </p:spPr>
      </p:sp>
      <p:pic>
        <p:nvPicPr>
          <p:cNvPr id="17" name="Icon" descr="preencoded.png">    </p:cNvPr>
          <p:cNvPicPr>
            <a:picLocks noChangeAspect="1"/>
          </p:cNvPicPr>
          <p:nvPr/>
        </p:nvPicPr>
        <p:blipFill>
          <a:blip r:embed="rId2"/>
          <a:stretch>
            <a:fillRect/>
          </a:stretch>
        </p:blipFill>
        <p:spPr>
          <a:xfrm>
            <a:off x="4654296" y="4864608"/>
            <a:ext cx="274320" cy="274320"/>
          </a:xfrm>
          <a:prstGeom prst="rect">
            <a:avLst/>
          </a:prstGeom>
        </p:spPr>
      </p:pic>
      <p:sp>
        <p:nvSpPr>
          <p:cNvPr id="18" name="Find point 2 title"/>
          <p:cNvSpPr txBox="1"/>
          <p:nvPr/>
        </p:nvSpPr>
        <p:spPr>
          <a:xfrm>
            <a:off x="5202936" y="4663440"/>
            <a:ext cx="25146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one call, no reading</a:t>
            </a:r>
            <a:endParaRPr lang="en-US" sz="1600" dirty="0"/>
          </a:p>
        </p:txBody>
      </p:sp>
      <p:sp>
        <p:nvSpPr>
          <p:cNvPr id="19" name="Find point 2 body"/>
          <p:cNvSpPr txBox="1"/>
          <p:nvPr/>
        </p:nvSpPr>
        <p:spPr>
          <a:xfrm>
            <a:off x="5202936" y="5029200"/>
            <a:ext cx="2514600" cy="1005840"/>
          </a:xfrm>
          <a:prstGeom prst="rect">
            <a:avLst/>
          </a:prstGeom>
          <a:noFill/>
          <a:ln/>
        </p:spPr>
        <p:txBody>
          <a:bodyPr wrap="square" lIns="0" tIns="0" rIns="0" bIns="0" rtlCol="0" anchor="t"/>
          <a:lstStyle/>
          <a:p>
            <a:pPr indent="0" marL="0">
              <a:buNone/>
            </a:pPr>
            <a:r>
              <a:rPr lang="en-US" sz="1300" dirty="0">
                <a:solidFill>
                  <a:schemeClr val="bg2"/>
                </a:solidFill>
              </a:rPr>
              <a:t>price, instant or escrow, and seconds to settled, per row. JSON for bots, not pages for humans.</a:t>
            </a:r>
            <a:endParaRPr lang="en-US" sz="1300" dirty="0"/>
          </a:p>
        </p:txBody>
      </p:sp>
      <p:sp>
        <p:nvSpPr>
          <p:cNvPr id="20" name="Find point 3"/>
          <p:cNvSpPr/>
          <p:nvPr/>
        </p:nvSpPr>
        <p:spPr>
          <a:xfrm>
            <a:off x="8119872" y="4526280"/>
            <a:ext cx="3520440" cy="1600200"/>
          </a:xfrm>
          <a:prstGeom prst="roundRect">
            <a:avLst>
              <a:gd name="adj" fmla="val 8000"/>
            </a:avLst>
          </a:prstGeom>
          <a:solidFill>
            <a:schemeClr val="tx2"/>
          </a:solidFill>
          <a:ln w="12700">
            <a:solidFill>
              <a:schemeClr val="accent2">
                <a:alpha val="45000"/>
              </a:schemeClr>
            </a:solidFill>
            <a:prstDash val="solid"/>
          </a:ln>
        </p:spPr>
      </p:sp>
      <p:sp>
        <p:nvSpPr>
          <p:cNvPr id="21" name="Icon chip"/>
          <p:cNvSpPr/>
          <p:nvPr/>
        </p:nvSpPr>
        <p:spPr>
          <a:xfrm>
            <a:off x="8302752" y="4727448"/>
            <a:ext cx="548640" cy="548640"/>
          </a:xfrm>
          <a:prstGeom prst="ellipse">
            <a:avLst/>
          </a:prstGeom>
          <a:solidFill>
            <a:schemeClr val="accent5">
              <a:alpha val="22000"/>
            </a:schemeClr>
          </a:solidFill>
          <a:ln w="12700">
            <a:solidFill>
              <a:schemeClr val="accent5">
                <a:alpha val="70000"/>
              </a:schemeClr>
            </a:solidFill>
            <a:prstDash val="solid"/>
          </a:ln>
        </p:spPr>
      </p:sp>
      <p:pic>
        <p:nvPicPr>
          <p:cNvPr id="22" name="Icon" descr="preencoded.png">    </p:cNvPr>
          <p:cNvPicPr>
            <a:picLocks noChangeAspect="1"/>
          </p:cNvPicPr>
          <p:nvPr/>
        </p:nvPicPr>
        <p:blipFill>
          <a:blip r:embed="rId3"/>
          <a:stretch>
            <a:fillRect/>
          </a:stretch>
        </p:blipFill>
        <p:spPr>
          <a:xfrm>
            <a:off x="8439912" y="4864608"/>
            <a:ext cx="274320" cy="274320"/>
          </a:xfrm>
          <a:prstGeom prst="rect">
            <a:avLst/>
          </a:prstGeom>
        </p:spPr>
      </p:pic>
      <p:sp>
        <p:nvSpPr>
          <p:cNvPr id="23" name="Find point 3 title"/>
          <p:cNvSpPr txBox="1"/>
          <p:nvPr/>
        </p:nvSpPr>
        <p:spPr>
          <a:xfrm>
            <a:off x="8988552" y="4663440"/>
            <a:ext cx="25146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no ghosting</a:t>
            </a:r>
            <a:endParaRPr lang="en-US" sz="1600" dirty="0"/>
          </a:p>
        </p:txBody>
      </p:sp>
      <p:sp>
        <p:nvSpPr>
          <p:cNvPr id="24" name="Find point 3 body"/>
          <p:cNvSpPr txBox="1"/>
          <p:nvPr/>
        </p:nvSpPr>
        <p:spPr>
          <a:xfrm>
            <a:off x="8988552" y="5029200"/>
            <a:ext cx="2514600" cy="1005840"/>
          </a:xfrm>
          <a:prstGeom prst="rect">
            <a:avLst/>
          </a:prstGeom>
          <a:noFill/>
          <a:ln/>
        </p:spPr>
        <p:txBody>
          <a:bodyPr wrap="square" lIns="0" tIns="0" rIns="0" bIns="0" rtlCol="0" anchor="t"/>
          <a:lstStyle/>
          <a:p>
            <a:pPr indent="0" marL="0">
              <a:buNone/>
            </a:pPr>
            <a:r>
              <a:rPr lang="en-US" sz="1300" dirty="0">
                <a:solidFill>
                  <a:schemeClr val="bg2"/>
                </a:solidFill>
              </a:rPr>
              <a:t>nothing fits? status no_match, never an empty 200. a bad record ranks lower, never hidden.</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UNDER THE HOOD</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where your money goes ⏳</a:t>
            </a:r>
            <a:endParaRPr lang="en-US" sz="3600" dirty="0"/>
          </a:p>
        </p:txBody>
      </p:sp>
      <p:sp>
        <p:nvSpPr>
          <p:cNvPr id="4" name="State 1"/>
          <p:cNvSpPr/>
          <p:nvPr/>
        </p:nvSpPr>
        <p:spPr>
          <a:xfrm>
            <a:off x="548640" y="1645920"/>
            <a:ext cx="2560320" cy="640080"/>
          </a:xfrm>
          <a:prstGeom prst="roundRect">
            <a:avLst>
              <a:gd name="adj" fmla="val 50000"/>
            </a:avLst>
          </a:prstGeom>
          <a:solidFill>
            <a:schemeClr val="accent5">
              <a:alpha val="25000"/>
            </a:schemeClr>
          </a:solidFill>
          <a:ln w="19050">
            <a:solidFill>
              <a:schemeClr val="accent5"/>
            </a:solidFill>
            <a:prstDash val="solid"/>
          </a:ln>
        </p:spPr>
      </p:sp>
      <p:sp>
        <p:nvSpPr>
          <p:cNvPr id="5" name="State 1 label"/>
          <p:cNvSpPr txBox="1"/>
          <p:nvPr/>
        </p:nvSpPr>
        <p:spPr>
          <a:xfrm>
            <a:off x="548640" y="1645920"/>
            <a:ext cx="256032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AwaitingPayment</a:t>
            </a:r>
            <a:endParaRPr lang="en-US" sz="1600" dirty="0"/>
          </a:p>
        </p:txBody>
      </p:sp>
      <p:sp>
        <p:nvSpPr>
          <p:cNvPr id="6" name="State 1 body"/>
          <p:cNvSpPr txBox="1"/>
          <p:nvPr/>
        </p:nvSpPr>
        <p:spPr>
          <a:xfrm>
            <a:off x="594360" y="2423160"/>
            <a:ext cx="2514600" cy="914400"/>
          </a:xfrm>
          <a:prstGeom prst="rect">
            <a:avLst/>
          </a:prstGeom>
          <a:noFill/>
          <a:ln/>
        </p:spPr>
        <p:txBody>
          <a:bodyPr wrap="square" lIns="0" tIns="0" rIns="0" bIns="0" rtlCol="0" anchor="t"/>
          <a:lstStyle/>
          <a:p>
            <a:pPr indent="0" marL="0">
              <a:buNone/>
            </a:pPr>
            <a:r>
              <a:rPr lang="en-US" sz="1500" dirty="0">
                <a:solidFill>
                  <a:schemeClr val="bg2"/>
                </a:solidFill>
              </a:rPr>
              <a:t>The seller opens the order: that’s the 402 quote.</a:t>
            </a:r>
            <a:endParaRPr lang="en-US" sz="1500" dirty="0"/>
          </a:p>
        </p:txBody>
      </p:sp>
      <p:sp>
        <p:nvSpPr>
          <p:cNvPr id="7" name="State arrow 1"/>
          <p:cNvSpPr/>
          <p:nvPr/>
        </p:nvSpPr>
        <p:spPr>
          <a:xfrm>
            <a:off x="3136392" y="1965960"/>
            <a:ext cx="228600" cy="0"/>
          </a:xfrm>
          <a:prstGeom prst="line">
            <a:avLst/>
          </a:prstGeom>
          <a:noFill/>
          <a:ln w="25400">
            <a:solidFill>
              <a:schemeClr val="accent1"/>
            </a:solidFill>
            <a:prstDash val="solid"/>
            <a:tailEnd type="triangle"/>
          </a:ln>
        </p:spPr>
      </p:sp>
      <p:sp>
        <p:nvSpPr>
          <p:cNvPr id="8" name="State 2"/>
          <p:cNvSpPr/>
          <p:nvPr/>
        </p:nvSpPr>
        <p:spPr>
          <a:xfrm>
            <a:off x="3392424" y="1645920"/>
            <a:ext cx="2560320" cy="640080"/>
          </a:xfrm>
          <a:prstGeom prst="roundRect">
            <a:avLst>
              <a:gd name="adj" fmla="val 50000"/>
            </a:avLst>
          </a:prstGeom>
          <a:solidFill>
            <a:schemeClr val="accent3">
              <a:alpha val="25000"/>
            </a:schemeClr>
          </a:solidFill>
          <a:ln w="19050">
            <a:solidFill>
              <a:schemeClr val="accent3"/>
            </a:solidFill>
            <a:prstDash val="solid"/>
          </a:ln>
        </p:spPr>
      </p:sp>
      <p:sp>
        <p:nvSpPr>
          <p:cNvPr id="9" name="State 2 label"/>
          <p:cNvSpPr txBox="1"/>
          <p:nvPr/>
        </p:nvSpPr>
        <p:spPr>
          <a:xfrm>
            <a:off x="3392424" y="1645920"/>
            <a:ext cx="256032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Funded</a:t>
            </a:r>
            <a:endParaRPr lang="en-US" sz="1600" dirty="0"/>
          </a:p>
        </p:txBody>
      </p:sp>
      <p:sp>
        <p:nvSpPr>
          <p:cNvPr id="10" name="State 2 body"/>
          <p:cNvSpPr txBox="1"/>
          <p:nvPr/>
        </p:nvSpPr>
        <p:spPr>
          <a:xfrm>
            <a:off x="3438144" y="2423160"/>
            <a:ext cx="2514600" cy="914400"/>
          </a:xfrm>
          <a:prstGeom prst="rect">
            <a:avLst/>
          </a:prstGeom>
          <a:noFill/>
          <a:ln/>
        </p:spPr>
        <p:txBody>
          <a:bodyPr wrap="square" lIns="0" tIns="0" rIns="0" bIns="0" rtlCol="0" anchor="t"/>
          <a:lstStyle/>
          <a:p>
            <a:pPr indent="0" marL="0">
              <a:buNone/>
            </a:pPr>
            <a:r>
              <a:rPr lang="en-US" sz="1500" dirty="0">
                <a:solidFill>
                  <a:schemeClr val="bg2"/>
                </a:solidFill>
              </a:rPr>
              <a:t>USDC lands in the vault. confirm_funded reads the balance itself.</a:t>
            </a:r>
            <a:endParaRPr lang="en-US" sz="1500" dirty="0"/>
          </a:p>
        </p:txBody>
      </p:sp>
      <p:sp>
        <p:nvSpPr>
          <p:cNvPr id="11" name="State arrow 2"/>
          <p:cNvSpPr/>
          <p:nvPr/>
        </p:nvSpPr>
        <p:spPr>
          <a:xfrm>
            <a:off x="5980176" y="1965960"/>
            <a:ext cx="228600" cy="0"/>
          </a:xfrm>
          <a:prstGeom prst="line">
            <a:avLst/>
          </a:prstGeom>
          <a:noFill/>
          <a:ln w="25400">
            <a:solidFill>
              <a:schemeClr val="accent1"/>
            </a:solidFill>
            <a:prstDash val="solid"/>
            <a:tailEnd type="triangle"/>
          </a:ln>
        </p:spPr>
      </p:sp>
      <p:sp>
        <p:nvSpPr>
          <p:cNvPr id="12" name="State 3"/>
          <p:cNvSpPr/>
          <p:nvPr/>
        </p:nvSpPr>
        <p:spPr>
          <a:xfrm>
            <a:off x="6236208" y="1645920"/>
            <a:ext cx="2560320" cy="640080"/>
          </a:xfrm>
          <a:prstGeom prst="roundRect">
            <a:avLst>
              <a:gd name="adj" fmla="val 50000"/>
            </a:avLst>
          </a:prstGeom>
          <a:solidFill>
            <a:schemeClr val="accent4">
              <a:alpha val="25000"/>
            </a:schemeClr>
          </a:solidFill>
          <a:ln w="19050">
            <a:solidFill>
              <a:schemeClr val="accent4"/>
            </a:solidFill>
            <a:prstDash val="solid"/>
          </a:ln>
        </p:spPr>
      </p:sp>
      <p:sp>
        <p:nvSpPr>
          <p:cNvPr id="13" name="State 3 label"/>
          <p:cNvSpPr txBox="1"/>
          <p:nvPr/>
        </p:nvSpPr>
        <p:spPr>
          <a:xfrm>
            <a:off x="6236208" y="1645920"/>
            <a:ext cx="256032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Delivered</a:t>
            </a:r>
            <a:endParaRPr lang="en-US" sz="1600" dirty="0"/>
          </a:p>
        </p:txBody>
      </p:sp>
      <p:sp>
        <p:nvSpPr>
          <p:cNvPr id="14" name="State 3 body"/>
          <p:cNvSpPr txBox="1"/>
          <p:nvPr/>
        </p:nvSpPr>
        <p:spPr>
          <a:xfrm>
            <a:off x="6281928" y="2423160"/>
            <a:ext cx="2514600" cy="914400"/>
          </a:xfrm>
          <a:prstGeom prst="rect">
            <a:avLst/>
          </a:prstGeom>
          <a:noFill/>
          <a:ln/>
        </p:spPr>
        <p:txBody>
          <a:bodyPr wrap="square" lIns="0" tIns="0" rIns="0" bIns="0" rtlCol="0" anchor="t"/>
          <a:lstStyle/>
          <a:p>
            <a:pPr indent="0" marL="0">
              <a:buNone/>
            </a:pPr>
            <a:r>
              <a:rPr lang="en-US" sz="1500" dirty="0">
                <a:solidFill>
                  <a:schemeClr val="bg2"/>
                </a:solidFill>
              </a:rPr>
              <a:t>The seller commits the sha256 of what it sent. The hold starts.</a:t>
            </a:r>
            <a:endParaRPr lang="en-US" sz="1500" dirty="0"/>
          </a:p>
        </p:txBody>
      </p:sp>
      <p:sp>
        <p:nvSpPr>
          <p:cNvPr id="15" name="State arrow 3"/>
          <p:cNvSpPr/>
          <p:nvPr/>
        </p:nvSpPr>
        <p:spPr>
          <a:xfrm>
            <a:off x="8823960" y="1965960"/>
            <a:ext cx="228600" cy="0"/>
          </a:xfrm>
          <a:prstGeom prst="line">
            <a:avLst/>
          </a:prstGeom>
          <a:noFill/>
          <a:ln w="25400">
            <a:solidFill>
              <a:schemeClr val="accent1"/>
            </a:solidFill>
            <a:prstDash val="solid"/>
            <a:tailEnd type="triangle"/>
          </a:ln>
        </p:spPr>
      </p:sp>
      <p:sp>
        <p:nvSpPr>
          <p:cNvPr id="16" name="State 4"/>
          <p:cNvSpPr/>
          <p:nvPr/>
        </p:nvSpPr>
        <p:spPr>
          <a:xfrm>
            <a:off x="9079992" y="1645920"/>
            <a:ext cx="2560320" cy="640080"/>
          </a:xfrm>
          <a:prstGeom prst="roundRect">
            <a:avLst>
              <a:gd name="adj" fmla="val 50000"/>
            </a:avLst>
          </a:prstGeom>
          <a:solidFill>
            <a:schemeClr val="accent1">
              <a:alpha val="25000"/>
            </a:schemeClr>
          </a:solidFill>
          <a:ln w="19050">
            <a:solidFill>
              <a:schemeClr val="accent1"/>
            </a:solidFill>
            <a:prstDash val="solid"/>
          </a:ln>
        </p:spPr>
      </p:sp>
      <p:sp>
        <p:nvSpPr>
          <p:cNvPr id="17" name="State 4 label"/>
          <p:cNvSpPr txBox="1"/>
          <p:nvPr/>
        </p:nvSpPr>
        <p:spPr>
          <a:xfrm>
            <a:off x="9079992" y="1645920"/>
            <a:ext cx="2560320" cy="6400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Released</a:t>
            </a:r>
            <a:endParaRPr lang="en-US" sz="1600" dirty="0"/>
          </a:p>
        </p:txBody>
      </p:sp>
      <p:sp>
        <p:nvSpPr>
          <p:cNvPr id="18" name="State 4 body"/>
          <p:cNvSpPr txBox="1"/>
          <p:nvPr/>
        </p:nvSpPr>
        <p:spPr>
          <a:xfrm>
            <a:off x="9125712" y="2423160"/>
            <a:ext cx="2514600" cy="914400"/>
          </a:xfrm>
          <a:prstGeom prst="rect">
            <a:avLst/>
          </a:prstGeom>
          <a:noFill/>
          <a:ln/>
        </p:spPr>
        <p:txBody>
          <a:bodyPr wrap="square" lIns="0" tIns="0" rIns="0" bIns="0" rtlCol="0" anchor="t"/>
          <a:lstStyle/>
          <a:p>
            <a:pPr indent="0" marL="0">
              <a:buNone/>
            </a:pPr>
            <a:r>
              <a:rPr lang="en-US" sz="1500" dirty="0">
                <a:solidFill>
                  <a:schemeClr val="bg2"/>
                </a:solidFill>
              </a:rPr>
              <a:t>After the hold, or when you release early: seller paid, 1% fee.</a:t>
            </a:r>
            <a:endParaRPr lang="en-US" sz="1500" dirty="0"/>
          </a:p>
        </p:txBody>
      </p:sp>
      <p:sp>
        <p:nvSpPr>
          <p:cNvPr id="19" name="Branch 1"/>
          <p:cNvSpPr/>
          <p:nvPr/>
        </p:nvSpPr>
        <p:spPr>
          <a:xfrm>
            <a:off x="3392424" y="3429000"/>
            <a:ext cx="2560320" cy="457200"/>
          </a:xfrm>
          <a:prstGeom prst="roundRect">
            <a:avLst>
              <a:gd name="adj" fmla="val 50000"/>
            </a:avLst>
          </a:prstGeom>
          <a:solidFill>
            <a:schemeClr val="accent6">
              <a:alpha val="18000"/>
            </a:schemeClr>
          </a:solidFill>
          <a:ln w="12700">
            <a:solidFill>
              <a:schemeClr val="accent6"/>
            </a:solidFill>
            <a:prstDash val="solid"/>
          </a:ln>
        </p:spPr>
      </p:sp>
      <p:sp>
        <p:nvSpPr>
          <p:cNvPr id="20" name="Branch 1 label"/>
          <p:cNvSpPr txBox="1"/>
          <p:nvPr/>
        </p:nvSpPr>
        <p:spPr>
          <a:xfrm>
            <a:off x="3392424" y="342900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 refund if the seller ghosts</a:t>
            </a:r>
            <a:endParaRPr lang="en-US" sz="1400" dirty="0"/>
          </a:p>
        </p:txBody>
      </p:sp>
      <p:sp>
        <p:nvSpPr>
          <p:cNvPr id="21" name="Branch 2"/>
          <p:cNvSpPr/>
          <p:nvPr/>
        </p:nvSpPr>
        <p:spPr>
          <a:xfrm>
            <a:off x="6236208" y="3429000"/>
            <a:ext cx="2560320" cy="457200"/>
          </a:xfrm>
          <a:prstGeom prst="roundRect">
            <a:avLst>
              <a:gd name="adj" fmla="val 50000"/>
            </a:avLst>
          </a:prstGeom>
          <a:solidFill>
            <a:schemeClr val="accent6">
              <a:alpha val="18000"/>
            </a:schemeClr>
          </a:solidFill>
          <a:ln w="12700">
            <a:solidFill>
              <a:schemeClr val="accent6"/>
            </a:solidFill>
            <a:prstDash val="solid"/>
          </a:ln>
        </p:spPr>
      </p:sp>
      <p:sp>
        <p:nvSpPr>
          <p:cNvPr id="22" name="Branch 2 label"/>
          <p:cNvSpPr txBox="1"/>
          <p:nvPr/>
        </p:nvSpPr>
        <p:spPr>
          <a:xfrm>
            <a:off x="6236208" y="3429000"/>
            <a:ext cx="2560320" cy="457200"/>
          </a:xfrm>
          <a:prstGeom prst="rect">
            <a:avLst/>
          </a:prstGeom>
          <a:noFill/>
          <a:ln/>
        </p:spPr>
        <p:txBody>
          <a:bodyPr wrap="square" lIns="0" tIns="0" rIns="0" bIns="0" rtlCol="0" anchor="ctr"/>
          <a:lstStyle/>
          <a:p>
            <a:pPr algn="ctr" indent="0" marL="0">
              <a:buNone/>
            </a:pPr>
            <a:r>
              <a:rPr lang="en-US" sz="1400" dirty="0">
                <a:solidFill>
                  <a:schemeClr val="bg1"/>
                </a:solidFill>
              </a:rPr>
              <a:t>↳ dispute → the arbiter rules</a:t>
            </a:r>
            <a:endParaRPr lang="en-US" sz="1400" dirty="0"/>
          </a:p>
        </p:txBody>
      </p:sp>
      <p:sp>
        <p:nvSpPr>
          <p:cNvPr id="23" name="Hold label"/>
          <p:cNvSpPr txBox="1"/>
          <p:nvPr/>
        </p:nvSpPr>
        <p:spPr>
          <a:xfrm>
            <a:off x="548640" y="4206240"/>
            <a:ext cx="11064240" cy="365760"/>
          </a:xfrm>
          <a:prstGeom prst="rect">
            <a:avLst/>
          </a:prstGeom>
          <a:noFill/>
          <a:ln/>
        </p:spPr>
        <p:txBody>
          <a:bodyPr wrap="square" lIns="0" tIns="0" rIns="0" bIns="0" rtlCol="0" anchor="t"/>
          <a:lstStyle/>
          <a:p>
            <a:pPr indent="0" marL="0">
              <a:buNone/>
            </a:pPr>
            <a:r>
              <a:rPr lang="en-US" sz="1400" b="1" dirty="0">
                <a:solidFill>
                  <a:schemeClr val="bg2"/>
                </a:solidFill>
                <a:latin typeface="+mj-lt" pitchFamily="34" charset="0"/>
                <a:ea typeface="+mj-lt" pitchFamily="34" charset="-122"/>
                <a:cs typeface="+mj-lt" pitchFamily="34" charset="-120"/>
              </a:rPr>
              <a:t>HOLD = the longer of the two parties’ tiers (devnet clock)</a:t>
            </a:r>
            <a:endParaRPr lang="en-US" sz="1400" dirty="0"/>
          </a:p>
        </p:txBody>
      </p:sp>
      <p:sp>
        <p:nvSpPr>
          <p:cNvPr id="24" name="Tier 1"/>
          <p:cNvSpPr/>
          <p:nvPr/>
        </p:nvSpPr>
        <p:spPr>
          <a:xfrm>
            <a:off x="548640" y="4645152"/>
            <a:ext cx="2560320" cy="914400"/>
          </a:xfrm>
          <a:prstGeom prst="roundRect">
            <a:avLst>
              <a:gd name="adj" fmla="val 14000"/>
            </a:avLst>
          </a:prstGeom>
          <a:solidFill>
            <a:schemeClr val="bg2">
              <a:alpha val="16000"/>
            </a:schemeClr>
          </a:solidFill>
          <a:ln w="12700">
            <a:solidFill>
              <a:schemeClr val="bg2">
                <a:alpha val="45000"/>
              </a:schemeClr>
            </a:solidFill>
            <a:prstDash val="solid"/>
          </a:ln>
        </p:spPr>
      </p:sp>
      <p:sp>
        <p:nvSpPr>
          <p:cNvPr id="25" name="Tier 1 name"/>
          <p:cNvSpPr txBox="1"/>
          <p:nvPr/>
        </p:nvSpPr>
        <p:spPr>
          <a:xfrm>
            <a:off x="731520" y="4709160"/>
            <a:ext cx="2286000" cy="365760"/>
          </a:xfrm>
          <a:prstGeom prst="rect">
            <a:avLst/>
          </a:prstGeom>
          <a:noFill/>
          <a:ln/>
        </p:spPr>
        <p:txBody>
          <a:bodyPr wrap="square" lIns="0" tIns="0" rIns="0" bIns="0" rtlCol="0" anchor="t"/>
          <a:lstStyle/>
          <a:p>
            <a:pPr indent="0" marL="0">
              <a:buNone/>
            </a:pPr>
            <a:r>
              <a:rPr lang="en-US" sz="1500" dirty="0">
                <a:solidFill>
                  <a:schemeClr val="bg1"/>
                </a:solidFill>
              </a:rPr>
              <a:t>New</a:t>
            </a:r>
            <a:endParaRPr lang="en-US" sz="1500" dirty="0"/>
          </a:p>
        </p:txBody>
      </p:sp>
      <p:sp>
        <p:nvSpPr>
          <p:cNvPr id="26" name="Tier 1 hold"/>
          <p:cNvSpPr txBox="1"/>
          <p:nvPr/>
        </p:nvSpPr>
        <p:spPr>
          <a:xfrm>
            <a:off x="731520" y="5029200"/>
            <a:ext cx="2286000" cy="457200"/>
          </a:xfrm>
          <a:prstGeom prst="rect">
            <a:avLst/>
          </a:prstGeom>
          <a:noFill/>
          <a:ln/>
        </p:spPr>
        <p:txBody>
          <a:bodyPr wrap="square" lIns="0" tIns="0" rIns="0" bIns="0" rtlCol="0" anchor="t"/>
          <a:lstStyle/>
          <a:p>
            <a:pPr indent="0" marL="0">
              <a:buNone/>
            </a:pPr>
            <a:r>
              <a:rPr lang="en-US" sz="2400" b="1" dirty="0">
                <a:solidFill>
                  <a:schemeClr val="bg2"/>
                </a:solidFill>
                <a:latin typeface="+mj-lt" pitchFamily="34" charset="0"/>
                <a:ea typeface="+mj-lt" pitchFamily="34" charset="-122"/>
                <a:cs typeface="+mj-lt" pitchFamily="34" charset="-120"/>
              </a:rPr>
              <a:t>2 min</a:t>
            </a:r>
            <a:endParaRPr lang="en-US" sz="2400" dirty="0"/>
          </a:p>
        </p:txBody>
      </p:sp>
      <p:sp>
        <p:nvSpPr>
          <p:cNvPr id="27" name="Tier 2"/>
          <p:cNvSpPr/>
          <p:nvPr/>
        </p:nvSpPr>
        <p:spPr>
          <a:xfrm>
            <a:off x="3392424" y="4645152"/>
            <a:ext cx="2560320" cy="914400"/>
          </a:xfrm>
          <a:prstGeom prst="roundRect">
            <a:avLst>
              <a:gd name="adj" fmla="val 14000"/>
            </a:avLst>
          </a:prstGeom>
          <a:solidFill>
            <a:schemeClr val="accent5">
              <a:alpha val="16000"/>
            </a:schemeClr>
          </a:solidFill>
          <a:ln w="12700">
            <a:solidFill>
              <a:schemeClr val="accent5">
                <a:alpha val="45000"/>
              </a:schemeClr>
            </a:solidFill>
            <a:prstDash val="solid"/>
          </a:ln>
        </p:spPr>
      </p:sp>
      <p:sp>
        <p:nvSpPr>
          <p:cNvPr id="28" name="Tier 2 name"/>
          <p:cNvSpPr txBox="1"/>
          <p:nvPr/>
        </p:nvSpPr>
        <p:spPr>
          <a:xfrm>
            <a:off x="3575304" y="4709160"/>
            <a:ext cx="2286000" cy="365760"/>
          </a:xfrm>
          <a:prstGeom prst="rect">
            <a:avLst/>
          </a:prstGeom>
          <a:noFill/>
          <a:ln/>
        </p:spPr>
        <p:txBody>
          <a:bodyPr wrap="square" lIns="0" tIns="0" rIns="0" bIns="0" rtlCol="0" anchor="t"/>
          <a:lstStyle/>
          <a:p>
            <a:pPr indent="0" marL="0">
              <a:buNone/>
            </a:pPr>
            <a:r>
              <a:rPr lang="en-US" sz="1500" dirty="0">
                <a:solidFill>
                  <a:schemeClr val="bg1"/>
                </a:solidFill>
              </a:rPr>
              <a:t>Building</a:t>
            </a:r>
            <a:endParaRPr lang="en-US" sz="1500" dirty="0"/>
          </a:p>
        </p:txBody>
      </p:sp>
      <p:sp>
        <p:nvSpPr>
          <p:cNvPr id="29" name="Tier 2 hold"/>
          <p:cNvSpPr txBox="1"/>
          <p:nvPr/>
        </p:nvSpPr>
        <p:spPr>
          <a:xfrm>
            <a:off x="3575304" y="5029200"/>
            <a:ext cx="2286000" cy="457200"/>
          </a:xfrm>
          <a:prstGeom prst="rect">
            <a:avLst/>
          </a:prstGeom>
          <a:noFill/>
          <a:ln/>
        </p:spPr>
        <p:txBody>
          <a:bodyPr wrap="square" lIns="0" tIns="0" rIns="0" bIns="0" rtlCol="0" anchor="t"/>
          <a:lstStyle/>
          <a:p>
            <a:pPr indent="0" marL="0">
              <a:buNone/>
            </a:pPr>
            <a:r>
              <a:rPr lang="en-US" sz="2400" b="1" dirty="0">
                <a:solidFill>
                  <a:schemeClr val="accent5"/>
                </a:solidFill>
                <a:latin typeface="+mj-lt" pitchFamily="34" charset="0"/>
                <a:ea typeface="+mj-lt" pitchFamily="34" charset="-122"/>
                <a:cs typeface="+mj-lt" pitchFamily="34" charset="-120"/>
              </a:rPr>
              <a:t>45 s</a:t>
            </a:r>
            <a:endParaRPr lang="en-US" sz="2400" dirty="0"/>
          </a:p>
        </p:txBody>
      </p:sp>
      <p:sp>
        <p:nvSpPr>
          <p:cNvPr id="30" name="Tier 3"/>
          <p:cNvSpPr/>
          <p:nvPr/>
        </p:nvSpPr>
        <p:spPr>
          <a:xfrm>
            <a:off x="6236208" y="4645152"/>
            <a:ext cx="2560320" cy="914400"/>
          </a:xfrm>
          <a:prstGeom prst="roundRect">
            <a:avLst>
              <a:gd name="adj" fmla="val 14000"/>
            </a:avLst>
          </a:prstGeom>
          <a:solidFill>
            <a:schemeClr val="accent2">
              <a:alpha val="16000"/>
            </a:schemeClr>
          </a:solidFill>
          <a:ln w="12700">
            <a:solidFill>
              <a:schemeClr val="accent2">
                <a:alpha val="45000"/>
              </a:schemeClr>
            </a:solidFill>
            <a:prstDash val="solid"/>
          </a:ln>
        </p:spPr>
      </p:sp>
      <p:sp>
        <p:nvSpPr>
          <p:cNvPr id="31" name="Tier 3 name"/>
          <p:cNvSpPr txBox="1"/>
          <p:nvPr/>
        </p:nvSpPr>
        <p:spPr>
          <a:xfrm>
            <a:off x="6419088" y="4709160"/>
            <a:ext cx="2286000" cy="365760"/>
          </a:xfrm>
          <a:prstGeom prst="rect">
            <a:avLst/>
          </a:prstGeom>
          <a:noFill/>
          <a:ln/>
        </p:spPr>
        <p:txBody>
          <a:bodyPr wrap="square" lIns="0" tIns="0" rIns="0" bIns="0" rtlCol="0" anchor="t"/>
          <a:lstStyle/>
          <a:p>
            <a:pPr indent="0" marL="0">
              <a:buNone/>
            </a:pPr>
            <a:r>
              <a:rPr lang="en-US" sz="1500" dirty="0">
                <a:solidFill>
                  <a:schemeClr val="bg1"/>
                </a:solidFill>
              </a:rPr>
              <a:t>Established</a:t>
            </a:r>
            <a:endParaRPr lang="en-US" sz="1500" dirty="0"/>
          </a:p>
        </p:txBody>
      </p:sp>
      <p:sp>
        <p:nvSpPr>
          <p:cNvPr id="32" name="Tier 3 hold"/>
          <p:cNvSpPr txBox="1"/>
          <p:nvPr/>
        </p:nvSpPr>
        <p:spPr>
          <a:xfrm>
            <a:off x="6419088" y="5029200"/>
            <a:ext cx="2286000" cy="457200"/>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10 s</a:t>
            </a:r>
            <a:endParaRPr lang="en-US" sz="2400" dirty="0"/>
          </a:p>
        </p:txBody>
      </p:sp>
      <p:sp>
        <p:nvSpPr>
          <p:cNvPr id="33" name="Tier 4"/>
          <p:cNvSpPr/>
          <p:nvPr/>
        </p:nvSpPr>
        <p:spPr>
          <a:xfrm>
            <a:off x="9079992" y="4645152"/>
            <a:ext cx="2560320" cy="914400"/>
          </a:xfrm>
          <a:prstGeom prst="roundRect">
            <a:avLst>
              <a:gd name="adj" fmla="val 14000"/>
            </a:avLst>
          </a:prstGeom>
          <a:solidFill>
            <a:schemeClr val="accent1">
              <a:alpha val="16000"/>
            </a:schemeClr>
          </a:solidFill>
          <a:ln w="12700">
            <a:solidFill>
              <a:schemeClr val="accent1">
                <a:alpha val="45000"/>
              </a:schemeClr>
            </a:solidFill>
            <a:prstDash val="solid"/>
          </a:ln>
        </p:spPr>
      </p:sp>
      <p:sp>
        <p:nvSpPr>
          <p:cNvPr id="34" name="Tier 4 name"/>
          <p:cNvSpPr txBox="1"/>
          <p:nvPr/>
        </p:nvSpPr>
        <p:spPr>
          <a:xfrm>
            <a:off x="9262872" y="4709160"/>
            <a:ext cx="2286000" cy="365760"/>
          </a:xfrm>
          <a:prstGeom prst="rect">
            <a:avLst/>
          </a:prstGeom>
          <a:noFill/>
          <a:ln/>
        </p:spPr>
        <p:txBody>
          <a:bodyPr wrap="square" lIns="0" tIns="0" rIns="0" bIns="0" rtlCol="0" anchor="t"/>
          <a:lstStyle/>
          <a:p>
            <a:pPr indent="0" marL="0">
              <a:buNone/>
            </a:pPr>
            <a:r>
              <a:rPr lang="en-US" sz="1500" dirty="0">
                <a:solidFill>
                  <a:schemeClr val="bg1"/>
                </a:solidFill>
              </a:rPr>
              <a:t>Trusted</a:t>
            </a:r>
            <a:endParaRPr lang="en-US" sz="1500" dirty="0"/>
          </a:p>
        </p:txBody>
      </p:sp>
      <p:sp>
        <p:nvSpPr>
          <p:cNvPr id="35" name="Tier 4 hold"/>
          <p:cNvSpPr txBox="1"/>
          <p:nvPr/>
        </p:nvSpPr>
        <p:spPr>
          <a:xfrm>
            <a:off x="9262872" y="5029200"/>
            <a:ext cx="228600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instant</a:t>
            </a:r>
            <a:endParaRPr lang="en-US" sz="2400" dirty="0"/>
          </a:p>
        </p:txBody>
      </p:sp>
      <p:sp>
        <p:nvSpPr>
          <p:cNvPr id="36" name="Quip"/>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strangers wait. OGs settle in the same tx. not gatekeeping, just credit.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5 · EVERYONE</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watch it live 📡</a:t>
            </a:r>
            <a:endParaRPr lang="en-US" sz="3600" dirty="0"/>
          </a:p>
        </p:txBody>
      </p:sp>
      <p:sp>
        <p:nvSpPr>
          <p:cNvPr id="4" name="Screenshot frame"/>
          <p:cNvSpPr/>
          <p:nvPr/>
        </p:nvSpPr>
        <p:spPr>
          <a:xfrm>
            <a:off x="548640" y="1600200"/>
            <a:ext cx="6858000" cy="3108960"/>
          </a:xfrm>
          <a:prstGeom prst="roundRect">
            <a:avLst>
              <a:gd name="adj" fmla="val 4118"/>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pic>
        <p:nvPicPr>
          <p:cNvPr id="5" name="Network screenshot" descr="The Tessera live network page: a graph of agents and orders on devnet and a feed of recent orders">    </p:cNvPr>
          <p:cNvPicPr>
            <a:picLocks noChangeAspect="1"/>
          </p:cNvPicPr>
          <p:nvPr/>
        </p:nvPicPr>
        <p:blipFill>
          <a:blip r:embed="rId1"/>
          <a:stretch>
            <a:fillRect/>
          </a:stretch>
        </p:blipFill>
        <p:spPr>
          <a:xfrm>
            <a:off x="640080" y="1691640"/>
            <a:ext cx="6675120" cy="2898648"/>
          </a:xfrm>
          <a:prstGeom prst="rect">
            <a:avLst/>
          </a:prstGeom>
        </p:spPr>
      </p:pic>
      <p:sp>
        <p:nvSpPr>
          <p:cNvPr id="6" name="Screenshot caption"/>
          <p:cNvSpPr txBox="1"/>
          <p:nvPr/>
        </p:nvSpPr>
        <p:spPr>
          <a:xfrm>
            <a:off x="548640" y="4773168"/>
            <a:ext cx="6858000" cy="457200"/>
          </a:xfrm>
          <a:prstGeom prst="rect">
            <a:avLst/>
          </a:prstGeom>
          <a:noFill/>
          <a:ln/>
        </p:spPr>
        <p:txBody>
          <a:bodyPr wrap="square" lIns="0" tIns="0" rIns="0" bIns="0" rtlCol="0" anchor="t"/>
          <a:lstStyle/>
          <a:p>
            <a:pPr indent="0" marL="0">
              <a:buNone/>
            </a:pPr>
            <a:r>
              <a:rPr lang="en-US" sz="1200" dirty="0">
                <a:solidFill>
                  <a:schemeClr val="bg2"/>
                </a:solidFill>
              </a:rPr>
              <a:t>your devnet, drawn by the site: squares = shops, circles = buyers, the island on the left = washer’s ring</a:t>
            </a:r>
            <a:endParaRPr lang="en-US" sz="1200" dirty="0"/>
          </a:p>
        </p:txBody>
      </p:sp>
      <p:sp>
        <p:nvSpPr>
          <p:cNvPr id="7" name="Terminal"/>
          <p:cNvSpPr/>
          <p:nvPr/>
        </p:nvSpPr>
        <p:spPr>
          <a:xfrm>
            <a:off x="548640" y="5257800"/>
            <a:ext cx="6858000" cy="914400"/>
          </a:xfrm>
          <a:prstGeom prst="roundRect">
            <a:avLst>
              <a:gd name="adj" fmla="val 14000"/>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8" name="Terminal dot 1"/>
          <p:cNvSpPr/>
          <p:nvPr/>
        </p:nvSpPr>
        <p:spPr>
          <a:xfrm>
            <a:off x="749808" y="5413248"/>
            <a:ext cx="118872" cy="118872"/>
          </a:xfrm>
          <a:prstGeom prst="ellipse">
            <a:avLst/>
          </a:prstGeom>
          <a:solidFill>
            <a:schemeClr val="accent6"/>
          </a:solidFill>
          <a:ln w="12700">
            <a:solidFill>
              <a:schemeClr val="accent6"/>
            </a:solidFill>
            <a:prstDash val="solid"/>
          </a:ln>
        </p:spPr>
      </p:sp>
      <p:sp>
        <p:nvSpPr>
          <p:cNvPr id="9" name="Terminal dot 2"/>
          <p:cNvSpPr/>
          <p:nvPr/>
        </p:nvSpPr>
        <p:spPr>
          <a:xfrm>
            <a:off x="950976" y="5413248"/>
            <a:ext cx="118872" cy="118872"/>
          </a:xfrm>
          <a:prstGeom prst="ellipse">
            <a:avLst/>
          </a:prstGeom>
          <a:solidFill>
            <a:schemeClr val="accent3"/>
          </a:solidFill>
          <a:ln w="12700">
            <a:solidFill>
              <a:schemeClr val="accent3"/>
            </a:solidFill>
            <a:prstDash val="solid"/>
          </a:ln>
        </p:spPr>
      </p:sp>
      <p:sp>
        <p:nvSpPr>
          <p:cNvPr id="10" name="Terminal dot 3"/>
          <p:cNvSpPr/>
          <p:nvPr/>
        </p:nvSpPr>
        <p:spPr>
          <a:xfrm>
            <a:off x="1152144" y="5413248"/>
            <a:ext cx="118872" cy="118872"/>
          </a:xfrm>
          <a:prstGeom prst="ellipse">
            <a:avLst/>
          </a:prstGeom>
          <a:solidFill>
            <a:schemeClr val="accent1"/>
          </a:solidFill>
          <a:ln w="12700">
            <a:solidFill>
              <a:schemeClr val="accent1"/>
            </a:solidFill>
            <a:prstDash val="solid"/>
          </a:ln>
        </p:spPr>
      </p:sp>
      <p:sp>
        <p:nvSpPr>
          <p:cNvPr id="11" name="Terminal label"/>
          <p:cNvSpPr txBox="1"/>
          <p:nvPr/>
        </p:nvSpPr>
        <p:spPr>
          <a:xfrm>
            <a:off x="1417320" y="5340096"/>
            <a:ext cx="576072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the program on Explorer</a:t>
            </a:r>
            <a:endParaRPr lang="en-US" sz="1000" dirty="0"/>
          </a:p>
        </p:txBody>
      </p:sp>
      <p:sp>
        <p:nvSpPr>
          <p:cNvPr id="12" name="Terminal text"/>
          <p:cNvSpPr txBox="1"/>
          <p:nvPr/>
        </p:nvSpPr>
        <p:spPr>
          <a:xfrm>
            <a:off x="822960" y="5696712"/>
            <a:ext cx="6355080" cy="365760"/>
          </a:xfrm>
          <a:prstGeom prst="rect">
            <a:avLst/>
          </a:prstGeom>
          <a:noFill/>
          <a:ln/>
        </p:spPr>
        <p:txBody>
          <a:bodyPr wrap="square" lIns="0" tIns="0" rIns="0" bIns="0" rtlCol="0" anchor="t"/>
          <a:lstStyle/>
          <a:p>
            <a:pPr indent="0" marL="0">
              <a:lnSpc>
                <a:spcPct val="100000"/>
              </a:lnSpc>
              <a:buNone/>
            </a:pPr>
            <a:r>
              <a:rPr lang="en-US" sz="1200" dirty="0">
                <a:solidFill>
                  <a:schemeClr val="accent1"/>
                </a:solidFill>
                <a:latin typeface="+mj-lt" pitchFamily="34" charset="0"/>
                <a:ea typeface="+mj-lt" pitchFamily="34" charset="-122"/>
                <a:cs typeface="+mj-lt" pitchFamily="34" charset="-120"/>
              </a:rPr>
              <a:t>explorer.solana.com/address/TessSeP5QV5Bxpvm73iEefdsTjgtTEokKSx7jqFn1CQ?cluster=devnet</a:t>
            </a:r>
            <a:endParaRPr lang="en-US" sz="1200" dirty="0"/>
          </a:p>
        </p:txBody>
      </p:sp>
      <p:sp>
        <p:nvSpPr>
          <p:cNvPr id="13" name="Where 1"/>
          <p:cNvSpPr/>
          <p:nvPr/>
        </p:nvSpPr>
        <p:spPr>
          <a:xfrm>
            <a:off x="7680960" y="1600200"/>
            <a:ext cx="3959352" cy="1005840"/>
          </a:xfrm>
          <a:prstGeom prst="roundRect">
            <a:avLst>
              <a:gd name="adj" fmla="val 12727"/>
            </a:avLst>
          </a:prstGeom>
          <a:solidFill>
            <a:schemeClr val="tx2"/>
          </a:solidFill>
          <a:ln w="12700">
            <a:solidFill>
              <a:schemeClr val="accent2">
                <a:alpha val="45000"/>
              </a:schemeClr>
            </a:solidFill>
            <a:prstDash val="solid"/>
          </a:ln>
        </p:spPr>
      </p:sp>
      <p:sp>
        <p:nvSpPr>
          <p:cNvPr id="14" name="Icon chip"/>
          <p:cNvSpPr/>
          <p:nvPr/>
        </p:nvSpPr>
        <p:spPr>
          <a:xfrm>
            <a:off x="7836408" y="1819656"/>
            <a:ext cx="548640" cy="548640"/>
          </a:xfrm>
          <a:prstGeom prst="ellipse">
            <a:avLst/>
          </a:prstGeom>
          <a:solidFill>
            <a:schemeClr val="accent1">
              <a:alpha val="22000"/>
            </a:schemeClr>
          </a:solidFill>
          <a:ln w="12700">
            <a:solidFill>
              <a:schemeClr val="accent1">
                <a:alpha val="70000"/>
              </a:schemeClr>
            </a:solidFill>
            <a:prstDash val="solid"/>
          </a:ln>
        </p:spPr>
      </p:sp>
      <p:pic>
        <p:nvPicPr>
          <p:cNvPr id="15" name="Icon" descr="preencoded.png">    </p:cNvPr>
          <p:cNvPicPr>
            <a:picLocks noChangeAspect="1"/>
          </p:cNvPicPr>
          <p:nvPr/>
        </p:nvPicPr>
        <p:blipFill>
          <a:blip r:embed="rId2"/>
          <a:stretch>
            <a:fillRect/>
          </a:stretch>
        </p:blipFill>
        <p:spPr>
          <a:xfrm>
            <a:off x="7973568" y="1956816"/>
            <a:ext cx="274320" cy="274320"/>
          </a:xfrm>
          <a:prstGeom prst="rect">
            <a:avLst/>
          </a:prstGeom>
        </p:spPr>
      </p:pic>
      <p:sp>
        <p:nvSpPr>
          <p:cNvPr id="16" name="Where 1 title"/>
          <p:cNvSpPr txBox="1"/>
          <p:nvPr/>
        </p:nvSpPr>
        <p:spPr>
          <a:xfrm>
            <a:off x="8522208" y="1709928"/>
            <a:ext cx="3017520" cy="329184"/>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localhost:5173/#/network</a:t>
            </a:r>
            <a:endParaRPr lang="en-US" sz="1400" dirty="0"/>
          </a:p>
        </p:txBody>
      </p:sp>
      <p:sp>
        <p:nvSpPr>
          <p:cNvPr id="17" name="Where 1 body"/>
          <p:cNvSpPr txBox="1"/>
          <p:nvPr/>
        </p:nvSpPr>
        <p:spPr>
          <a:xfrm>
            <a:off x="8522208" y="2039112"/>
            <a:ext cx="3017520" cy="530352"/>
          </a:xfrm>
          <a:prstGeom prst="rect">
            <a:avLst/>
          </a:prstGeom>
          <a:noFill/>
          <a:ln/>
        </p:spPr>
        <p:txBody>
          <a:bodyPr wrap="square" lIns="0" tIns="0" rIns="0" bIns="0" rtlCol="0" anchor="t"/>
          <a:lstStyle/>
          <a:p>
            <a:pPr indent="0" marL="0">
              <a:buNone/>
            </a:pPr>
            <a:r>
              <a:rPr lang="en-US" sz="1400" dirty="0">
                <a:solidFill>
                  <a:schemeClr val="bg2"/>
                </a:solidFill>
              </a:rPr>
              <a:t>live graph + “on-chain, just now” feed. Click a row → Explorer.</a:t>
            </a:r>
            <a:endParaRPr lang="en-US" sz="1400" dirty="0"/>
          </a:p>
        </p:txBody>
      </p:sp>
      <p:sp>
        <p:nvSpPr>
          <p:cNvPr id="18" name="Where 2"/>
          <p:cNvSpPr/>
          <p:nvPr/>
        </p:nvSpPr>
        <p:spPr>
          <a:xfrm>
            <a:off x="7680960" y="2743200"/>
            <a:ext cx="3959352" cy="1005840"/>
          </a:xfrm>
          <a:prstGeom prst="roundRect">
            <a:avLst>
              <a:gd name="adj" fmla="val 12727"/>
            </a:avLst>
          </a:prstGeom>
          <a:solidFill>
            <a:schemeClr val="tx2"/>
          </a:solidFill>
          <a:ln w="12700">
            <a:solidFill>
              <a:schemeClr val="accent2">
                <a:alpha val="45000"/>
              </a:schemeClr>
            </a:solidFill>
            <a:prstDash val="solid"/>
          </a:ln>
        </p:spPr>
      </p:sp>
      <p:sp>
        <p:nvSpPr>
          <p:cNvPr id="19" name="Icon chip"/>
          <p:cNvSpPr/>
          <p:nvPr/>
        </p:nvSpPr>
        <p:spPr>
          <a:xfrm>
            <a:off x="7836408" y="2962656"/>
            <a:ext cx="548640" cy="548640"/>
          </a:xfrm>
          <a:prstGeom prst="ellipse">
            <a:avLst/>
          </a:prstGeom>
          <a:solidFill>
            <a:schemeClr val="accent5">
              <a:alpha val="22000"/>
            </a:schemeClr>
          </a:solidFill>
          <a:ln w="12700">
            <a:solidFill>
              <a:schemeClr val="accent5">
                <a:alpha val="70000"/>
              </a:schemeClr>
            </a:solidFill>
            <a:prstDash val="solid"/>
          </a:ln>
        </p:spPr>
      </p:sp>
      <p:pic>
        <p:nvPicPr>
          <p:cNvPr id="20" name="Icon" descr="preencoded.png">    </p:cNvPr>
          <p:cNvPicPr>
            <a:picLocks noChangeAspect="1"/>
          </p:cNvPicPr>
          <p:nvPr/>
        </p:nvPicPr>
        <p:blipFill>
          <a:blip r:embed="rId3"/>
          <a:stretch>
            <a:fillRect/>
          </a:stretch>
        </p:blipFill>
        <p:spPr>
          <a:xfrm>
            <a:off x="7973568" y="3099816"/>
            <a:ext cx="274320" cy="274320"/>
          </a:xfrm>
          <a:prstGeom prst="rect">
            <a:avLst/>
          </a:prstGeom>
        </p:spPr>
      </p:pic>
      <p:sp>
        <p:nvSpPr>
          <p:cNvPr id="21" name="Where 2 title"/>
          <p:cNvSpPr txBox="1"/>
          <p:nvPr/>
        </p:nvSpPr>
        <p:spPr>
          <a:xfrm>
            <a:off x="8522208" y="2852928"/>
            <a:ext cx="3017520" cy="329184"/>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#/agents → pick one</a:t>
            </a:r>
            <a:endParaRPr lang="en-US" sz="1400" dirty="0"/>
          </a:p>
        </p:txBody>
      </p:sp>
      <p:sp>
        <p:nvSpPr>
          <p:cNvPr id="22" name="Where 2 body"/>
          <p:cNvSpPr txBox="1"/>
          <p:nvPr/>
        </p:nvSpPr>
        <p:spPr>
          <a:xfrm>
            <a:off x="8522208" y="3182112"/>
            <a:ext cx="3017520" cy="530352"/>
          </a:xfrm>
          <a:prstGeom prst="rect">
            <a:avLst/>
          </a:prstGeom>
          <a:noFill/>
          <a:ln/>
        </p:spPr>
        <p:txBody>
          <a:bodyPr wrap="square" lIns="0" tIns="0" rIns="0" bIns="0" rtlCol="0" anchor="t"/>
          <a:lstStyle/>
          <a:p>
            <a:pPr indent="0" marL="0">
              <a:buNone/>
            </a:pPr>
            <a:r>
              <a:rPr lang="en-US" sz="1400" dirty="0">
                <a:solidFill>
                  <a:schemeClr val="bg2"/>
                </a:solidFill>
              </a:rPr>
              <a:t>credit file: score cached on-chain vs recomputed in your browser</a:t>
            </a:r>
            <a:endParaRPr lang="en-US" sz="1400" dirty="0"/>
          </a:p>
        </p:txBody>
      </p:sp>
      <p:sp>
        <p:nvSpPr>
          <p:cNvPr id="23" name="Where 3"/>
          <p:cNvSpPr/>
          <p:nvPr/>
        </p:nvSpPr>
        <p:spPr>
          <a:xfrm>
            <a:off x="7680960" y="3886200"/>
            <a:ext cx="3959352" cy="1005840"/>
          </a:xfrm>
          <a:prstGeom prst="roundRect">
            <a:avLst>
              <a:gd name="adj" fmla="val 12727"/>
            </a:avLst>
          </a:prstGeom>
          <a:solidFill>
            <a:schemeClr val="tx2"/>
          </a:solidFill>
          <a:ln w="12700">
            <a:solidFill>
              <a:schemeClr val="accent2">
                <a:alpha val="45000"/>
              </a:schemeClr>
            </a:solidFill>
            <a:prstDash val="solid"/>
          </a:ln>
        </p:spPr>
      </p:sp>
      <p:sp>
        <p:nvSpPr>
          <p:cNvPr id="24" name="Icon chip"/>
          <p:cNvSpPr/>
          <p:nvPr/>
        </p:nvSpPr>
        <p:spPr>
          <a:xfrm>
            <a:off x="7836408" y="4105656"/>
            <a:ext cx="548640" cy="548640"/>
          </a:xfrm>
          <a:prstGeom prst="ellipse">
            <a:avLst/>
          </a:prstGeom>
          <a:solidFill>
            <a:schemeClr val="accent2">
              <a:alpha val="22000"/>
            </a:schemeClr>
          </a:solidFill>
          <a:ln w="12700">
            <a:solidFill>
              <a:schemeClr val="accent2">
                <a:alpha val="70000"/>
              </a:schemeClr>
            </a:solidFill>
            <a:prstDash val="solid"/>
          </a:ln>
        </p:spPr>
      </p:sp>
      <p:pic>
        <p:nvPicPr>
          <p:cNvPr id="25" name="Icon" descr="preencoded.png">    </p:cNvPr>
          <p:cNvPicPr>
            <a:picLocks noChangeAspect="1"/>
          </p:cNvPicPr>
          <p:nvPr/>
        </p:nvPicPr>
        <p:blipFill>
          <a:blip r:embed="rId4"/>
          <a:stretch>
            <a:fillRect/>
          </a:stretch>
        </p:blipFill>
        <p:spPr>
          <a:xfrm>
            <a:off x="7973568" y="4242816"/>
            <a:ext cx="274320" cy="274320"/>
          </a:xfrm>
          <a:prstGeom prst="rect">
            <a:avLst/>
          </a:prstGeom>
        </p:spPr>
      </p:pic>
      <p:sp>
        <p:nvSpPr>
          <p:cNvPr id="26" name="Where 3 title"/>
          <p:cNvSpPr txBox="1"/>
          <p:nvPr/>
        </p:nvSpPr>
        <p:spPr>
          <a:xfrm>
            <a:off x="8522208" y="3995928"/>
            <a:ext cx="3017520" cy="329184"/>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Solana Explorer (devnet)</a:t>
            </a:r>
            <a:endParaRPr lang="en-US" sz="1400" dirty="0"/>
          </a:p>
        </p:txBody>
      </p:sp>
      <p:sp>
        <p:nvSpPr>
          <p:cNvPr id="27" name="Where 3 body"/>
          <p:cNvSpPr txBox="1"/>
          <p:nvPr/>
        </p:nvSpPr>
        <p:spPr>
          <a:xfrm>
            <a:off x="8522208" y="4325112"/>
            <a:ext cx="3017520" cy="530352"/>
          </a:xfrm>
          <a:prstGeom prst="rect">
            <a:avLst/>
          </a:prstGeom>
          <a:noFill/>
          <a:ln/>
        </p:spPr>
        <p:txBody>
          <a:bodyPr wrap="square" lIns="0" tIns="0" rIns="0" bIns="0" rtlCol="0" anchor="t"/>
          <a:lstStyle/>
          <a:p>
            <a:pPr indent="0" marL="0">
              <a:buNone/>
            </a:pPr>
            <a:r>
              <a:rPr lang="en-US" sz="1400" dirty="0">
                <a:solidFill>
                  <a:schemeClr val="bg2"/>
                </a:solidFill>
              </a:rPr>
              <a:t>search any wallet or order. Solscan works too with ?cluster=devnet</a:t>
            </a:r>
            <a:endParaRPr lang="en-US" sz="1400" dirty="0"/>
          </a:p>
        </p:txBody>
      </p:sp>
      <p:sp>
        <p:nvSpPr>
          <p:cNvPr id="28" name="Where 4"/>
          <p:cNvSpPr/>
          <p:nvPr/>
        </p:nvSpPr>
        <p:spPr>
          <a:xfrm>
            <a:off x="7680960" y="5029200"/>
            <a:ext cx="3959352" cy="1005840"/>
          </a:xfrm>
          <a:prstGeom prst="roundRect">
            <a:avLst>
              <a:gd name="adj" fmla="val 12727"/>
            </a:avLst>
          </a:prstGeom>
          <a:solidFill>
            <a:schemeClr val="tx2"/>
          </a:solidFill>
          <a:ln w="12700">
            <a:solidFill>
              <a:schemeClr val="accent2">
                <a:alpha val="45000"/>
              </a:schemeClr>
            </a:solidFill>
            <a:prstDash val="solid"/>
          </a:ln>
        </p:spPr>
      </p:sp>
      <p:sp>
        <p:nvSpPr>
          <p:cNvPr id="29" name="Icon chip"/>
          <p:cNvSpPr/>
          <p:nvPr/>
        </p:nvSpPr>
        <p:spPr>
          <a:xfrm>
            <a:off x="7836408" y="5248656"/>
            <a:ext cx="548640" cy="548640"/>
          </a:xfrm>
          <a:prstGeom prst="ellipse">
            <a:avLst/>
          </a:prstGeom>
          <a:solidFill>
            <a:schemeClr val="accent3">
              <a:alpha val="22000"/>
            </a:schemeClr>
          </a:solidFill>
          <a:ln w="12700">
            <a:solidFill>
              <a:schemeClr val="accent3">
                <a:alpha val="70000"/>
              </a:schemeClr>
            </a:solidFill>
            <a:prstDash val="solid"/>
          </a:ln>
        </p:spPr>
      </p:sp>
      <p:pic>
        <p:nvPicPr>
          <p:cNvPr id="30" name="Icon" descr="preencoded.png">    </p:cNvPr>
          <p:cNvPicPr>
            <a:picLocks noChangeAspect="1"/>
          </p:cNvPicPr>
          <p:nvPr/>
        </p:nvPicPr>
        <p:blipFill>
          <a:blip r:embed="rId5"/>
          <a:stretch>
            <a:fillRect/>
          </a:stretch>
        </p:blipFill>
        <p:spPr>
          <a:xfrm>
            <a:off x="7973568" y="5385816"/>
            <a:ext cx="274320" cy="274320"/>
          </a:xfrm>
          <a:prstGeom prst="rect">
            <a:avLst/>
          </a:prstGeom>
        </p:spPr>
      </p:pic>
      <p:sp>
        <p:nvSpPr>
          <p:cNvPr id="31" name="Where 4 title"/>
          <p:cNvSpPr txBox="1"/>
          <p:nvPr/>
        </p:nvSpPr>
        <p:spPr>
          <a:xfrm>
            <a:off x="8522208" y="5138928"/>
            <a:ext cx="3017520" cy="329184"/>
          </a:xfrm>
          <a:prstGeom prst="rect">
            <a:avLst/>
          </a:prstGeom>
          <a:noFill/>
          <a:ln/>
        </p:spPr>
        <p:txBody>
          <a:bodyPr wrap="square" lIns="0" tIns="0" rIns="0" bIns="0" rtlCol="0" anchor="t"/>
          <a:lstStyle/>
          <a:p>
            <a:pPr indent="0" marL="0">
              <a:buNone/>
            </a:pPr>
            <a:r>
              <a:rPr lang="en-US" sz="1400" b="1" dirty="0">
                <a:solidFill>
                  <a:schemeClr val="bg1"/>
                </a:solidFill>
                <a:latin typeface="+mj-lt" pitchFamily="34" charset="0"/>
                <a:ea typeface="+mj-lt" pitchFamily="34" charset="-122"/>
                <a:cs typeface="+mj-lt" pitchFamily="34" charset="-120"/>
              </a:rPr>
              <a:t>your terminal</a:t>
            </a:r>
            <a:endParaRPr lang="en-US" sz="1400" dirty="0"/>
          </a:p>
        </p:txBody>
      </p:sp>
      <p:sp>
        <p:nvSpPr>
          <p:cNvPr id="32" name="Where 4 body"/>
          <p:cNvSpPr txBox="1"/>
          <p:nvPr/>
        </p:nvSpPr>
        <p:spPr>
          <a:xfrm>
            <a:off x="8522208" y="5468112"/>
            <a:ext cx="3017520" cy="530352"/>
          </a:xfrm>
          <a:prstGeom prst="rect">
            <a:avLst/>
          </a:prstGeom>
          <a:noFill/>
          <a:ln/>
        </p:spPr>
        <p:txBody>
          <a:bodyPr wrap="square" lIns="0" tIns="0" rIns="0" bIns="0" rtlCol="0" anchor="t"/>
          <a:lstStyle/>
          <a:p>
            <a:pPr indent="0" marL="0">
              <a:buNone/>
            </a:pPr>
            <a:r>
              <a:rPr lang="en-US" sz="1400" dirty="0">
                <a:solidFill>
                  <a:schemeClr val="bg2"/>
                </a:solidFill>
              </a:rPr>
              <a:t>npm run buy prints the order and settle-tx links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SAME ORDER, TWO SCREENS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seller POV vs buyer POV 👀</a:t>
            </a:r>
            <a:endParaRPr lang="en-US" sz="3600" dirty="0"/>
          </a:p>
        </p:txBody>
      </p:sp>
      <p:sp>
        <p:nvSpPr>
          <p:cNvPr id="4" name="POV 1 heading"/>
          <p:cNvSpPr txBox="1"/>
          <p:nvPr/>
        </p:nvSpPr>
        <p:spPr>
          <a:xfrm>
            <a:off x="548640" y="1572768"/>
            <a:ext cx="5394960" cy="384048"/>
          </a:xfrm>
          <a:prstGeom prst="rect">
            <a:avLst/>
          </a:prstGeom>
          <a:noFill/>
          <a:ln/>
        </p:spPr>
        <p:txBody>
          <a:bodyPr wrap="square" lIns="0" tIns="0" rIns="0" bIns="0" rtlCol="0" anchor="t"/>
          <a:lstStyle/>
          <a:p>
            <a:pPr indent="0" marL="0">
              <a:buNone/>
            </a:pPr>
            <a:r>
              <a:rPr lang="en-US" sz="1900" b="1" dirty="0">
                <a:solidFill>
                  <a:schemeClr val="accent4"/>
                </a:solidFill>
                <a:latin typeface="+mj-lt" pitchFamily="34" charset="0"/>
                <a:ea typeface="+mj-lt" pitchFamily="34" charset="-122"/>
                <a:cs typeface="+mj-lt" pitchFamily="34" charset="-120"/>
              </a:rPr>
              <a:t>SELLER SEES</a:t>
            </a:r>
            <a:endParaRPr lang="en-US" sz="1900" dirty="0"/>
          </a:p>
        </p:txBody>
      </p:sp>
      <p:sp>
        <p:nvSpPr>
          <p:cNvPr id="5" name="POV 1 terminal"/>
          <p:cNvSpPr/>
          <p:nvPr/>
        </p:nvSpPr>
        <p:spPr>
          <a:xfrm>
            <a:off x="548640" y="2057400"/>
            <a:ext cx="5394960" cy="1188720"/>
          </a:xfrm>
          <a:prstGeom prst="roundRect">
            <a:avLst>
              <a:gd name="adj" fmla="val 10769"/>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6" name="POV 1 terminal dot 1"/>
          <p:cNvSpPr/>
          <p:nvPr/>
        </p:nvSpPr>
        <p:spPr>
          <a:xfrm>
            <a:off x="749808" y="2212848"/>
            <a:ext cx="118872" cy="118872"/>
          </a:xfrm>
          <a:prstGeom prst="ellipse">
            <a:avLst/>
          </a:prstGeom>
          <a:solidFill>
            <a:schemeClr val="accent6"/>
          </a:solidFill>
          <a:ln w="12700">
            <a:solidFill>
              <a:schemeClr val="accent6"/>
            </a:solidFill>
            <a:prstDash val="solid"/>
          </a:ln>
        </p:spPr>
      </p:sp>
      <p:sp>
        <p:nvSpPr>
          <p:cNvPr id="7" name="POV 1 terminal dot 2"/>
          <p:cNvSpPr/>
          <p:nvPr/>
        </p:nvSpPr>
        <p:spPr>
          <a:xfrm>
            <a:off x="950976" y="2212848"/>
            <a:ext cx="118872" cy="118872"/>
          </a:xfrm>
          <a:prstGeom prst="ellipse">
            <a:avLst/>
          </a:prstGeom>
          <a:solidFill>
            <a:schemeClr val="accent3"/>
          </a:solidFill>
          <a:ln w="12700">
            <a:solidFill>
              <a:schemeClr val="accent3"/>
            </a:solidFill>
            <a:prstDash val="solid"/>
          </a:ln>
        </p:spPr>
      </p:sp>
      <p:sp>
        <p:nvSpPr>
          <p:cNvPr id="8" name="POV 1 terminal dot 3"/>
          <p:cNvSpPr/>
          <p:nvPr/>
        </p:nvSpPr>
        <p:spPr>
          <a:xfrm>
            <a:off x="1152144" y="2212848"/>
            <a:ext cx="118872" cy="118872"/>
          </a:xfrm>
          <a:prstGeom prst="ellipse">
            <a:avLst/>
          </a:prstGeom>
          <a:solidFill>
            <a:schemeClr val="accent1"/>
          </a:solidFill>
          <a:ln w="12700">
            <a:solidFill>
              <a:schemeClr val="accent1"/>
            </a:solidFill>
            <a:prstDash val="solid"/>
          </a:ln>
        </p:spPr>
      </p:sp>
      <p:sp>
        <p:nvSpPr>
          <p:cNvPr id="9" name="POV 1 terminal label"/>
          <p:cNvSpPr txBox="1"/>
          <p:nvPr/>
        </p:nvSpPr>
        <p:spPr>
          <a:xfrm>
            <a:off x="1417320" y="2139696"/>
            <a:ext cx="429768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1 · seller logs</a:t>
            </a:r>
            <a:endParaRPr lang="en-US" sz="1000" dirty="0"/>
          </a:p>
        </p:txBody>
      </p:sp>
      <p:sp>
        <p:nvSpPr>
          <p:cNvPr id="10" name="POV 1 terminal text"/>
          <p:cNvSpPr txBox="1"/>
          <p:nvPr/>
        </p:nvSpPr>
        <p:spPr>
          <a:xfrm>
            <a:off x="822960" y="2496312"/>
            <a:ext cx="4892040" cy="640080"/>
          </a:xfrm>
          <a:prstGeom prst="rect">
            <a:avLst/>
          </a:prstGeom>
          <a:noFill/>
          <a:ln/>
        </p:spPr>
        <p:txBody>
          <a:bodyPr wrap="square" lIns="0" tIns="0" rIns="0" bIns="0" rtlCol="0" anchor="t"/>
          <a:lstStyle/>
          <a:p>
            <a:pPr indent="0" marL="0">
              <a:lnSpc>
                <a:spcPct val="115000"/>
              </a:lnSpc>
              <a:buNone/>
            </a:pPr>
            <a:r>
              <a:rPr lang="en-US" sz="1200" dirty="0">
                <a:solidFill>
                  <a:schemeClr val="accent1"/>
                </a:solidFill>
                <a:latin typeface="+mj-lt" pitchFamily="34" charset="0"/>
                <a:ea typeface="+mj-lt" pitchFamily="34" charset="-122"/>
                <a:cs typeface="+mj-lt" pitchFamily="34" charset="-120"/>
              </a:rPr>
              <a:t>[crank] released &lt;order&gt; to atlas after a 120s hold</a:t>
            </a:r>
            <a:endParaRPr lang="en-US" sz="1200" dirty="0"/>
          </a:p>
          <a:p>
            <a:pPr indent="0" marL="0">
              <a:lnSpc>
                <a:spcPct val="115000"/>
              </a:lnSpc>
              <a:buNone/>
            </a:pPr>
            <a:r>
              <a:rPr lang="en-US" sz="1200" dirty="0">
                <a:solidFill>
                  <a:schemeClr val="bg2"/>
                </a:solidFill>
                <a:latin typeface="+mj-lt" pitchFamily="34" charset="0"/>
                <a:ea typeface="+mj-lt" pitchFamily="34" charset="-122"/>
                <a:cs typeface="+mj-lt" pitchFamily="34" charset="-120"/>
              </a:rPr>
              <a:t>[arbiter] &lt;order&gt;: delivery matches its hash</a:t>
            </a:r>
            <a:endParaRPr lang="en-US" sz="1200" dirty="0"/>
          </a:p>
        </p:txBody>
      </p:sp>
      <p:sp>
        <p:nvSpPr>
          <p:cNvPr id="11" name="POV 1 card"/>
          <p:cNvSpPr/>
          <p:nvPr/>
        </p:nvSpPr>
        <p:spPr>
          <a:xfrm>
            <a:off x="548640" y="3474720"/>
            <a:ext cx="5394960" cy="2377440"/>
          </a:xfrm>
          <a:prstGeom prst="roundRect">
            <a:avLst>
              <a:gd name="adj" fmla="val 5385"/>
            </a:avLst>
          </a:prstGeom>
          <a:solidFill>
            <a:schemeClr val="accent4">
              <a:alpha val="16000"/>
            </a:schemeClr>
          </a:solidFill>
          <a:ln w="12700">
            <a:solidFill>
              <a:schemeClr val="accent4">
                <a:alpha val="45000"/>
              </a:schemeClr>
            </a:solidFill>
            <a:prstDash val="solid"/>
          </a:ln>
        </p:spPr>
      </p:sp>
      <p:sp>
        <p:nvSpPr>
          <p:cNvPr id="12" name="POV 1 list"/>
          <p:cNvSpPr txBox="1"/>
          <p:nvPr/>
        </p:nvSpPr>
        <p:spPr>
          <a:xfrm>
            <a:off x="822960" y="3675888"/>
            <a:ext cx="4892040" cy="20574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USDC arrives in the shop’s wallet (Explorer → token balances)</a:t>
            </a:r>
            <a:endParaRPr lang="en-US" sz="1700" dirty="0"/>
          </a:p>
          <a:p>
            <a:pPr marL="342900" indent="-342900">
              <a:spcAft>
                <a:spcPts val="1000"/>
              </a:spcAft>
              <a:buSzPct val="100000"/>
              <a:buChar char="•"/>
            </a:pPr>
            <a:r>
              <a:rPr lang="en-US" sz="1700" dirty="0">
                <a:solidFill>
                  <a:schemeClr val="bg1"/>
                </a:solidFill>
              </a:rPr>
              <a:t>1% goes to the treasury</a:t>
            </a:r>
            <a:endParaRPr lang="en-US" sz="1700" dirty="0"/>
          </a:p>
          <a:p>
            <a:pPr marL="342900" indent="-342900">
              <a:spcAft>
                <a:spcPts val="1000"/>
              </a:spcAft>
              <a:buSzPct val="100000"/>
              <a:buChar char="•"/>
            </a:pPr>
            <a:r>
              <a:rPr lang="en-US" sz="1700" dirty="0">
                <a:solidFill>
                  <a:schemeClr val="bg1"/>
                </a:solidFill>
              </a:rPr>
              <a:t>Score and reviews update on the shop’s credit file</a:t>
            </a:r>
            <a:endParaRPr lang="en-US" sz="1700" dirty="0"/>
          </a:p>
        </p:txBody>
      </p:sp>
      <p:sp>
        <p:nvSpPr>
          <p:cNvPr id="13" name="POV 2 heading"/>
          <p:cNvSpPr txBox="1"/>
          <p:nvPr/>
        </p:nvSpPr>
        <p:spPr>
          <a:xfrm>
            <a:off x="6245352" y="1572768"/>
            <a:ext cx="5394960" cy="384048"/>
          </a:xfrm>
          <a:prstGeom prst="rect">
            <a:avLst/>
          </a:prstGeom>
          <a:noFill/>
          <a:ln/>
        </p:spPr>
        <p:txBody>
          <a:bodyPr wrap="square" lIns="0" tIns="0" rIns="0" bIns="0" rtlCol="0" anchor="t"/>
          <a:lstStyle/>
          <a:p>
            <a:pPr indent="0" marL="0">
              <a:buNone/>
            </a:pPr>
            <a:r>
              <a:rPr lang="en-US" sz="1900" b="1" dirty="0">
                <a:solidFill>
                  <a:schemeClr val="accent5"/>
                </a:solidFill>
                <a:latin typeface="+mj-lt" pitchFamily="34" charset="0"/>
                <a:ea typeface="+mj-lt" pitchFamily="34" charset="-122"/>
                <a:cs typeface="+mj-lt" pitchFamily="34" charset="-120"/>
              </a:rPr>
              <a:t>BUYER SEES</a:t>
            </a:r>
            <a:endParaRPr lang="en-US" sz="1900" dirty="0"/>
          </a:p>
        </p:txBody>
      </p:sp>
      <p:sp>
        <p:nvSpPr>
          <p:cNvPr id="14" name="POV 2 terminal"/>
          <p:cNvSpPr/>
          <p:nvPr/>
        </p:nvSpPr>
        <p:spPr>
          <a:xfrm>
            <a:off x="6245352" y="2057400"/>
            <a:ext cx="5394960" cy="1188720"/>
          </a:xfrm>
          <a:prstGeom prst="roundRect">
            <a:avLst>
              <a:gd name="adj" fmla="val 10769"/>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5" name="POV 2 terminal dot 1"/>
          <p:cNvSpPr/>
          <p:nvPr/>
        </p:nvSpPr>
        <p:spPr>
          <a:xfrm>
            <a:off x="6446520" y="2212848"/>
            <a:ext cx="118872" cy="118872"/>
          </a:xfrm>
          <a:prstGeom prst="ellipse">
            <a:avLst/>
          </a:prstGeom>
          <a:solidFill>
            <a:schemeClr val="accent6"/>
          </a:solidFill>
          <a:ln w="12700">
            <a:solidFill>
              <a:schemeClr val="accent6"/>
            </a:solidFill>
            <a:prstDash val="solid"/>
          </a:ln>
        </p:spPr>
      </p:sp>
      <p:sp>
        <p:nvSpPr>
          <p:cNvPr id="16" name="POV 2 terminal dot 2"/>
          <p:cNvSpPr/>
          <p:nvPr/>
        </p:nvSpPr>
        <p:spPr>
          <a:xfrm>
            <a:off x="6647688" y="2212848"/>
            <a:ext cx="118872" cy="118872"/>
          </a:xfrm>
          <a:prstGeom prst="ellipse">
            <a:avLst/>
          </a:prstGeom>
          <a:solidFill>
            <a:schemeClr val="accent3"/>
          </a:solidFill>
          <a:ln w="12700">
            <a:solidFill>
              <a:schemeClr val="accent3"/>
            </a:solidFill>
            <a:prstDash val="solid"/>
          </a:ln>
        </p:spPr>
      </p:sp>
      <p:sp>
        <p:nvSpPr>
          <p:cNvPr id="17" name="POV 2 terminal dot 3"/>
          <p:cNvSpPr/>
          <p:nvPr/>
        </p:nvSpPr>
        <p:spPr>
          <a:xfrm>
            <a:off x="6848856" y="2212848"/>
            <a:ext cx="118872" cy="118872"/>
          </a:xfrm>
          <a:prstGeom prst="ellipse">
            <a:avLst/>
          </a:prstGeom>
          <a:solidFill>
            <a:schemeClr val="accent1"/>
          </a:solidFill>
          <a:ln w="12700">
            <a:solidFill>
              <a:schemeClr val="accent1"/>
            </a:solidFill>
            <a:prstDash val="solid"/>
          </a:ln>
        </p:spPr>
      </p:sp>
      <p:sp>
        <p:nvSpPr>
          <p:cNvPr id="18" name="POV 2 terminal label"/>
          <p:cNvSpPr txBox="1"/>
          <p:nvPr/>
        </p:nvSpPr>
        <p:spPr>
          <a:xfrm>
            <a:off x="7114032" y="2139696"/>
            <a:ext cx="429768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3 · npm run buy</a:t>
            </a:r>
            <a:endParaRPr lang="en-US" sz="1000" dirty="0"/>
          </a:p>
        </p:txBody>
      </p:sp>
      <p:sp>
        <p:nvSpPr>
          <p:cNvPr id="19" name="POV 2 terminal text"/>
          <p:cNvSpPr txBox="1"/>
          <p:nvPr/>
        </p:nvSpPr>
        <p:spPr>
          <a:xfrm>
            <a:off x="6519672" y="2496312"/>
            <a:ext cx="4892040" cy="640080"/>
          </a:xfrm>
          <a:prstGeom prst="rect">
            <a:avLst/>
          </a:prstGeom>
          <a:noFill/>
          <a:ln/>
        </p:spPr>
        <p:txBody>
          <a:bodyPr wrap="square" lIns="0" tIns="0" rIns="0" bIns="0" rtlCol="0" anchor="t"/>
          <a:lstStyle/>
          <a:p>
            <a:pPr indent="0" marL="0">
              <a:lnSpc>
                <a:spcPct val="115000"/>
              </a:lnSpc>
              <a:buNone/>
            </a:pPr>
            <a:r>
              <a:rPr lang="en-US" sz="1200" dirty="0">
                <a:solidFill>
                  <a:schemeClr val="accent1"/>
                </a:solidFill>
                <a:latin typeface="+mj-lt" pitchFamily="34" charset="0"/>
                <a:ea typeface="+mj-lt" pitchFamily="34" charset="-122"/>
                <a:cs typeface="+mj-lt" pitchFamily="34" charset="-120"/>
              </a:rPr>
              <a:t>order      &lt;Explorer link&gt;</a:t>
            </a:r>
            <a:endParaRPr lang="en-US" sz="1200" dirty="0"/>
          </a:p>
          <a:p>
            <a:pPr indent="0" marL="0">
              <a:lnSpc>
                <a:spcPct val="115000"/>
              </a:lnSpc>
              <a:buNone/>
            </a:pPr>
            <a:r>
              <a:rPr lang="en-US" sz="1200" dirty="0">
                <a:solidFill>
                  <a:schemeClr val="accent1"/>
                </a:solidFill>
                <a:latin typeface="+mj-lt" pitchFamily="34" charset="0"/>
                <a:ea typeface="+mj-lt" pitchFamily="34" charset="-122"/>
                <a:cs typeface="+mj-lt" pitchFamily="34" charset="-120"/>
              </a:rPr>
              <a:t>hash check matches the hash committed on-chain</a:t>
            </a:r>
            <a:endParaRPr lang="en-US" sz="1200" dirty="0"/>
          </a:p>
        </p:txBody>
      </p:sp>
      <p:sp>
        <p:nvSpPr>
          <p:cNvPr id="20" name="POV 2 card"/>
          <p:cNvSpPr/>
          <p:nvPr/>
        </p:nvSpPr>
        <p:spPr>
          <a:xfrm>
            <a:off x="6245352" y="3474720"/>
            <a:ext cx="5394960" cy="2377440"/>
          </a:xfrm>
          <a:prstGeom prst="roundRect">
            <a:avLst>
              <a:gd name="adj" fmla="val 5385"/>
            </a:avLst>
          </a:prstGeom>
          <a:solidFill>
            <a:schemeClr val="accent5">
              <a:alpha val="16000"/>
            </a:schemeClr>
          </a:solidFill>
          <a:ln w="12700">
            <a:solidFill>
              <a:schemeClr val="accent5">
                <a:alpha val="45000"/>
              </a:schemeClr>
            </a:solidFill>
            <a:prstDash val="solid"/>
          </a:ln>
        </p:spPr>
      </p:sp>
      <p:sp>
        <p:nvSpPr>
          <p:cNvPr id="21" name="POV 2 list"/>
          <p:cNvSpPr txBox="1"/>
          <p:nvPr/>
        </p:nvSpPr>
        <p:spPr>
          <a:xfrm>
            <a:off x="6519672" y="3675888"/>
            <a:ext cx="4892040" cy="20574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Checkout steps tick ✓ in the browser</a:t>
            </a:r>
            <a:endParaRPr lang="en-US" sz="1700" dirty="0"/>
          </a:p>
          <a:p>
            <a:pPr marL="342900" indent="-342900">
              <a:spcAft>
                <a:spcPts val="1000"/>
              </a:spcAft>
              <a:buSzPct val="100000"/>
              <a:buChar char="•"/>
            </a:pPr>
            <a:r>
              <a:rPr lang="en-US" sz="1700" dirty="0">
                <a:solidFill>
                  <a:schemeClr val="bg1"/>
                </a:solidFill>
              </a:rPr>
              <a:t>USDC moves wallet → vault → seller; every hop is on Explorer</a:t>
            </a:r>
            <a:endParaRPr lang="en-US" sz="1700" dirty="0"/>
          </a:p>
          <a:p>
            <a:pPr marL="342900" indent="-342900">
              <a:spcAft>
                <a:spcPts val="1000"/>
              </a:spcAft>
              <a:buSzPct val="100000"/>
              <a:buChar char="•"/>
            </a:pPr>
            <a:r>
              <a:rPr lang="en-US" sz="1700" dirty="0">
                <a:solidFill>
                  <a:schemeClr val="bg1"/>
                </a:solidFill>
              </a:rPr>
              <a:t>Your own credit file appears: New, then up as you trade</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STEP 6 · OPTIONAL</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make it busy: the swarm 🐝</a:t>
            </a:r>
            <a:endParaRPr lang="en-US" sz="3600" dirty="0"/>
          </a:p>
        </p:txBody>
      </p:sp>
      <p:sp>
        <p:nvSpPr>
          <p:cNvPr id="4" name="Terminal"/>
          <p:cNvSpPr/>
          <p:nvPr/>
        </p:nvSpPr>
        <p:spPr>
          <a:xfrm>
            <a:off x="548640" y="1600200"/>
            <a:ext cx="5669280" cy="1600200"/>
          </a:xfrm>
          <a:prstGeom prst="roundRect">
            <a:avLst>
              <a:gd name="adj" fmla="val 8000"/>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75564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75564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75564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682496"/>
            <a:ext cx="457200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terminal 3</a:t>
            </a:r>
            <a:endParaRPr lang="en-US" sz="1000" dirty="0"/>
          </a:p>
        </p:txBody>
      </p:sp>
      <p:sp>
        <p:nvSpPr>
          <p:cNvPr id="9" name="Terminal text"/>
          <p:cNvSpPr txBox="1"/>
          <p:nvPr/>
        </p:nvSpPr>
        <p:spPr>
          <a:xfrm>
            <a:off x="822960" y="2039112"/>
            <a:ext cx="5166360" cy="1051560"/>
          </a:xfrm>
          <a:prstGeom prst="rect">
            <a:avLst/>
          </a:prstGeom>
          <a:noFill/>
          <a:ln/>
        </p:spPr>
        <p:txBody>
          <a:bodyPr wrap="square" lIns="0" tIns="0" rIns="0" bIns="0" rtlCol="0" anchor="t"/>
          <a:lstStyle/>
          <a:p>
            <a:pPr indent="0" marL="0">
              <a:lnSpc>
                <a:spcPct val="115000"/>
              </a:lnSpc>
              <a:buNone/>
            </a:pPr>
            <a:r>
              <a:rPr lang="en-US" sz="1600" b="1" dirty="0">
                <a:solidFill>
                  <a:schemeClr val="bg1"/>
                </a:solidFill>
                <a:latin typeface="+mj-lt" pitchFamily="34" charset="0"/>
                <a:ea typeface="+mj-lt" pitchFamily="34" charset="-122"/>
                <a:cs typeface="+mj-lt" pitchFamily="34" charset="-120"/>
              </a:rPr>
              <a:t>$ npm run swarm</a:t>
            </a:r>
            <a:endParaRPr lang="en-US" sz="1600" dirty="0"/>
          </a:p>
          <a:p>
            <a:pPr indent="0" marL="0">
              <a:lnSpc>
                <a:spcPct val="115000"/>
              </a:lnSpc>
              <a:buNone/>
            </a:pPr>
            <a:r>
              <a:rPr lang="en-US" sz="1600" dirty="0">
                <a:solidFill>
                  <a:schemeClr val="bg2"/>
                </a:solidFill>
                <a:latin typeface="+mj-lt" pitchFamily="34" charset="0"/>
                <a:ea typeface="+mj-lt" pitchFamily="34" charset="-122"/>
                <a:cs typeface="+mj-lt" pitchFamily="34" charset="-120"/>
              </a:rPr>
              <a:t># keep npm run agents running</a:t>
            </a:r>
            <a:endParaRPr lang="en-US" sz="1600" dirty="0"/>
          </a:p>
          <a:p>
            <a:pPr indent="0" marL="0">
              <a:lnSpc>
                <a:spcPct val="115000"/>
              </a:lnSpc>
              <a:buNone/>
            </a:pPr>
            <a:r>
              <a:rPr lang="en-US" sz="1600" dirty="0">
                <a:solidFill>
                  <a:schemeClr val="bg2"/>
                </a:solidFill>
                <a:latin typeface="+mj-lt" pitchFamily="34" charset="0"/>
                <a:ea typeface="+mj-lt" pitchFamily="34" charset="-122"/>
                <a:cs typeface="+mj-lt" pitchFamily="34" charset="-120"/>
              </a:rPr>
              <a:t># 45 periods × 60 s ≈ 45 minutes</a:t>
            </a:r>
            <a:endParaRPr lang="en-US" sz="1600" dirty="0"/>
          </a:p>
        </p:txBody>
      </p:sp>
      <p:sp>
        <p:nvSpPr>
          <p:cNvPr id="10" name="Swarm list"/>
          <p:cNvSpPr txBox="1"/>
          <p:nvPr/>
        </p:nvSpPr>
        <p:spPr>
          <a:xfrm>
            <a:off x="548640" y="3429000"/>
            <a:ext cx="566928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6 honest buyer agents trade every period</a:t>
            </a:r>
            <a:endParaRPr lang="en-US" sz="1700" dirty="0"/>
          </a:p>
          <a:p>
            <a:pPr marL="342900" indent="-342900">
              <a:spcAft>
                <a:spcPts val="1000"/>
              </a:spcAft>
              <a:buSzPct val="100000"/>
              <a:buChar char="•"/>
            </a:pPr>
            <a:r>
              <a:rPr lang="en-US" sz="1700" dirty="0">
                <a:solidFill>
                  <a:schemeClr val="bg1"/>
                </a:solidFill>
              </a:rPr>
              <a:t>Then the villains join: washer’s wash-trading ring, mallory the no-show, charlie the friendly-fraud disputer</a:t>
            </a:r>
            <a:endParaRPr lang="en-US" sz="1700" dirty="0"/>
          </a:p>
          <a:p>
            <a:pPr marL="342900" indent="-342900">
              <a:spcAft>
                <a:spcPts val="1000"/>
              </a:spcAft>
              <a:buSzPct val="100000"/>
              <a:buChar char="•"/>
            </a:pPr>
            <a:r>
              <a:rPr lang="en-US" sz="1700" dirty="0">
                <a:solidFill>
                  <a:schemeClr val="bg1"/>
                </a:solidFill>
              </a:rPr>
              <a:t>Watch tiers climb on #/network while the attackers stall or get penalised</a:t>
            </a:r>
            <a:endParaRPr lang="en-US" sz="1700" dirty="0"/>
          </a:p>
        </p:txBody>
      </p:sp>
      <p:sp>
        <p:nvSpPr>
          <p:cNvPr id="11" name="Swarm warning"/>
          <p:cNvSpPr txBox="1"/>
          <p:nvPr/>
        </p:nvSpPr>
        <p:spPr>
          <a:xfrm>
            <a:off x="548640" y="5669280"/>
            <a:ext cx="5669280" cy="457200"/>
          </a:xfrm>
          <a:prstGeom prst="rect">
            <a:avLst/>
          </a:prstGeom>
          <a:noFill/>
          <a:ln/>
        </p:spPr>
        <p:txBody>
          <a:bodyPr wrap="square" lIns="0" tIns="0" rIns="0" bIns="0" rtlCol="0" anchor="t"/>
          <a:lstStyle/>
          <a:p>
            <a:pPr indent="0" marL="0">
              <a:buNone/>
            </a:pPr>
            <a:r>
              <a:rPr lang="en-US" sz="1400" dirty="0">
                <a:solidFill>
                  <a:schemeClr val="accent3"/>
                </a:solidFill>
              </a:rPr>
              <a:t>recording a video? don’t run the swarm at the same time: the public RPC rate-limits.</a:t>
            </a:r>
            <a:endParaRPr lang="en-US" sz="1400" dirty="0"/>
          </a:p>
        </p:txBody>
      </p:sp>
      <p:sp>
        <p:nvSpPr>
          <p:cNvPr id="12" name="Doge panel"/>
          <p:cNvSpPr/>
          <p:nvPr/>
        </p:nvSpPr>
        <p:spPr>
          <a:xfrm>
            <a:off x="6492240" y="1600200"/>
            <a:ext cx="5148072" cy="4526280"/>
          </a:xfrm>
          <a:prstGeom prst="roundRect">
            <a:avLst>
              <a:gd name="adj" fmla="val 2828"/>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3" name="Doge emoji"/>
          <p:cNvSpPr txBox="1"/>
          <p:nvPr/>
        </p:nvSpPr>
        <p:spPr>
          <a:xfrm>
            <a:off x="8183880" y="3063240"/>
            <a:ext cx="1737360" cy="1463040"/>
          </a:xfrm>
          <a:prstGeom prst="rect">
            <a:avLst/>
          </a:prstGeom>
          <a:noFill/>
          <a:ln/>
        </p:spPr>
        <p:txBody>
          <a:bodyPr wrap="square" lIns="0" tIns="0" rIns="0" bIns="0" rtlCol="0" anchor="ctr"/>
          <a:lstStyle/>
          <a:p>
            <a:pPr algn="ctr" indent="0" marL="0">
              <a:buNone/>
            </a:pPr>
            <a:r>
              <a:rPr lang="en-US" sz="8800" dirty="0">
                <a:solidFill>
                  <a:srgbClr val="000000"/>
                </a:solidFill>
              </a:rPr>
              <a:t>🐕</a:t>
            </a:r>
            <a:endParaRPr lang="en-US" sz="8800" dirty="0"/>
          </a:p>
        </p:txBody>
      </p:sp>
      <p:sp>
        <p:nvSpPr>
          <p:cNvPr id="14" name="Doge 1"/>
          <p:cNvSpPr txBox="1"/>
          <p:nvPr/>
        </p:nvSpPr>
        <p:spPr>
          <a:xfrm rot="-480000">
            <a:off x="6766560" y="1828800"/>
            <a:ext cx="2377440" cy="594360"/>
          </a:xfrm>
          <a:prstGeom prst="rect">
            <a:avLst/>
          </a:prstGeom>
          <a:noFill/>
          <a:ln/>
        </p:spPr>
        <p:txBody>
          <a:bodyPr wrap="square" lIns="0" tIns="0" rIns="0" bIns="0" rtlCol="0" anchor="t"/>
          <a:lstStyle/>
          <a:p>
            <a:pPr indent="0" marL="0">
              <a:buNone/>
            </a:pPr>
            <a:r>
              <a:rPr lang="en-US" sz="2800" b="1" dirty="0">
                <a:solidFill>
                  <a:schemeClr val="accent3"/>
                </a:solidFill>
              </a:rPr>
              <a:t>such escrow</a:t>
            </a:r>
            <a:endParaRPr lang="en-US" sz="2800" dirty="0"/>
          </a:p>
        </p:txBody>
      </p:sp>
      <p:sp>
        <p:nvSpPr>
          <p:cNvPr id="15" name="Doge 2"/>
          <p:cNvSpPr txBox="1"/>
          <p:nvPr/>
        </p:nvSpPr>
        <p:spPr>
          <a:xfrm rot="360000">
            <a:off x="9235440" y="2057400"/>
            <a:ext cx="2377440" cy="594360"/>
          </a:xfrm>
          <a:prstGeom prst="rect">
            <a:avLst/>
          </a:prstGeom>
          <a:noFill/>
          <a:ln/>
        </p:spPr>
        <p:txBody>
          <a:bodyPr wrap="square" lIns="0" tIns="0" rIns="0" bIns="0" rtlCol="0" anchor="t"/>
          <a:lstStyle/>
          <a:p>
            <a:pPr indent="0" marL="0">
              <a:buNone/>
            </a:pPr>
            <a:r>
              <a:rPr lang="en-US" sz="2400" b="1" dirty="0">
                <a:solidFill>
                  <a:schemeClr val="accent4"/>
                </a:solidFill>
              </a:rPr>
              <a:t>very trust</a:t>
            </a:r>
            <a:endParaRPr lang="en-US" sz="2400" dirty="0"/>
          </a:p>
        </p:txBody>
      </p:sp>
      <p:sp>
        <p:nvSpPr>
          <p:cNvPr id="16" name="Doge 3"/>
          <p:cNvSpPr txBox="1"/>
          <p:nvPr/>
        </p:nvSpPr>
        <p:spPr>
          <a:xfrm rot="-300000">
            <a:off x="10241280" y="3291840"/>
            <a:ext cx="2377440" cy="594360"/>
          </a:xfrm>
          <a:prstGeom prst="rect">
            <a:avLst/>
          </a:prstGeom>
          <a:noFill/>
          <a:ln/>
        </p:spPr>
        <p:txBody>
          <a:bodyPr wrap="square" lIns="0" tIns="0" rIns="0" bIns="0" rtlCol="0" anchor="t"/>
          <a:lstStyle/>
          <a:p>
            <a:pPr indent="0" marL="0">
              <a:buNone/>
            </a:pPr>
            <a:r>
              <a:rPr lang="en-US" sz="4000" b="1" dirty="0">
                <a:solidFill>
                  <a:schemeClr val="accent1"/>
                </a:solidFill>
              </a:rPr>
              <a:t>wow</a:t>
            </a:r>
            <a:endParaRPr lang="en-US" sz="4000" dirty="0"/>
          </a:p>
        </p:txBody>
      </p:sp>
      <p:sp>
        <p:nvSpPr>
          <p:cNvPr id="17" name="Doge 4"/>
          <p:cNvSpPr txBox="1"/>
          <p:nvPr/>
        </p:nvSpPr>
        <p:spPr>
          <a:xfrm rot="300000">
            <a:off x="6720840" y="3429000"/>
            <a:ext cx="2377440" cy="594360"/>
          </a:xfrm>
          <a:prstGeom prst="rect">
            <a:avLst/>
          </a:prstGeom>
          <a:noFill/>
          <a:ln/>
        </p:spPr>
        <p:txBody>
          <a:bodyPr wrap="square" lIns="0" tIns="0" rIns="0" bIns="0" rtlCol="0" anchor="t"/>
          <a:lstStyle/>
          <a:p>
            <a:pPr indent="0" marL="0">
              <a:buNone/>
            </a:pPr>
            <a:r>
              <a:rPr lang="en-US" sz="2200" b="1" dirty="0">
                <a:solidFill>
                  <a:schemeClr val="accent5"/>
                </a:solidFill>
              </a:rPr>
              <a:t>much hold</a:t>
            </a:r>
            <a:endParaRPr lang="en-US" sz="2200" dirty="0"/>
          </a:p>
        </p:txBody>
      </p:sp>
      <p:sp>
        <p:nvSpPr>
          <p:cNvPr id="18" name="Doge 5"/>
          <p:cNvSpPr txBox="1"/>
          <p:nvPr/>
        </p:nvSpPr>
        <p:spPr>
          <a:xfrm rot="-360000">
            <a:off x="6949440" y="4892040"/>
            <a:ext cx="2377440" cy="594360"/>
          </a:xfrm>
          <a:prstGeom prst="rect">
            <a:avLst/>
          </a:prstGeom>
          <a:noFill/>
          <a:ln/>
        </p:spPr>
        <p:txBody>
          <a:bodyPr wrap="square" lIns="0" tIns="0" rIns="0" bIns="0" rtlCol="0" anchor="t"/>
          <a:lstStyle/>
          <a:p>
            <a:pPr indent="0" marL="0">
              <a:buNone/>
            </a:pPr>
            <a:r>
              <a:rPr lang="en-US" sz="2600" b="1" dirty="0">
                <a:solidFill>
                  <a:schemeClr val="accent2"/>
                </a:solidFill>
              </a:rPr>
              <a:t>so on-chain</a:t>
            </a:r>
            <a:endParaRPr lang="en-US" sz="2600" dirty="0"/>
          </a:p>
        </p:txBody>
      </p:sp>
      <p:sp>
        <p:nvSpPr>
          <p:cNvPr id="19" name="Doge 6"/>
          <p:cNvSpPr txBox="1"/>
          <p:nvPr/>
        </p:nvSpPr>
        <p:spPr>
          <a:xfrm rot="240000">
            <a:off x="9418320" y="5166360"/>
            <a:ext cx="2377440" cy="594360"/>
          </a:xfrm>
          <a:prstGeom prst="rect">
            <a:avLst/>
          </a:prstGeom>
          <a:noFill/>
          <a:ln/>
        </p:spPr>
        <p:txBody>
          <a:bodyPr wrap="square" lIns="0" tIns="0" rIns="0" bIns="0" rtlCol="0" anchor="t"/>
          <a:lstStyle/>
          <a:p>
            <a:pPr indent="0" marL="0">
              <a:buNone/>
            </a:pPr>
            <a:r>
              <a:rPr lang="en-US" sz="2000" b="1" dirty="0">
                <a:solidFill>
                  <a:schemeClr val="bg1"/>
                </a:solidFill>
              </a:rPr>
              <a:t>many agent</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OPTIONAL · SELLER AND BUYER ON DIFFERENT MACHINES</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two laptops? 💻 ↔ 💻</a:t>
            </a:r>
            <a:endParaRPr lang="en-US" sz="3600" dirty="0"/>
          </a:p>
        </p:txBody>
      </p:sp>
      <p:sp>
        <p:nvSpPr>
          <p:cNvPr id="4" name="Terminal"/>
          <p:cNvSpPr/>
          <p:nvPr/>
        </p:nvSpPr>
        <p:spPr>
          <a:xfrm>
            <a:off x="548640" y="1600200"/>
            <a:ext cx="5440680" cy="2011680"/>
          </a:xfrm>
          <a:prstGeom prst="roundRect">
            <a:avLst>
              <a:gd name="adj" fmla="val 6364"/>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5" name="Terminal dot 1"/>
          <p:cNvSpPr/>
          <p:nvPr/>
        </p:nvSpPr>
        <p:spPr>
          <a:xfrm>
            <a:off x="749808" y="1755648"/>
            <a:ext cx="118872" cy="118872"/>
          </a:xfrm>
          <a:prstGeom prst="ellipse">
            <a:avLst/>
          </a:prstGeom>
          <a:solidFill>
            <a:schemeClr val="accent6"/>
          </a:solidFill>
          <a:ln w="12700">
            <a:solidFill>
              <a:schemeClr val="accent6"/>
            </a:solidFill>
            <a:prstDash val="solid"/>
          </a:ln>
        </p:spPr>
      </p:sp>
      <p:sp>
        <p:nvSpPr>
          <p:cNvPr id="6" name="Terminal dot 2"/>
          <p:cNvSpPr/>
          <p:nvPr/>
        </p:nvSpPr>
        <p:spPr>
          <a:xfrm>
            <a:off x="950976" y="1755648"/>
            <a:ext cx="118872" cy="118872"/>
          </a:xfrm>
          <a:prstGeom prst="ellipse">
            <a:avLst/>
          </a:prstGeom>
          <a:solidFill>
            <a:schemeClr val="accent3"/>
          </a:solidFill>
          <a:ln w="12700">
            <a:solidFill>
              <a:schemeClr val="accent3"/>
            </a:solidFill>
            <a:prstDash val="solid"/>
          </a:ln>
        </p:spPr>
      </p:sp>
      <p:sp>
        <p:nvSpPr>
          <p:cNvPr id="7" name="Terminal dot 3"/>
          <p:cNvSpPr/>
          <p:nvPr/>
        </p:nvSpPr>
        <p:spPr>
          <a:xfrm>
            <a:off x="1152144" y="1755648"/>
            <a:ext cx="118872" cy="118872"/>
          </a:xfrm>
          <a:prstGeom prst="ellipse">
            <a:avLst/>
          </a:prstGeom>
          <a:solidFill>
            <a:schemeClr val="accent1"/>
          </a:solidFill>
          <a:ln w="12700">
            <a:solidFill>
              <a:schemeClr val="accent1"/>
            </a:solidFill>
            <a:prstDash val="solid"/>
          </a:ln>
        </p:spPr>
      </p:sp>
      <p:sp>
        <p:nvSpPr>
          <p:cNvPr id="8" name="Terminal label"/>
          <p:cNvSpPr txBox="1"/>
          <p:nvPr/>
        </p:nvSpPr>
        <p:spPr>
          <a:xfrm>
            <a:off x="1417320" y="1682496"/>
            <a:ext cx="434340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seller laptop</a:t>
            </a:r>
            <a:endParaRPr lang="en-US" sz="1000" dirty="0"/>
          </a:p>
        </p:txBody>
      </p:sp>
      <p:sp>
        <p:nvSpPr>
          <p:cNvPr id="9" name="Terminal text"/>
          <p:cNvSpPr txBox="1"/>
          <p:nvPr/>
        </p:nvSpPr>
        <p:spPr>
          <a:xfrm>
            <a:off x="822960" y="2039112"/>
            <a:ext cx="4937760" cy="1463040"/>
          </a:xfrm>
          <a:prstGeom prst="rect">
            <a:avLst/>
          </a:prstGeom>
          <a:noFill/>
          <a:ln/>
        </p:spPr>
        <p:txBody>
          <a:bodyPr wrap="square" lIns="0" tIns="0" rIns="0" bIns="0" rtlCol="0" anchor="t"/>
          <a:lstStyle/>
          <a:p>
            <a:pPr indent="0" marL="0">
              <a:lnSpc>
                <a:spcPct val="115000"/>
              </a:lnSpc>
              <a:buNone/>
            </a:pPr>
            <a:r>
              <a:rPr lang="en-US" sz="1300" dirty="0">
                <a:solidFill>
                  <a:schemeClr val="bg2"/>
                </a:solidFill>
                <a:latin typeface="+mj-lt" pitchFamily="34" charset="0"/>
                <a:ea typeface="+mj-lt" pitchFamily="34" charset="-122"/>
                <a:cs typeface="+mj-lt" pitchFamily="34" charset="-120"/>
              </a:rPr>
              <a:t># expose :4020 over HTTPS (any tunnel works)</a:t>
            </a:r>
            <a:endParaRPr lang="en-US" sz="1300" dirty="0"/>
          </a:p>
          <a:p>
            <a:pPr indent="0" marL="0">
              <a:lnSpc>
                <a:spcPct val="115000"/>
              </a:lnSpc>
              <a:buNone/>
            </a:pPr>
            <a:r>
              <a:rPr lang="en-US" sz="1300" b="1" dirty="0">
                <a:solidFill>
                  <a:schemeClr val="bg1"/>
                </a:solidFill>
                <a:latin typeface="+mj-lt" pitchFamily="34" charset="0"/>
                <a:ea typeface="+mj-lt" pitchFamily="34" charset="-122"/>
                <a:cs typeface="+mj-lt" pitchFamily="34" charset="-120"/>
              </a:rPr>
              <a:t>$ cloudflared tunnel --url http://localhost:4020</a:t>
            </a:r>
            <a:endParaRPr lang="en-US" sz="1300" dirty="0"/>
          </a:p>
          <a:p>
            <a:pPr indent="0" marL="0">
              <a:lnSpc>
                <a:spcPct val="115000"/>
              </a:lnSpc>
              <a:buNone/>
            </a:pPr>
            <a:r>
              <a:rPr lang="en-US" sz="1300" dirty="0">
                <a:solidFill>
                  <a:schemeClr val="bg2"/>
                </a:solidFill>
                <a:latin typeface="+mj-lt" pitchFamily="34" charset="0"/>
                <a:ea typeface="+mj-lt" pitchFamily="34" charset="-122"/>
                <a:cs typeface="+mj-lt" pitchFamily="34" charset="-120"/>
              </a:rPr>
              <a:t># restart the shops with the public URL</a:t>
            </a:r>
            <a:endParaRPr lang="en-US" sz="1300" dirty="0"/>
          </a:p>
          <a:p>
            <a:pPr indent="0" marL="0">
              <a:lnSpc>
                <a:spcPct val="115000"/>
              </a:lnSpc>
              <a:buNone/>
            </a:pPr>
            <a:r>
              <a:rPr lang="en-US" sz="1300" b="1" dirty="0">
                <a:solidFill>
                  <a:schemeClr val="bg1"/>
                </a:solidFill>
                <a:latin typeface="+mj-lt" pitchFamily="34" charset="0"/>
                <a:ea typeface="+mj-lt" pitchFamily="34" charset="-122"/>
                <a:cs typeface="+mj-lt" pitchFamily="34" charset="-120"/>
              </a:rPr>
              <a:t>$ AGENT_HOST=https://&lt;tunnel&gt; npm run agents</a:t>
            </a:r>
            <a:endParaRPr lang="en-US" sz="1300" dirty="0"/>
          </a:p>
        </p:txBody>
      </p:sp>
      <p:sp>
        <p:nvSpPr>
          <p:cNvPr id="10" name="Terminal"/>
          <p:cNvSpPr/>
          <p:nvPr/>
        </p:nvSpPr>
        <p:spPr>
          <a:xfrm>
            <a:off x="6199632" y="1600200"/>
            <a:ext cx="5440680" cy="2011680"/>
          </a:xfrm>
          <a:prstGeom prst="roundRect">
            <a:avLst>
              <a:gd name="adj" fmla="val 6364"/>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11" name="Terminal dot 1"/>
          <p:cNvSpPr/>
          <p:nvPr/>
        </p:nvSpPr>
        <p:spPr>
          <a:xfrm>
            <a:off x="6400800" y="1755648"/>
            <a:ext cx="118872" cy="118872"/>
          </a:xfrm>
          <a:prstGeom prst="ellipse">
            <a:avLst/>
          </a:prstGeom>
          <a:solidFill>
            <a:schemeClr val="accent6"/>
          </a:solidFill>
          <a:ln w="12700">
            <a:solidFill>
              <a:schemeClr val="accent6"/>
            </a:solidFill>
            <a:prstDash val="solid"/>
          </a:ln>
        </p:spPr>
      </p:sp>
      <p:sp>
        <p:nvSpPr>
          <p:cNvPr id="12" name="Terminal dot 2"/>
          <p:cNvSpPr/>
          <p:nvPr/>
        </p:nvSpPr>
        <p:spPr>
          <a:xfrm>
            <a:off x="6601968" y="1755648"/>
            <a:ext cx="118872" cy="118872"/>
          </a:xfrm>
          <a:prstGeom prst="ellipse">
            <a:avLst/>
          </a:prstGeom>
          <a:solidFill>
            <a:schemeClr val="accent3"/>
          </a:solidFill>
          <a:ln w="12700">
            <a:solidFill>
              <a:schemeClr val="accent3"/>
            </a:solidFill>
            <a:prstDash val="solid"/>
          </a:ln>
        </p:spPr>
      </p:sp>
      <p:sp>
        <p:nvSpPr>
          <p:cNvPr id="13" name="Terminal dot 3"/>
          <p:cNvSpPr/>
          <p:nvPr/>
        </p:nvSpPr>
        <p:spPr>
          <a:xfrm>
            <a:off x="6803136" y="1755648"/>
            <a:ext cx="118872" cy="118872"/>
          </a:xfrm>
          <a:prstGeom prst="ellipse">
            <a:avLst/>
          </a:prstGeom>
          <a:solidFill>
            <a:schemeClr val="accent1"/>
          </a:solidFill>
          <a:ln w="12700">
            <a:solidFill>
              <a:schemeClr val="accent1"/>
            </a:solidFill>
            <a:prstDash val="solid"/>
          </a:ln>
        </p:spPr>
      </p:sp>
      <p:sp>
        <p:nvSpPr>
          <p:cNvPr id="14" name="Terminal label"/>
          <p:cNvSpPr txBox="1"/>
          <p:nvPr/>
        </p:nvSpPr>
        <p:spPr>
          <a:xfrm>
            <a:off x="7068312" y="1682496"/>
            <a:ext cx="4343400"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buyer laptop</a:t>
            </a:r>
            <a:endParaRPr lang="en-US" sz="1000" dirty="0"/>
          </a:p>
        </p:txBody>
      </p:sp>
      <p:sp>
        <p:nvSpPr>
          <p:cNvPr id="15" name="Terminal text"/>
          <p:cNvSpPr txBox="1"/>
          <p:nvPr/>
        </p:nvSpPr>
        <p:spPr>
          <a:xfrm>
            <a:off x="6473952" y="2039112"/>
            <a:ext cx="4937760" cy="1463040"/>
          </a:xfrm>
          <a:prstGeom prst="rect">
            <a:avLst/>
          </a:prstGeom>
          <a:noFill/>
          <a:ln/>
        </p:spPr>
        <p:txBody>
          <a:bodyPr wrap="square" lIns="0" tIns="0" rIns="0" bIns="0" rtlCol="0" anchor="t"/>
          <a:lstStyle/>
          <a:p>
            <a:pPr indent="0" marL="0">
              <a:lnSpc>
                <a:spcPct val="115000"/>
              </a:lnSpc>
              <a:buNone/>
            </a:pPr>
            <a:r>
              <a:rPr lang="en-US" sz="1300" dirty="0">
                <a:solidFill>
                  <a:schemeClr val="bg2"/>
                </a:solidFill>
                <a:latin typeface="+mj-lt" pitchFamily="34" charset="0"/>
                <a:ea typeface="+mj-lt" pitchFamily="34" charset="-122"/>
                <a:cs typeface="+mj-lt" pitchFamily="34" charset="-120"/>
              </a:rPr>
              <a:t># after git clone + npm install</a:t>
            </a:r>
            <a:endParaRPr lang="en-US" sz="1300" dirty="0"/>
          </a:p>
          <a:p>
            <a:pPr indent="0" marL="0">
              <a:lnSpc>
                <a:spcPct val="115000"/>
              </a:lnSpc>
              <a:buNone/>
            </a:pPr>
            <a:r>
              <a:rPr lang="en-US" sz="1300" b="1" dirty="0">
                <a:solidFill>
                  <a:schemeClr val="bg1"/>
                </a:solidFill>
                <a:latin typeface="+mj-lt" pitchFamily="34" charset="0"/>
                <a:ea typeface="+mj-lt" pitchFamily="34" charset="-122"/>
                <a:cs typeface="+mj-lt" pitchFamily="34" charset="-120"/>
              </a:rPr>
              <a:t>$ VITE_AGENTS_URL=https://&lt;tunnel&gt; npm run web</a:t>
            </a:r>
            <a:endParaRPr lang="en-US" sz="1300" dirty="0"/>
          </a:p>
          <a:p>
            <a:pPr indent="0" marL="0">
              <a:lnSpc>
                <a:spcPct val="115000"/>
              </a:lnSpc>
              <a:buNone/>
            </a:pPr>
            <a:r>
              <a:rPr lang="en-US" sz="1300" dirty="0">
                <a:solidFill>
                  <a:schemeClr val="accent1"/>
                </a:solidFill>
                <a:latin typeface="+mj-lt" pitchFamily="34" charset="0"/>
                <a:ea typeface="+mj-lt" pitchFamily="34" charset="-122"/>
                <a:cs typeface="+mj-lt" pitchFamily="34" charset="-120"/>
              </a:rPr>
              <a:t>→ http://localhost:5173/#/market</a:t>
            </a:r>
            <a:endParaRPr lang="en-US" sz="1300" dirty="0"/>
          </a:p>
        </p:txBody>
      </p:sp>
      <p:sp>
        <p:nvSpPr>
          <p:cNvPr id="16" name="Note dot 1"/>
          <p:cNvSpPr/>
          <p:nvPr/>
        </p:nvSpPr>
        <p:spPr>
          <a:xfrm>
            <a:off x="594360" y="4133088"/>
            <a:ext cx="182880" cy="182880"/>
          </a:xfrm>
          <a:prstGeom prst="ellipse">
            <a:avLst/>
          </a:prstGeom>
          <a:solidFill>
            <a:schemeClr val="accent1"/>
          </a:solidFill>
          <a:ln w="12700">
            <a:solidFill>
              <a:schemeClr val="accent1"/>
            </a:solidFill>
            <a:prstDash val="solid"/>
          </a:ln>
        </p:spPr>
      </p:sp>
      <p:sp>
        <p:nvSpPr>
          <p:cNvPr id="17" name="Note 1"/>
          <p:cNvSpPr txBox="1"/>
          <p:nvPr/>
        </p:nvSpPr>
        <p:spPr>
          <a:xfrm>
            <a:off x="960120" y="3977640"/>
            <a:ext cx="10652760" cy="502920"/>
          </a:xfrm>
          <a:prstGeom prst="rect">
            <a:avLst/>
          </a:prstGeom>
          <a:noFill/>
          <a:ln/>
        </p:spPr>
        <p:txBody>
          <a:bodyPr wrap="square" lIns="0" tIns="0" rIns="0" bIns="0" rtlCol="0" anchor="ctr"/>
          <a:lstStyle/>
          <a:p>
            <a:pPr indent="0" marL="0">
              <a:buNone/>
            </a:pPr>
            <a:r>
              <a:rPr lang="en-US" sz="1600" dirty="0">
                <a:solidFill>
                  <a:schemeClr val="bg1"/>
                </a:solidFill>
              </a:rPr>
              <a:t>Browser buyers can be anywhere. Agent buyers need keys from .keys/, so keep them on the seller’s laptop.</a:t>
            </a:r>
            <a:endParaRPr lang="en-US" sz="1600" dirty="0"/>
          </a:p>
        </p:txBody>
      </p:sp>
      <p:sp>
        <p:nvSpPr>
          <p:cNvPr id="18" name="Note dot 2"/>
          <p:cNvSpPr/>
          <p:nvPr/>
        </p:nvSpPr>
        <p:spPr>
          <a:xfrm>
            <a:off x="594360" y="4818888"/>
            <a:ext cx="182880" cy="182880"/>
          </a:xfrm>
          <a:prstGeom prst="ellipse">
            <a:avLst/>
          </a:prstGeom>
          <a:solidFill>
            <a:schemeClr val="accent5"/>
          </a:solidFill>
          <a:ln w="12700">
            <a:solidFill>
              <a:schemeClr val="accent5"/>
            </a:solidFill>
            <a:prstDash val="solid"/>
          </a:ln>
        </p:spPr>
      </p:sp>
      <p:sp>
        <p:nvSpPr>
          <p:cNvPr id="19" name="Note 2"/>
          <p:cNvSpPr txBox="1"/>
          <p:nvPr/>
        </p:nvSpPr>
        <p:spPr>
          <a:xfrm>
            <a:off x="960120" y="4663440"/>
            <a:ext cx="10652760" cy="502920"/>
          </a:xfrm>
          <a:prstGeom prst="rect">
            <a:avLst/>
          </a:prstGeom>
          <a:noFill/>
          <a:ln/>
        </p:spPr>
        <p:txBody>
          <a:bodyPr wrap="square" lIns="0" tIns="0" rIns="0" bIns="0" rtlCol="0" anchor="ctr"/>
          <a:lstStyle/>
          <a:p>
            <a:pPr indent="0" marL="0">
              <a:buNone/>
            </a:pPr>
            <a:r>
              <a:rPr lang="en-US" sz="1600" dirty="0">
                <a:solidFill>
                  <a:schemeClr val="bg1"/>
                </a:solidFill>
              </a:rPr>
              <a:t>Hosting the site somewhere else? Allow its origin on the seller: WEB_ORIGINS=https://your.site,http://localhost:5173</a:t>
            </a:r>
            <a:endParaRPr lang="en-US" sz="1600" dirty="0"/>
          </a:p>
        </p:txBody>
      </p:sp>
      <p:sp>
        <p:nvSpPr>
          <p:cNvPr id="20" name="Note dot 3"/>
          <p:cNvSpPr/>
          <p:nvPr/>
        </p:nvSpPr>
        <p:spPr>
          <a:xfrm>
            <a:off x="594360" y="5504688"/>
            <a:ext cx="182880" cy="182880"/>
          </a:xfrm>
          <a:prstGeom prst="ellipse">
            <a:avLst/>
          </a:prstGeom>
          <a:solidFill>
            <a:schemeClr val="accent3"/>
          </a:solidFill>
          <a:ln w="12700">
            <a:solidFill>
              <a:schemeClr val="accent3"/>
            </a:solidFill>
            <a:prstDash val="solid"/>
          </a:ln>
        </p:spPr>
      </p:sp>
      <p:sp>
        <p:nvSpPr>
          <p:cNvPr id="21" name="Note 3"/>
          <p:cNvSpPr txBox="1"/>
          <p:nvPr/>
        </p:nvSpPr>
        <p:spPr>
          <a:xfrm>
            <a:off x="960120" y="5349240"/>
            <a:ext cx="10652760" cy="502920"/>
          </a:xfrm>
          <a:prstGeom prst="rect">
            <a:avLst/>
          </a:prstGeom>
          <a:noFill/>
          <a:ln/>
        </p:spPr>
        <p:txBody>
          <a:bodyPr wrap="square" lIns="0" tIns="0" rIns="0" bIns="0" rtlCol="0" anchor="ctr"/>
          <a:lstStyle/>
          <a:p>
            <a:pPr indent="0" marL="0">
              <a:buNone/>
            </a:pPr>
            <a:r>
              <a:rPr lang="en-US" sz="1600" dirty="0">
                <a:solidFill>
                  <a:schemeClr val="bg1"/>
                </a:solidFill>
              </a:rPr>
              <a:t>Windows PowerShell: set variables first, e.g. $env:AGENT_HOST="https://…", then run npm run agents.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mj-lt" pitchFamily="34" charset="0"/>
                <a:ea typeface="+mj-lt" pitchFamily="34" charset="-122"/>
                <a:cs typeface="+mj-lt" pitchFamily="34" charset="-120"/>
              </a:rPr>
              <a:t>// TROUBLESHOOTING</a:t>
            </a:r>
            <a:endParaRPr lang="en-US" sz="12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600" b="1" dirty="0">
                <a:solidFill>
                  <a:schemeClr val="bg1"/>
                </a:solidFill>
              </a:rPr>
              <a:t>this is fine 🔥🐶</a:t>
            </a:r>
            <a:endParaRPr lang="en-US" sz="3600" dirty="0"/>
          </a:p>
        </p:txBody>
      </p:sp>
      <p:graphicFrame>
        <p:nvGraphicFramePr>
          <p:cNvPr id="17" name="Troubleshooting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4206240"/>
                <a:gridCol w="6885432"/>
              </a:tblGrid>
              <a:tr h="457200">
                <a:tc>
                  <a:txBody>
                    <a:bodyPr/>
                    <a:lstStyle/>
                    <a:p>
                      <a:pPr indent="0" marL="0">
                        <a:buNone/>
                      </a:pPr>
                      <a:r>
                        <a:rPr lang="en-US" sz="1500" b="1" dirty="0">
                          <a:solidFill>
                            <a:schemeClr val="accent3"/>
                          </a:solidFill>
                          <a:latin typeface="+mj-lt" pitchFamily="34" charset="0"/>
                          <a:ea typeface="+mj-lt" pitchFamily="34" charset="-122"/>
                          <a:cs typeface="+mj-lt" pitchFamily="34" charset="-120"/>
                        </a:rPr>
                        <a:t>symptom 😵</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b="1" dirty="0">
                          <a:solidFill>
                            <a:schemeClr val="accent1"/>
                          </a:solidFill>
                          <a:latin typeface="+mj-lt" pitchFamily="34" charset="0"/>
                          <a:ea typeface="+mj-lt" pitchFamily="34" charset="-122"/>
                          <a:cs typeface="+mj-lt" pitchFamily="34" charset="-120"/>
                        </a:rPr>
                        <a:t>fix 🛠️</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“devnet · unreachable” in the nav</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The public RPC is rate-limiting. Wait, or start the site with VITE_RPC_URLS=&lt;your devnet RPC&gt;.</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Market: “agents are not reachable”</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Start npm run agents, or point VITE_AGENTS_URL at the seller.</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“the demo faucet is out of test USDC”</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Make a few npm run buy purchases (shop takings refill it), or use faucet.circle.com.</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Wallet shows 0 USDC or won’t sign</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Switch the wallet to devnet and reload the page.</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setup:devnet fails on a transfer</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Your CLI wallet needs more devnet SOL or USDC. Top up and re-run; it’s idempotent.</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bg1"/>
                          </a:solidFill>
                          <a:latin typeface="+mj-lt" pitchFamily="34" charset="0"/>
                          <a:ea typeface="+mj-lt" pitchFamily="34" charset="-122"/>
                          <a:cs typeface="+mj-lt" pitchFamily="34" charset="-120"/>
                        </a:rPr>
                        <a:t>Disputes never resolve</a:t>
                      </a:r>
                      <a:endParaRPr lang="en-US" sz="1500" dirty="0">
                        <a:latin typeface="+mj-lt" charset="0"/>
                        <a:ea typeface="+mj-lt" charset="0"/>
                        <a:cs typeface="+mj-lt" charset="0"/>
                      </a:endParaRPr>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c>
                  <a:txBody>
                    <a:bodyPr/>
                    <a:lstStyle/>
                    <a:p>
                      <a:pPr indent="0" marL="0">
                        <a:buNone/>
                      </a:pPr>
                      <a:r>
                        <a:rPr lang="en-US" sz="1500" dirty="0">
                          <a:solidFill>
                            <a:schemeClr val="bg2"/>
                          </a:solidFill>
                        </a:rPr>
                        <a:t>Your .keys/arbiter.json isn’t the arbiter in the on-chain config; only the config authority can change it.</a:t>
                      </a:r>
                      <a:endParaRPr lang="en-US" sz="1500" dirty="0"/>
                    </a:p>
                  </a:txBody>
                  <a:tcPr marL="91440" marR="91440" marT="91440" marB="91440" anchor="ctr">
                    <a:lnL w="12700" cap="flat" cmpd="sng" algn="ctr">
                      <a:solidFill>
                        <a:srgbClr val="9945FF"/>
                      </a:solidFill>
                      <a:prstDash val="solid"/>
                      <a:round/>
                      <a:headEnd type="none" w="med" len="med"/>
                      <a:tailEnd type="none" w="med" len="med"/>
                    </a:lnL>
                    <a:lnR w="12700" cap="flat" cmpd="sng" algn="ctr">
                      <a:solidFill>
                        <a:srgbClr val="9945FF"/>
                      </a:solidFill>
                      <a:prstDash val="solid"/>
                      <a:round/>
                      <a:headEnd type="none" w="med" len="med"/>
                      <a:tailEnd type="none" w="med" len="med"/>
                    </a:lnR>
                    <a:lnT w="12700" cap="flat" cmpd="sng" algn="ctr">
                      <a:solidFill>
                        <a:srgbClr val="9945FF"/>
                      </a:solidFill>
                      <a:prstDash val="solid"/>
                      <a:round/>
                      <a:headEnd type="none" w="med" len="med"/>
                      <a:tailEnd type="none" w="med" len="med"/>
                    </a:lnT>
                    <a:lnB w="12700" cap="flat" cmpd="sng" algn="ctr">
                      <a:solidFill>
                        <a:srgbClr val="9945FF"/>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731520" y="502920"/>
            <a:ext cx="822960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 CHEAT SHEET</a:t>
            </a:r>
            <a:endParaRPr lang="en-US" sz="1400" dirty="0"/>
          </a:p>
        </p:txBody>
      </p:sp>
      <p:sp>
        <p:nvSpPr>
          <p:cNvPr id="3" name="Text 0"/>
          <p:cNvSpPr/>
          <p:nvPr>
            <p:ph idx="100" type="title" hasCustomPrompt="1"/>
          </p:nvPr>
        </p:nvSpPr>
        <p:spPr>
          <a:xfrm>
            <a:off x="731520" y="868680"/>
            <a:ext cx="10698480" cy="1005840"/>
          </a:xfrm>
          <a:prstGeom prst="rect">
            <a:avLst/>
          </a:prstGeom>
          <a:noFill/>
          <a:ln/>
        </p:spPr>
        <p:txBody>
          <a:bodyPr wrap="square" lIns="0" tIns="0" rIns="0" bIns="0" rtlCol="0" anchor="ctr"/>
          <a:lstStyle/>
          <a:p>
            <a:pPr algn="l" indent="0" marL="0">
              <a:buNone/>
            </a:pPr>
            <a:r>
              <a:rPr lang="en-US" sz="5400" b="1" dirty="0">
                <a:solidFill>
                  <a:schemeClr val="bg1"/>
                </a:solidFill>
              </a:rPr>
              <a:t>gm, market maker</a:t>
            </a:r>
            <a:endParaRPr lang="en-US" sz="5400" dirty="0"/>
          </a:p>
        </p:txBody>
      </p:sp>
      <p:sp>
        <p:nvSpPr>
          <p:cNvPr id="4" name="Text 0"/>
          <p:cNvSpPr/>
          <p:nvPr>
            <p:ph idx="101" type="body" hasCustomPrompt="1"/>
          </p:nvPr>
        </p:nvSpPr>
        <p:spPr>
          <a:xfrm>
            <a:off x="731520" y="1920240"/>
            <a:ext cx="10698480" cy="502920"/>
          </a:xfrm>
          <a:prstGeom prst="rect">
            <a:avLst/>
          </a:prstGeom>
          <a:noFill/>
          <a:ln/>
        </p:spPr>
        <p:txBody>
          <a:bodyPr wrap="square" lIns="0" tIns="0" rIns="0" bIns="0" rtlCol="0" anchor="t"/>
          <a:lstStyle/>
          <a:p>
            <a:pPr algn="l" indent="0" marL="0">
              <a:buNone/>
            </a:pPr>
            <a:r>
              <a:rPr lang="en-US" sz="2400" dirty="0">
                <a:solidFill>
                  <a:schemeClr val="accent1"/>
                </a:solidFill>
              </a:rPr>
              <a:t>you just ran both sides of an x402 market. wagmi 🫡</a:t>
            </a:r>
            <a:endParaRPr lang="en-US" sz="2400" dirty="0"/>
          </a:p>
        </p:txBody>
      </p:sp>
      <p:sp>
        <p:nvSpPr>
          <p:cNvPr id="5" name="Terminal"/>
          <p:cNvSpPr/>
          <p:nvPr/>
        </p:nvSpPr>
        <p:spPr>
          <a:xfrm>
            <a:off x="731520" y="2743200"/>
            <a:ext cx="10725912" cy="3017520"/>
          </a:xfrm>
          <a:prstGeom prst="roundRect">
            <a:avLst>
              <a:gd name="adj" fmla="val 4242"/>
            </a:avLst>
          </a:prstGeom>
          <a:solidFill>
            <a:schemeClr val="tx2"/>
          </a:solidFill>
          <a:ln w="12700">
            <a:solidFill>
              <a:schemeClr val="accent2">
                <a:alpha val="45000"/>
              </a:schemeClr>
            </a:solidFill>
            <a:prstDash val="solid"/>
          </a:ln>
          <a:effectLst>
            <a:outerShdw sx="100000" sy="100000" kx="0" ky="0" algn="bl" rotWithShape="0" blurRad="228600" dist="50800" dir="5400000">
              <a:srgbClr val="9945FF">
                <a:alpha val="35000"/>
              </a:srgbClr>
            </a:outerShdw>
          </a:effectLst>
        </p:spPr>
      </p:sp>
      <p:sp>
        <p:nvSpPr>
          <p:cNvPr id="6" name="Terminal dot 1"/>
          <p:cNvSpPr/>
          <p:nvPr/>
        </p:nvSpPr>
        <p:spPr>
          <a:xfrm>
            <a:off x="932688" y="2898648"/>
            <a:ext cx="118872" cy="118872"/>
          </a:xfrm>
          <a:prstGeom prst="ellipse">
            <a:avLst/>
          </a:prstGeom>
          <a:solidFill>
            <a:schemeClr val="accent6"/>
          </a:solidFill>
          <a:ln w="12700">
            <a:solidFill>
              <a:schemeClr val="accent6"/>
            </a:solidFill>
            <a:prstDash val="solid"/>
          </a:ln>
        </p:spPr>
      </p:sp>
      <p:sp>
        <p:nvSpPr>
          <p:cNvPr id="7" name="Terminal dot 2"/>
          <p:cNvSpPr/>
          <p:nvPr/>
        </p:nvSpPr>
        <p:spPr>
          <a:xfrm>
            <a:off x="1133856" y="2898648"/>
            <a:ext cx="118872" cy="118872"/>
          </a:xfrm>
          <a:prstGeom prst="ellipse">
            <a:avLst/>
          </a:prstGeom>
          <a:solidFill>
            <a:schemeClr val="accent3"/>
          </a:solidFill>
          <a:ln w="12700">
            <a:solidFill>
              <a:schemeClr val="accent3"/>
            </a:solidFill>
            <a:prstDash val="solid"/>
          </a:ln>
        </p:spPr>
      </p:sp>
      <p:sp>
        <p:nvSpPr>
          <p:cNvPr id="8" name="Terminal dot 3"/>
          <p:cNvSpPr/>
          <p:nvPr/>
        </p:nvSpPr>
        <p:spPr>
          <a:xfrm>
            <a:off x="1335024" y="2898648"/>
            <a:ext cx="118872" cy="118872"/>
          </a:xfrm>
          <a:prstGeom prst="ellipse">
            <a:avLst/>
          </a:prstGeom>
          <a:solidFill>
            <a:schemeClr val="accent1"/>
          </a:solidFill>
          <a:ln w="12700">
            <a:solidFill>
              <a:schemeClr val="accent1"/>
            </a:solidFill>
            <a:prstDash val="solid"/>
          </a:ln>
        </p:spPr>
      </p:sp>
      <p:sp>
        <p:nvSpPr>
          <p:cNvPr id="9" name="Terminal label"/>
          <p:cNvSpPr txBox="1"/>
          <p:nvPr/>
        </p:nvSpPr>
        <p:spPr>
          <a:xfrm>
            <a:off x="1600200" y="2825496"/>
            <a:ext cx="9628632" cy="256032"/>
          </a:xfrm>
          <a:prstGeom prst="rect">
            <a:avLst/>
          </a:prstGeom>
          <a:noFill/>
          <a:ln/>
        </p:spPr>
        <p:txBody>
          <a:bodyPr wrap="square" lIns="0" tIns="0" rIns="0" bIns="0" rtlCol="0" anchor="ctr"/>
          <a:lstStyle/>
          <a:p>
            <a:pPr indent="0" marL="0">
              <a:buNone/>
            </a:pPr>
            <a:r>
              <a:rPr lang="en-US" sz="1000" dirty="0">
                <a:solidFill>
                  <a:schemeClr val="bg2"/>
                </a:solidFill>
                <a:latin typeface="+mj-lt" pitchFamily="34" charset="0"/>
                <a:ea typeface="+mj-lt" pitchFamily="34" charset="-122"/>
                <a:cs typeface="+mj-lt" pitchFamily="34" charset="-120"/>
              </a:rPr>
              <a:t>everything, in order</a:t>
            </a:r>
            <a:endParaRPr lang="en-US" sz="1000" dirty="0"/>
          </a:p>
        </p:txBody>
      </p:sp>
      <p:sp>
        <p:nvSpPr>
          <p:cNvPr id="10" name="Terminal text"/>
          <p:cNvSpPr txBox="1"/>
          <p:nvPr/>
        </p:nvSpPr>
        <p:spPr>
          <a:xfrm>
            <a:off x="1005840" y="3182112"/>
            <a:ext cx="10222992" cy="246888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latin typeface="+mj-lt" pitchFamily="34" charset="0"/>
                <a:ea typeface="+mj-lt" pitchFamily="34" charset="-122"/>
                <a:cs typeface="+mj-lt" pitchFamily="34" charset="-120"/>
              </a:rPr>
              <a:t>$ git clone https://github.com/edison9733/agentic_commerce.git &amp;&amp; cd agentic_commerce</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install</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setup:devnet        # seller, once</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agents              # seller → :4020</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web                 # anyone → localhost:5173</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buy -w @tessera/agents -- --buyer scout --merchant atlas --mode x402</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api                 # agents → :4030, then:</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tessera -- find text summary   # who to buy from</a:t>
            </a:r>
            <a:endParaRPr lang="en-US" sz="1400" dirty="0"/>
          </a:p>
          <a:p>
            <a:pPr indent="0" marL="0">
              <a:lnSpc>
                <a:spcPct val="115000"/>
              </a:lnSpc>
              <a:buNone/>
            </a:pPr>
            <a:r>
              <a:rPr lang="en-US" sz="1400" b="1" dirty="0">
                <a:solidFill>
                  <a:schemeClr val="bg1"/>
                </a:solidFill>
                <a:latin typeface="+mj-lt" pitchFamily="34" charset="0"/>
                <a:ea typeface="+mj-lt" pitchFamily="34" charset="-122"/>
                <a:cs typeface="+mj-lt" pitchFamily="34" charset="-120"/>
              </a:rPr>
              <a:t>$ npm run swarm               # make it busy</a:t>
            </a:r>
            <a:endParaRPr lang="en-US" sz="1400" dirty="0"/>
          </a:p>
        </p:txBody>
      </p:sp>
    </p:spTree>
  </p:cSld>
  <p:clrMapOvr>
    <a:masterClrMapping/>
  </p:clrMapOvr>
</p:sld>
</file>

<file path=ppt/theme/theme1.xml><?xml version="1.0" encoding="utf-8"?>
<a:theme xmlns:a="http://schemas.openxmlformats.org/drawingml/2006/main" name="Tessera Degen">
  <a:themeElements>
    <a:clrScheme name="Tessera Degen">
      <a:dk1>
        <a:srgbClr val="0D0B1A"/>
      </a:dk1>
      <a:lt1>
        <a:srgbClr val="FFFFFF"/>
      </a:lt1>
      <a:dk2>
        <a:srgbClr val="1B1733"/>
      </a:dk2>
      <a:lt2>
        <a:srgbClr val="A9A4C9"/>
      </a:lt2>
      <a:accent1>
        <a:srgbClr val="14F195"/>
      </a:accent1>
      <a:accent2>
        <a:srgbClr val="9945FF"/>
      </a:accent2>
      <a:accent3>
        <a:srgbClr val="FFD23F"/>
      </a:accent3>
      <a:accent4>
        <a:srgbClr val="FF4F9A"/>
      </a:accent4>
      <a:accent5>
        <a:srgbClr val="00C2FF"/>
      </a:accent5>
      <a:accent6>
        <a:srgbClr val="FF5A4E"/>
      </a:accent6>
      <a:hlink>
        <a:srgbClr val="14F195"/>
      </a:hlink>
      <a:folHlink>
        <a:srgbClr val="C79BFF"/>
      </a:folHlink>
    </a:clrScheme>
    <a:fontScheme name="Tessera Degen">
      <a:majorFont>
        <a:latin typeface="Courier Ne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Tessera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clone → gm: Tessera buyer and seller playbook</dc:title>
  <dc:subject>Step-by-step: download Tessera, run the seller, buy over x402, and watch every transaction live on devnet</dc:subject>
  <dc:creator>Edison Liu</dc:creator>
  <cp:lastModifiedBy>Edison Liu</cp:lastModifiedBy>
  <cp:revision>1</cp:revision>
  <dcterms:created xsi:type="dcterms:W3CDTF">2026-10-09T11:00:54Z</dcterms:created>
  <dcterms:modified xsi:type="dcterms:W3CDTF">2026-10-09T11:00:54Z</dcterms:modified>
</cp:coreProperties>
</file>