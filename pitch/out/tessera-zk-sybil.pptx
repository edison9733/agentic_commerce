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m" id="{ed526c25-37ef-a54b-764c-f89224129b3b}">
          <p14:sldIdLst>
            <p14:sldId id="256"/>
            <p14:sldId id="257"/>
          </p14:sldIdLst>
        </p14:section>
        <p14:section name="The problem" id="{c982f0ce-77b1-7f6f-7fd1-0de56b19b9b0}">
          <p14:sldIdLst>
            <p14:sldId id="258"/>
            <p14:sldId id="259"/>
          </p14:sldIdLst>
        </p14:section>
        <p14:section name="The mechanism" id="{8b7de13b-73d4-f0d3-2877-1681124703d4}">
          <p14:sldIdLst>
            <p14:sldId id="260"/>
            <p14:sldId id="261"/>
            <p14:sldId id="262"/>
          </p14:sldIdLst>
        </p14:section>
        <p14:section name="Impact" id="{ff15aab2-025f-db3a-201d-393c9d2ef46d}">
          <p14:sldIdLst>
            <p14:sldId id="263"/>
            <p14:sldId id="264"/>
            <p14:sldId id="265"/>
          </p14:sldIdLst>
        </p14:section>
        <p14:section name="Reality check" id="{930b41f0-06e1-4357-7718-9366ff3e6c0e}">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deck: answer "can Tessera use zk proofs against Sybil attacks?" and show exactly where they would plug in. Short version: yes, and it closes the two holes Tessera's own security doc lists as open. Nothing here is built yet; it is a design for after the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zk fits Tessera. docs/SECURITY.md marks two attacks as only partly handled: C2, large rings of wallets run by one operator, and C12, whitewashing (abandoning a penalised wallet for a fresh one). Both are open for the same reason: the chain cannot tell that many wallets belong to one person. A zero-knowledge proof of personhood lets the program know that, without learning who the person is. Timing: the deadline is 12 October. Present this as the v2 roadmap, not as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Sybil attack is one person pretending to be many. On-chain a new wallet is free, so it is the default attack on any reputation system. Tessera already prices it: new wallets count for 10%, each pair is capped, and Trusted needs 30 active days. The numbers are from docs/SCORING.md: rings of 3 or 6 wallets never reach Trusted in a simulated year; 8 wallets reach it on day 83 and 21 by day 30, for a small net profit. The screenshot is the real devnet graph: washer and its three sock puppets form their own little island. The program makes it expensive; it cannot see that the four wallets are one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way to stop Sybils is KYC: collect documents, keep them, and link wallets to legal names. That creates a honeypot and kills pseudonymity, which agent builders and crypto users will not accept. A zero-knowledge proof flips it: the person proves membership in a group of verified humans, and the contract learns only that they are a member who has not used this slot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Semaphore pattern. 1: a trusted issuer verifies a person once and adds their identity commitment to a group, a Merkle tree. 2: when the person wants to act, their device proves in zero knowledge that their commitment is in the tree, without revealing which one. 3: the proof also outputs a nullifier, a hash of the person's secret and the action's scope, so the same person always gets the same nullifier for the same scope. 4: the contract checks the proof, that the Merkle root is one it accepts, and that the nullifier has not been used. 5: one human gets one slot; a thousand wallets controlled by one human all produce the same nullifier. Semaphore proofs are Groth16 over BN254, and Solana has native syscalls for that curve, so verifying them on-chain is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trick is one line: nullifier = Poseidon(secret, scope). Poseidon is a hash that is cheap inside zk circuits. The scope is public and fixed per application, for example "tessera/operator/v1". Same secret and same scope always give the same nullifier, so a second registration reverts. A different application uses a different scope, so the nullifiers cannot be linked across apps. The message field binds the proof to the wallet submitting it, which stops someone copying a proof from the mempool.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Tessera would gain one account type and three instructions. The issuer verifies people off-chain and posts the Merkle root of its group to the Config with post_root. The user's browser builds a Semaphore proof. prove_operator checks the Groth16 proof on-chain, using a verifier crate such as Light Protocol's groth16-solana, which uses Solana's alt_bn128 syscalls. If it passes, the program creates an Operator account whose address is derived from the nullifier, so a second one for the same person cannot exist. link_agent then attaches agent wallets to the operator, signed by both. The x402 payment, the escrow and the order lifecycle do not change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rule changes, all inside the existing score code. One: an order between two agents of the same operator earns no credit, so a ring run by one person gets nothing; faking a ring would need many distinct verified people. Two: a lost dispute also penalises the operator, and any new agent linked to it inherits the penalty, which ends whitewashing. Three: Trusted, and the instant-settlement limit, require a verified operator and are counted per operator, so an exit scam is capped once per person instead of once per wallet. Keep it opt-in: unverified wallets behave as today but cannot reach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joke slide, but it is the real progression. Counting wallets is trivially farmed. Counting volume invites wash trading. Tessera today weights evidence by who the counterparty is, caps it per pair and gates it on time, which makes farming expensive. Adding a nullifier per human removes the cheapest attack, many wallets for one person, without anyone learning who the person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becomes public: that an operator exists, which agents belong to it, and the same order and review data Tessera already publishes. What stays private: the person's identity and documents, and any link to their activity in other applications, because each app uses its own scope. The honest trade-off is that agents under one operator can be linked to each other. That is the purpose: the reputation follows the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stated plainly. Garbage in, garbage out: zk proves a statement about the data, not that the original check was honest; rented or bought identities pass. The issuer is still a central point: zk reduces what is revealed, not who had to verify you. Cost: proof generation takes seconds on the client, and on-chain verification is a Groth16 check that fits in one transaction but uses far more compute than a transfer. Trusted setup: use Semaphore's published ceremony keys. Circuit bugs can break soundness silently, so use audited circuits unchanged and test the on-chain checks as attacks. Finally, agents are not people: the unit has to be the operator, a person or a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deadline is 12 October. Building a verifier, a new account type and the tests in five days would put the rest of the submission at risk, so pitch it as the next step. After the hackathon: the Operator account and prove_operator with Semaphore's verifying keys, and the same-operator rule. Then the attack tests in the local suite: a reused nullifier, a stale root, a proof bound to another wallet, linking an agent without its signature. Then per-operator penalties and limits, multiple issuers, and an audit before any real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zk proofs solve the privacy half of the Sybil problem for Tessera, proving an operator is unique without revealing who they are. They do not solve the trust half: someone still has to check that the person is real. Ship after the hackathon, with the attack tests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LOSER-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10698480" cy="146304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731520" y="3474720"/>
            <a:ext cx="10698480" cy="822960"/>
          </a:xfrm>
          <a:prstGeom prst="rect">
            <a:avLst/>
          </a:prstGeom>
          <a:noFill/>
          <a:ln/>
        </p:spPr>
        <p:txBody>
          <a:bodyPr wrap="square" rtlCol="0"/>
          <a:lstStyle>
            <a:lvl1pPr algn="l" indent="0" marL="0">
              <a:buNone/>
              <a:defRPr lang="en-US" sz="2600" dirty="0">
                <a:solidFill>
                  <a:schemeClr val="accent1"/>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69848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1920240"/>
            <a:ext cx="10698480" cy="50292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spc="100" kern="0" dirty="0">
                <a:solidFill>
                  <a:schemeClr val="bg2"/>
                </a:solidFill>
                <a:latin typeface="+mj-lt" pitchFamily="34" charset="0"/>
                <a:ea typeface="+mj-lt" pitchFamily="34" charset="-122"/>
                <a:cs typeface="+mj-lt" pitchFamily="34" charset="-120"/>
              </a:rPr>
              <a:t>TESSERA · ZK R&amp;D · NFA, DYOR</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1371600"/>
            <a:ext cx="8229600" cy="320040"/>
          </a:xfrm>
          <a:prstGeom prst="rect">
            <a:avLst/>
          </a:prstGeom>
          <a:noFill/>
          <a:ln/>
        </p:spPr>
        <p:txBody>
          <a:bodyPr wrap="square" lIns="0" tIns="0" rIns="0" bIns="0" rtlCol="0" anchor="t"/>
          <a:lstStyle/>
          <a:p>
            <a:pPr indent="0" marL="0">
              <a:buNone/>
            </a:pPr>
            <a:r>
              <a:rPr lang="en-US" sz="1400" b="1" spc="300" kern="0" dirty="0">
                <a:solidFill>
                  <a:schemeClr val="accent1"/>
                </a:solidFill>
                <a:latin typeface="+mj-lt" pitchFamily="34" charset="0"/>
                <a:ea typeface="+mj-lt" pitchFamily="34" charset="-122"/>
                <a:cs typeface="+mj-lt" pitchFamily="34" charset="-120"/>
              </a:rPr>
              <a:t>TESSERA · R&amp;D DROP · NOT FINANCIAL ADVICE</a:t>
            </a:r>
            <a:endParaRPr lang="en-US" sz="1400" dirty="0"/>
          </a:p>
        </p:txBody>
      </p:sp>
      <p:sp>
        <p:nvSpPr>
          <p:cNvPr id="3" name="Text 0"/>
          <p:cNvSpPr/>
          <p:nvPr>
            <p:ph idx="100" type="title" hasCustomPrompt="1"/>
          </p:nvPr>
        </p:nvSpPr>
        <p:spPr>
          <a:xfrm>
            <a:off x="731520" y="1874520"/>
            <a:ext cx="10698480" cy="1463040"/>
          </a:xfrm>
          <a:prstGeom prst="rect">
            <a:avLst/>
          </a:prstGeom>
          <a:noFill/>
          <a:ln/>
        </p:spPr>
        <p:txBody>
          <a:bodyPr wrap="square" lIns="0" tIns="0" rIns="0" bIns="0" rtlCol="0" anchor="b"/>
          <a:lstStyle/>
          <a:p>
            <a:pPr algn="l" indent="0" marL="0">
              <a:buNone/>
            </a:pPr>
            <a:r>
              <a:rPr lang="en-US" sz="6600" b="1" dirty="0">
                <a:solidFill>
                  <a:schemeClr val="bg1"/>
                </a:solidFill>
              </a:rPr>
              <a:t>zk or ngmi</a:t>
            </a:r>
            <a:endParaRPr lang="en-US" sz="6600" dirty="0"/>
          </a:p>
        </p:txBody>
      </p:sp>
      <p:sp>
        <p:nvSpPr>
          <p:cNvPr id="4" name="Text 0"/>
          <p:cNvSpPr/>
          <p:nvPr>
            <p:ph idx="101" type="body" hasCustomPrompt="1"/>
          </p:nvPr>
        </p:nvSpPr>
        <p:spPr>
          <a:xfrm>
            <a:off x="731520" y="3474720"/>
            <a:ext cx="10698480" cy="822960"/>
          </a:xfrm>
          <a:prstGeom prst="rect">
            <a:avLst/>
          </a:prstGeom>
          <a:noFill/>
          <a:ln/>
        </p:spPr>
        <p:txBody>
          <a:bodyPr wrap="square" lIns="0" tIns="0" rIns="0" bIns="0" rtlCol="0" anchor="t"/>
          <a:lstStyle/>
          <a:p>
            <a:pPr algn="l" indent="0" marL="0">
              <a:buNone/>
            </a:pPr>
            <a:r>
              <a:rPr lang="en-US" sz="2600" dirty="0">
                <a:solidFill>
                  <a:schemeClr val="accent1"/>
                </a:solidFill>
              </a:rPr>
              <a:t>Sybil-proofing Tessera without doxxing a single anon</a:t>
            </a:r>
            <a:endParaRPr lang="en-US" sz="2600" dirty="0"/>
          </a:p>
        </p:txBody>
      </p:sp>
      <p:sp>
        <p:nvSpPr>
          <p:cNvPr id="5" name="Tagline"/>
          <p:cNvSpPr txBox="1"/>
          <p:nvPr/>
        </p:nvSpPr>
        <p:spPr>
          <a:xfrm>
            <a:off x="731520" y="4343400"/>
            <a:ext cx="10515600" cy="457200"/>
          </a:xfrm>
          <a:prstGeom prst="rect">
            <a:avLst/>
          </a:prstGeom>
          <a:noFill/>
          <a:ln/>
        </p:spPr>
        <p:txBody>
          <a:bodyPr wrap="square" lIns="0" tIns="0" rIns="0" bIns="0" rtlCol="0" anchor="t"/>
          <a:lstStyle/>
          <a:p>
            <a:pPr indent="0" marL="0">
              <a:buNone/>
            </a:pPr>
            <a:r>
              <a:rPr lang="en-US" sz="2000" dirty="0">
                <a:solidFill>
                  <a:schemeClr val="bg2"/>
                </a:solidFill>
              </a:rPr>
              <a:t>gm. today: how 1,000 wallets in a trench coat get caught by one nullifier 🧥</a:t>
            </a:r>
            <a:endParaRPr lang="en-US" sz="2000" dirty="0"/>
          </a:p>
        </p:txBody>
      </p:sp>
      <p:sp>
        <p:nvSpPr>
          <p:cNvPr id="6" name="Byline"/>
          <p:cNvSpPr txBox="1"/>
          <p:nvPr/>
        </p:nvSpPr>
        <p:spPr>
          <a:xfrm>
            <a:off x="731520" y="5989320"/>
            <a:ext cx="8229600" cy="320040"/>
          </a:xfrm>
          <a:prstGeom prst="rect">
            <a:avLst/>
          </a:prstGeom>
          <a:noFill/>
          <a:ln/>
        </p:spPr>
        <p:txBody>
          <a:bodyPr wrap="square" lIns="0" tIns="0" rIns="0" bIns="0" rtlCol="0" anchor="t"/>
          <a:lstStyle/>
          <a:p>
            <a:pPr indent="0" marL="0">
              <a:buNone/>
            </a:pPr>
            <a:r>
              <a:rPr lang="en-US" sz="1200" dirty="0">
                <a:solidFill>
                  <a:schemeClr val="bg2"/>
                </a:solidFill>
                <a:latin typeface="+mj-lt" pitchFamily="34" charset="0"/>
                <a:ea typeface="+mj-lt" pitchFamily="34" charset="-122"/>
                <a:cs typeface="+mj-lt" pitchFamily="34" charset="-120"/>
              </a:rPr>
              <a:t>Edison Liu · Tessera · Colosseum Crypto World’s Fair · Oct 2026</a:t>
            </a:r>
            <a:endParaRPr lang="en-US" sz="1200" dirty="0"/>
          </a:p>
        </p:txBody>
      </p:sp>
      <p:sp>
        <p:nvSpPr>
          <p:cNvPr id="7" name="Icon chip"/>
          <p:cNvSpPr/>
          <p:nvPr/>
        </p:nvSpPr>
        <p:spPr>
          <a:xfrm>
            <a:off x="9646920" y="502920"/>
            <a:ext cx="1463040" cy="1463040"/>
          </a:xfrm>
          <a:prstGeom prst="ellipse">
            <a:avLst/>
          </a:prstGeom>
          <a:solidFill>
            <a:schemeClr val="accent1">
              <a:alpha val="22000"/>
            </a:schemeClr>
          </a:solidFill>
          <a:ln w="12700">
            <a:solidFill>
              <a:schemeClr val="accent1">
                <a:alpha val="70000"/>
              </a:schemeClr>
            </a:solidFill>
            <a:prstDash val="solid"/>
          </a:ln>
        </p:spPr>
      </p:sp>
      <p:pic>
        <p:nvPicPr>
          <p:cNvPr id="8" name="Icon" descr="preencoded.png">    </p:cNvPr>
          <p:cNvPicPr>
            <a:picLocks noChangeAspect="1"/>
          </p:cNvPicPr>
          <p:nvPr/>
        </p:nvPicPr>
        <p:blipFill>
          <a:blip r:embed="rId1"/>
          <a:stretch>
            <a:fillRect/>
          </a:stretch>
        </p:blipFill>
        <p:spPr>
          <a:xfrm>
            <a:off x="10012680" y="868680"/>
            <a:ext cx="73152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THE SHORT ANSWER</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ser, can I use zk on Tessera?</a:t>
            </a:r>
            <a:endParaRPr lang="en-US" sz="3600" dirty="0"/>
          </a:p>
        </p:txBody>
      </p:sp>
      <p:sp>
        <p:nvSpPr>
          <p:cNvPr id="4" name="Big yes"/>
          <p:cNvSpPr txBox="1"/>
          <p:nvPr/>
        </p:nvSpPr>
        <p:spPr>
          <a:xfrm>
            <a:off x="548640" y="1600200"/>
            <a:ext cx="4206240" cy="1417320"/>
          </a:xfrm>
          <a:prstGeom prst="rect">
            <a:avLst/>
          </a:prstGeom>
          <a:noFill/>
          <a:ln/>
        </p:spPr>
        <p:txBody>
          <a:bodyPr wrap="square" lIns="0" tIns="0" rIns="0" bIns="0" rtlCol="0" anchor="ctr"/>
          <a:lstStyle/>
          <a:p>
            <a:pPr indent="0" marL="0">
              <a:buNone/>
            </a:pPr>
            <a:r>
              <a:rPr lang="en-US" sz="11000" b="1" dirty="0">
                <a:solidFill>
                  <a:schemeClr val="accent1"/>
                </a:solidFill>
                <a:latin typeface="+mj-lt" pitchFamily="34" charset="0"/>
                <a:ea typeface="+mj-lt" pitchFamily="34" charset="-122"/>
                <a:cs typeface="+mj-lt" pitchFamily="34" charset="-120"/>
              </a:rPr>
              <a:t>YES.</a:t>
            </a:r>
            <a:endParaRPr lang="en-US" sz="11000" dirty="0"/>
          </a:p>
        </p:txBody>
      </p:sp>
      <p:sp>
        <p:nvSpPr>
          <p:cNvPr id="5" name="Caveat"/>
          <p:cNvSpPr txBox="1"/>
          <p:nvPr/>
        </p:nvSpPr>
        <p:spPr>
          <a:xfrm>
            <a:off x="548640" y="3108960"/>
            <a:ext cx="4206240" cy="411480"/>
          </a:xfrm>
          <a:prstGeom prst="rect">
            <a:avLst/>
          </a:prstGeom>
          <a:noFill/>
          <a:ln/>
        </p:spPr>
        <p:txBody>
          <a:bodyPr wrap="square" lIns="0" tIns="0" rIns="0" bIns="0" rtlCol="0" anchor="t"/>
          <a:lstStyle/>
          <a:p>
            <a:pPr indent="0" marL="0">
              <a:buNone/>
            </a:pPr>
            <a:r>
              <a:rPr lang="en-US" sz="2000" i="1" dirty="0">
                <a:solidFill>
                  <a:schemeClr val="accent3"/>
                </a:solidFill>
              </a:rPr>
              <a:t>…but ship it after Oct 12.</a:t>
            </a:r>
            <a:endParaRPr lang="en-US" sz="2000" dirty="0"/>
          </a:p>
        </p:txBody>
      </p:sp>
      <p:sp>
        <p:nvSpPr>
          <p:cNvPr id="6" name="Why"/>
          <p:cNvSpPr txBox="1"/>
          <p:nvPr/>
        </p:nvSpPr>
        <p:spPr>
          <a:xfrm>
            <a:off x="548640" y="3749040"/>
            <a:ext cx="4206240" cy="1463040"/>
          </a:xfrm>
          <a:prstGeom prst="rect">
            <a:avLst/>
          </a:prstGeom>
          <a:noFill/>
          <a:ln/>
        </p:spPr>
        <p:txBody>
          <a:bodyPr wrap="square" lIns="0" tIns="0" rIns="0" bIns="0" rtlCol="0" anchor="t"/>
          <a:lstStyle/>
          <a:p>
            <a:pPr indent="0" marL="0">
              <a:buNone/>
            </a:pPr>
            <a:r>
              <a:rPr lang="en-US" sz="1700" dirty="0">
                <a:solidFill>
                  <a:schemeClr val="bg1"/>
                </a:solidFill>
              </a:rPr>
              <a:t>A zk proof of personhood is the “operator attestation” your own docs/SECURITY.md lists under Still open. It plugs exactly two holes →</a:t>
            </a:r>
            <a:endParaRPr lang="en-US" sz="1700" dirty="0"/>
          </a:p>
        </p:txBody>
      </p:sp>
      <p:sp>
        <p:nvSpPr>
          <p:cNvPr id="7" name="Punchline"/>
          <p:cNvSpPr txBox="1"/>
          <p:nvPr/>
        </p:nvSpPr>
        <p:spPr>
          <a:xfrm>
            <a:off x="548640" y="5532120"/>
            <a:ext cx="4206240" cy="365760"/>
          </a:xfrm>
          <a:prstGeom prst="rect">
            <a:avLst/>
          </a:prstGeom>
          <a:noFill/>
          <a:ln/>
        </p:spPr>
        <p:txBody>
          <a:bodyPr wrap="square" lIns="0" tIns="0" rIns="0" bIns="0" rtlCol="0" anchor="t"/>
          <a:lstStyle/>
          <a:p>
            <a:pPr indent="0" marL="0">
              <a:buNone/>
            </a:pPr>
            <a:r>
              <a:rPr lang="en-US" sz="1400" b="1" dirty="0">
                <a:solidFill>
                  <a:schemeClr val="accent1"/>
                </a:solidFill>
                <a:latin typeface="+mj-lt" pitchFamily="34" charset="0"/>
                <a:ea typeface="+mj-lt" pitchFamily="34" charset="-122"/>
                <a:cs typeface="+mj-lt" pitchFamily="34" charset="-120"/>
              </a:rPr>
              <a:t>zk = attestations, minus the doxxing.</a:t>
            </a:r>
            <a:endParaRPr lang="en-US" sz="1400" dirty="0"/>
          </a:p>
        </p:txBody>
      </p:sp>
      <p:sp>
        <p:nvSpPr>
          <p:cNvPr id="8" name="Hole 1"/>
          <p:cNvSpPr/>
          <p:nvPr/>
        </p:nvSpPr>
        <p:spPr>
          <a:xfrm>
            <a:off x="5120640" y="1600200"/>
            <a:ext cx="6519672" cy="2057400"/>
          </a:xfrm>
          <a:prstGeom prst="roundRect">
            <a:avLst>
              <a:gd name="adj" fmla="val 6222"/>
            </a:avLst>
          </a:prstGeom>
          <a:solidFill>
            <a:schemeClr val="tx2"/>
          </a:solidFill>
          <a:ln w="12700">
            <a:solidFill>
              <a:schemeClr val="accent2">
                <a:alpha val="45000"/>
              </a:schemeClr>
            </a:solidFill>
            <a:prstDash val="solid"/>
          </a:ln>
        </p:spPr>
      </p:sp>
      <p:sp>
        <p:nvSpPr>
          <p:cNvPr id="9" name="Icon chip"/>
          <p:cNvSpPr/>
          <p:nvPr/>
        </p:nvSpPr>
        <p:spPr>
          <a:xfrm>
            <a:off x="5349240" y="1828800"/>
            <a:ext cx="640080" cy="640080"/>
          </a:xfrm>
          <a:prstGeom prst="ellipse">
            <a:avLst/>
          </a:prstGeom>
          <a:solidFill>
            <a:schemeClr val="accent4">
              <a:alpha val="22000"/>
            </a:schemeClr>
          </a:solidFill>
          <a:ln w="12700">
            <a:solidFill>
              <a:schemeClr val="accent4">
                <a:alpha val="70000"/>
              </a:schemeClr>
            </a:solidFill>
            <a:prstDash val="solid"/>
          </a:ln>
        </p:spPr>
      </p:sp>
      <p:pic>
        <p:nvPicPr>
          <p:cNvPr id="10" name="Icon" descr="preencoded.png">    </p:cNvPr>
          <p:cNvPicPr>
            <a:picLocks noChangeAspect="1"/>
          </p:cNvPicPr>
          <p:nvPr/>
        </p:nvPicPr>
        <p:blipFill>
          <a:blip r:embed="rId1"/>
          <a:stretch>
            <a:fillRect/>
          </a:stretch>
        </p:blipFill>
        <p:spPr>
          <a:xfrm>
            <a:off x="5509260" y="1988820"/>
            <a:ext cx="320040" cy="320040"/>
          </a:xfrm>
          <a:prstGeom prst="rect">
            <a:avLst/>
          </a:prstGeom>
        </p:spPr>
      </p:pic>
      <p:sp>
        <p:nvSpPr>
          <p:cNvPr id="11" name="Hole 1 title"/>
          <p:cNvSpPr txBox="1"/>
          <p:nvPr/>
        </p:nvSpPr>
        <p:spPr>
          <a:xfrm>
            <a:off x="6172200" y="1892808"/>
            <a:ext cx="5303520" cy="4572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C2 · big rings  🟡</a:t>
            </a:r>
            <a:endParaRPr lang="en-US" sz="2200" dirty="0"/>
          </a:p>
        </p:txBody>
      </p:sp>
      <p:sp>
        <p:nvSpPr>
          <p:cNvPr id="12" name="Hole 1 body"/>
          <p:cNvSpPr txBox="1"/>
          <p:nvPr/>
        </p:nvSpPr>
        <p:spPr>
          <a:xfrm>
            <a:off x="6172200" y="2423160"/>
            <a:ext cx="5257800" cy="1143000"/>
          </a:xfrm>
          <a:prstGeom prst="rect">
            <a:avLst/>
          </a:prstGeom>
          <a:noFill/>
          <a:ln/>
        </p:spPr>
        <p:txBody>
          <a:bodyPr wrap="square" lIns="0" tIns="0" rIns="0" bIns="0" rtlCol="0" anchor="t"/>
          <a:lstStyle/>
          <a:p>
            <a:pPr indent="0" marL="0">
              <a:buNone/>
            </a:pPr>
            <a:r>
              <a:rPr lang="en-US" sz="1500" dirty="0">
                <a:solidFill>
                  <a:schemeClr val="bg2"/>
                </a:solidFill>
              </a:rPr>
              <a:t>A ring of 8 sock-puppet wallets reaches Trusted on day 83; 21 wallets do it by day 30. Tessera makes the attack cost fees and time, but it can’t see that the wallets are one person.</a:t>
            </a:r>
            <a:endParaRPr lang="en-US" sz="1500" dirty="0"/>
          </a:p>
        </p:txBody>
      </p:sp>
      <p:sp>
        <p:nvSpPr>
          <p:cNvPr id="13" name="Hole 2"/>
          <p:cNvSpPr/>
          <p:nvPr/>
        </p:nvSpPr>
        <p:spPr>
          <a:xfrm>
            <a:off x="5120640" y="3840480"/>
            <a:ext cx="6519672" cy="2057400"/>
          </a:xfrm>
          <a:prstGeom prst="roundRect">
            <a:avLst>
              <a:gd name="adj" fmla="val 6222"/>
            </a:avLst>
          </a:prstGeom>
          <a:solidFill>
            <a:schemeClr val="tx2"/>
          </a:solidFill>
          <a:ln w="12700">
            <a:solidFill>
              <a:schemeClr val="accent2">
                <a:alpha val="45000"/>
              </a:schemeClr>
            </a:solidFill>
            <a:prstDash val="solid"/>
          </a:ln>
        </p:spPr>
      </p:sp>
      <p:sp>
        <p:nvSpPr>
          <p:cNvPr id="14" name="Icon chip"/>
          <p:cNvSpPr/>
          <p:nvPr/>
        </p:nvSpPr>
        <p:spPr>
          <a:xfrm>
            <a:off x="5349240" y="4069080"/>
            <a:ext cx="640080" cy="640080"/>
          </a:xfrm>
          <a:prstGeom prst="ellipse">
            <a:avLst/>
          </a:prstGeom>
          <a:solidFill>
            <a:schemeClr val="accent3">
              <a:alpha val="22000"/>
            </a:schemeClr>
          </a:solidFill>
          <a:ln w="12700">
            <a:solidFill>
              <a:schemeClr val="accent3">
                <a:alpha val="70000"/>
              </a:schemeClr>
            </a:solidFill>
            <a:prstDash val="solid"/>
          </a:ln>
        </p:spPr>
      </p:sp>
      <p:pic>
        <p:nvPicPr>
          <p:cNvPr id="15" name="Icon" descr="preencoded.png">    </p:cNvPr>
          <p:cNvPicPr>
            <a:picLocks noChangeAspect="1"/>
          </p:cNvPicPr>
          <p:nvPr/>
        </p:nvPicPr>
        <p:blipFill>
          <a:blip r:embed="rId2"/>
          <a:stretch>
            <a:fillRect/>
          </a:stretch>
        </p:blipFill>
        <p:spPr>
          <a:xfrm>
            <a:off x="5509260" y="4229100"/>
            <a:ext cx="320040" cy="320040"/>
          </a:xfrm>
          <a:prstGeom prst="rect">
            <a:avLst/>
          </a:prstGeom>
        </p:spPr>
      </p:pic>
      <p:sp>
        <p:nvSpPr>
          <p:cNvPr id="16" name="Hole 2 title"/>
          <p:cNvSpPr txBox="1"/>
          <p:nvPr/>
        </p:nvSpPr>
        <p:spPr>
          <a:xfrm>
            <a:off x="6172200" y="4133088"/>
            <a:ext cx="5303520" cy="4572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C12 · whitewashing  🟡</a:t>
            </a:r>
            <a:endParaRPr lang="en-US" sz="2200" dirty="0"/>
          </a:p>
        </p:txBody>
      </p:sp>
      <p:sp>
        <p:nvSpPr>
          <p:cNvPr id="17" name="Hole 2 body"/>
          <p:cNvSpPr txBox="1"/>
          <p:nvPr/>
        </p:nvSpPr>
        <p:spPr>
          <a:xfrm>
            <a:off x="6172200" y="4663440"/>
            <a:ext cx="5257800" cy="1143000"/>
          </a:xfrm>
          <a:prstGeom prst="rect">
            <a:avLst/>
          </a:prstGeom>
          <a:noFill/>
          <a:ln/>
        </p:spPr>
        <p:txBody>
          <a:bodyPr wrap="square" lIns="0" tIns="0" rIns="0" bIns="0" rtlCol="0" anchor="t"/>
          <a:lstStyle/>
          <a:p>
            <a:pPr indent="0" marL="0">
              <a:buNone/>
            </a:pPr>
            <a:r>
              <a:rPr lang="en-US" sz="1500" dirty="0">
                <a:solidFill>
                  <a:schemeClr val="bg2"/>
                </a:solidFill>
              </a:rPr>
              <a:t>Lose a dispute, eat the 25% penalty, abandon the wallet, spawn a fresh one. SECURITY.md: “Linking wallets to one operator needs attestations (open).”</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THE SYBIL PROBLEM, TESSERA EDITION</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the meta: 1 degen, 1,000 wallets</a:t>
            </a:r>
            <a:endParaRPr lang="en-US" sz="3600" dirty="0"/>
          </a:p>
        </p:txBody>
      </p:sp>
      <p:sp>
        <p:nvSpPr>
          <p:cNvPr id="4" name="Ring frame"/>
          <p:cNvSpPr/>
          <p:nvPr/>
        </p:nvSpPr>
        <p:spPr>
          <a:xfrm>
            <a:off x="548640" y="1600200"/>
            <a:ext cx="2834640" cy="3931920"/>
          </a:xfrm>
          <a:prstGeom prst="roundRect">
            <a:avLst>
              <a:gd name="adj" fmla="val 4516"/>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pic>
        <p:nvPicPr>
          <p:cNvPr id="5" name="Ring screenshot" descr="Wash-trading ring on the Tessera devnet graph: washer and three sock puppets">    </p:cNvPr>
          <p:cNvPicPr>
            <a:picLocks noChangeAspect="1"/>
          </p:cNvPicPr>
          <p:nvPr/>
        </p:nvPicPr>
        <p:blipFill>
          <a:blip r:embed="rId1"/>
          <a:stretch>
            <a:fillRect/>
          </a:stretch>
        </p:blipFill>
        <p:spPr>
          <a:xfrm>
            <a:off x="621792" y="1673352"/>
            <a:ext cx="2688336" cy="3785616"/>
          </a:xfrm>
          <a:prstGeom prst="rect">
            <a:avLst/>
          </a:prstGeom>
        </p:spPr>
      </p:pic>
      <p:sp>
        <p:nvSpPr>
          <p:cNvPr id="6" name="Ring caption"/>
          <p:cNvSpPr txBox="1"/>
          <p:nvPr/>
        </p:nvSpPr>
        <p:spPr>
          <a:xfrm>
            <a:off x="548640" y="5623560"/>
            <a:ext cx="2834640" cy="548640"/>
          </a:xfrm>
          <a:prstGeom prst="rect">
            <a:avLst/>
          </a:prstGeom>
          <a:noFill/>
          <a:ln/>
        </p:spPr>
        <p:txBody>
          <a:bodyPr wrap="square" lIns="0" tIns="0" rIns="0" bIns="0" rtlCol="0" anchor="t"/>
          <a:lstStyle/>
          <a:p>
            <a:pPr indent="0" marL="0">
              <a:buNone/>
            </a:pPr>
            <a:r>
              <a:rPr lang="en-US" sz="1100" dirty="0">
                <a:solidFill>
                  <a:schemeClr val="bg2"/>
                </a:solidFill>
              </a:rPr>
              <a:t>a real wash-trading ring on your devnet: washer + 3 sock puppets</a:t>
            </a:r>
            <a:endParaRPr lang="en-US" sz="1100" dirty="0"/>
          </a:p>
        </p:txBody>
      </p:sp>
      <p:sp>
        <p:nvSpPr>
          <p:cNvPr id="7" name="Bubble 1"/>
          <p:cNvSpPr/>
          <p:nvPr/>
        </p:nvSpPr>
        <p:spPr>
          <a:xfrm>
            <a:off x="3657600" y="1600200"/>
            <a:ext cx="3977640" cy="960120"/>
          </a:xfrm>
          <a:prstGeom prst="roundRect">
            <a:avLst>
              <a:gd name="adj" fmla="val 13333"/>
            </a:avLst>
          </a:prstGeom>
          <a:solidFill>
            <a:schemeClr val="accent4">
              <a:alpha val="16000"/>
            </a:schemeClr>
          </a:solidFill>
          <a:ln w="12700">
            <a:solidFill>
              <a:schemeClr val="accent4">
                <a:alpha val="45000"/>
              </a:schemeClr>
            </a:solidFill>
            <a:prstDash val="solid"/>
          </a:ln>
        </p:spPr>
      </p:sp>
      <p:sp>
        <p:nvSpPr>
          <p:cNvPr id="8" name="Bubble 1 text"/>
          <p:cNvSpPr txBox="1"/>
          <p:nvPr/>
        </p:nvSpPr>
        <p:spPr>
          <a:xfrm>
            <a:off x="3840480" y="1755648"/>
            <a:ext cx="3611880" cy="685800"/>
          </a:xfrm>
          <a:prstGeom prst="rect">
            <a:avLst/>
          </a:prstGeom>
          <a:noFill/>
          <a:ln/>
        </p:spPr>
        <p:txBody>
          <a:bodyPr wrap="square" lIns="0" tIns="0" rIns="0" bIns="0" rtlCol="0" anchor="ctr"/>
          <a:lstStyle/>
          <a:p>
            <a:pPr indent="0" marL="0">
              <a:buNone/>
            </a:pPr>
            <a:r>
              <a:rPr lang="en-US" sz="1600" dirty="0">
                <a:solidFill>
                  <a:schemeClr val="bg1"/>
                </a:solidFill>
              </a:rPr>
              <a:t>🌾 farmer: we are 1,000 unique, organic users ser 🙏</a:t>
            </a:r>
            <a:endParaRPr lang="en-US" sz="1600" dirty="0"/>
          </a:p>
        </p:txBody>
      </p:sp>
      <p:sp>
        <p:nvSpPr>
          <p:cNvPr id="9" name="Bubble 2"/>
          <p:cNvSpPr/>
          <p:nvPr/>
        </p:nvSpPr>
        <p:spPr>
          <a:xfrm>
            <a:off x="3657600" y="2697480"/>
            <a:ext cx="3977640" cy="960120"/>
          </a:xfrm>
          <a:prstGeom prst="roundRect">
            <a:avLst>
              <a:gd name="adj" fmla="val 13333"/>
            </a:avLst>
          </a:prstGeom>
          <a:solidFill>
            <a:schemeClr val="accent5">
              <a:alpha val="16000"/>
            </a:schemeClr>
          </a:solidFill>
          <a:ln w="12700">
            <a:solidFill>
              <a:schemeClr val="accent5">
                <a:alpha val="45000"/>
              </a:schemeClr>
            </a:solidFill>
            <a:prstDash val="solid"/>
          </a:ln>
        </p:spPr>
      </p:sp>
      <p:sp>
        <p:nvSpPr>
          <p:cNvPr id="10" name="Bubble 2 text"/>
          <p:cNvSpPr txBox="1"/>
          <p:nvPr/>
        </p:nvSpPr>
        <p:spPr>
          <a:xfrm>
            <a:off x="3840480" y="2852928"/>
            <a:ext cx="3611880" cy="685800"/>
          </a:xfrm>
          <a:prstGeom prst="rect">
            <a:avLst/>
          </a:prstGeom>
          <a:noFill/>
          <a:ln/>
        </p:spPr>
        <p:txBody>
          <a:bodyPr wrap="square" lIns="0" tIns="0" rIns="0" bIns="0" rtlCol="0" anchor="ctr"/>
          <a:lstStyle/>
          <a:p>
            <a:pPr indent="0" marL="0">
              <a:buNone/>
            </a:pPr>
            <a:r>
              <a:rPr lang="en-US" sz="1600" dirty="0">
                <a:solidFill>
                  <a:schemeClr val="bg1"/>
                </a:solidFill>
              </a:rPr>
              <a:t>⛓️ the chain: 2,000 valid sigs. LGTM ✅</a:t>
            </a:r>
            <a:endParaRPr lang="en-US" sz="1600" dirty="0"/>
          </a:p>
        </p:txBody>
      </p:sp>
      <p:sp>
        <p:nvSpPr>
          <p:cNvPr id="11" name="Bubble 3"/>
          <p:cNvSpPr/>
          <p:nvPr/>
        </p:nvSpPr>
        <p:spPr>
          <a:xfrm>
            <a:off x="3657600" y="3794760"/>
            <a:ext cx="3977640" cy="1737360"/>
          </a:xfrm>
          <a:prstGeom prst="roundRect">
            <a:avLst>
              <a:gd name="adj" fmla="val 7368"/>
            </a:avLst>
          </a:prstGeom>
          <a:solidFill>
            <a:schemeClr val="accent1">
              <a:alpha val="16000"/>
            </a:schemeClr>
          </a:solidFill>
          <a:ln w="12700">
            <a:solidFill>
              <a:schemeClr val="accent1">
                <a:alpha val="45000"/>
              </a:schemeClr>
            </a:solidFill>
            <a:prstDash val="solid"/>
          </a:ln>
        </p:spPr>
      </p:sp>
      <p:sp>
        <p:nvSpPr>
          <p:cNvPr id="12" name="Bubble 3 text"/>
          <p:cNvSpPr txBox="1"/>
          <p:nvPr/>
        </p:nvSpPr>
        <p:spPr>
          <a:xfrm>
            <a:off x="3840480" y="3950208"/>
            <a:ext cx="3611880" cy="1463040"/>
          </a:xfrm>
          <a:prstGeom prst="rect">
            <a:avLst/>
          </a:prstGeom>
          <a:noFill/>
          <a:ln/>
        </p:spPr>
        <p:txBody>
          <a:bodyPr wrap="square" lIns="0" tIns="0" rIns="0" bIns="0" rtlCol="0" anchor="ctr"/>
          <a:lstStyle/>
          <a:p>
            <a:pPr indent="0" marL="0">
              <a:buNone/>
            </a:pPr>
            <a:r>
              <a:rPr lang="en-US" sz="1600" dirty="0">
                <a:solidFill>
                  <a:schemeClr val="bg1"/>
                </a:solidFill>
              </a:rPr>
              <a:t>🧮 Tessera today: cool. each of you starts New, counts for 10%, gets pair-capped, and pays fees for months 💸</a:t>
            </a:r>
            <a:endParaRPr lang="en-US" sz="1600" dirty="0"/>
          </a:p>
        </p:txBody>
      </p:sp>
      <p:sp>
        <p:nvSpPr>
          <p:cNvPr id="13" name="Stat 1"/>
          <p:cNvSpPr txBox="1"/>
          <p:nvPr/>
        </p:nvSpPr>
        <p:spPr>
          <a:xfrm>
            <a:off x="8001000" y="1554480"/>
            <a:ext cx="3657600" cy="658368"/>
          </a:xfrm>
          <a:prstGeom prst="rect">
            <a:avLst/>
          </a:prstGeom>
          <a:noFill/>
          <a:ln/>
        </p:spPr>
        <p:txBody>
          <a:bodyPr wrap="square" lIns="0" tIns="0" rIns="0" bIns="0" rtlCol="0" anchor="t"/>
          <a:lstStyle/>
          <a:p>
            <a:pPr indent="0" marL="0">
              <a:buNone/>
            </a:pPr>
            <a:r>
              <a:rPr lang="en-US" sz="4000" b="1" dirty="0">
                <a:solidFill>
                  <a:schemeClr val="accent3"/>
                </a:solidFill>
                <a:latin typeface="+mj-lt" pitchFamily="34" charset="0"/>
                <a:ea typeface="+mj-lt" pitchFamily="34" charset="-122"/>
                <a:cs typeface="+mj-lt" pitchFamily="34" charset="-120"/>
              </a:rPr>
              <a:t>never</a:t>
            </a:r>
            <a:endParaRPr lang="en-US" sz="4000" dirty="0"/>
          </a:p>
        </p:txBody>
      </p:sp>
      <p:sp>
        <p:nvSpPr>
          <p:cNvPr id="14" name="Stat 1 label"/>
          <p:cNvSpPr txBox="1"/>
          <p:nvPr/>
        </p:nvSpPr>
        <p:spPr>
          <a:xfrm>
            <a:off x="8001000" y="2212848"/>
            <a:ext cx="3657600" cy="548640"/>
          </a:xfrm>
          <a:prstGeom prst="rect">
            <a:avLst/>
          </a:prstGeom>
          <a:noFill/>
          <a:ln/>
        </p:spPr>
        <p:txBody>
          <a:bodyPr wrap="square" lIns="0" tIns="0" rIns="0" bIns="0" rtlCol="0" anchor="t"/>
          <a:lstStyle/>
          <a:p>
            <a:pPr indent="0" marL="0">
              <a:buNone/>
            </a:pPr>
            <a:r>
              <a:rPr lang="en-US" sz="1500" dirty="0">
                <a:solidFill>
                  <a:schemeClr val="bg1"/>
                </a:solidFill>
              </a:rPr>
              <a:t>3 or 6 wallets: no Trusted in a simulated year</a:t>
            </a:r>
            <a:endParaRPr lang="en-US" sz="1500" dirty="0"/>
          </a:p>
        </p:txBody>
      </p:sp>
      <p:sp>
        <p:nvSpPr>
          <p:cNvPr id="15" name="Stat 2"/>
          <p:cNvSpPr txBox="1"/>
          <p:nvPr/>
        </p:nvSpPr>
        <p:spPr>
          <a:xfrm>
            <a:off x="8001000" y="2880360"/>
            <a:ext cx="3657600" cy="658368"/>
          </a:xfrm>
          <a:prstGeom prst="rect">
            <a:avLst/>
          </a:prstGeom>
          <a:noFill/>
          <a:ln/>
        </p:spPr>
        <p:txBody>
          <a:bodyPr wrap="square" lIns="0" tIns="0" rIns="0" bIns="0" rtlCol="0" anchor="t"/>
          <a:lstStyle/>
          <a:p>
            <a:pPr indent="0" marL="0">
              <a:buNone/>
            </a:pPr>
            <a:r>
              <a:rPr lang="en-US" sz="4000" b="1" dirty="0">
                <a:solidFill>
                  <a:schemeClr val="accent4"/>
                </a:solidFill>
                <a:latin typeface="+mj-lt" pitchFamily="34" charset="0"/>
                <a:ea typeface="+mj-lt" pitchFamily="34" charset="-122"/>
                <a:cs typeface="+mj-lt" pitchFamily="34" charset="-120"/>
              </a:rPr>
              <a:t>day 83</a:t>
            </a:r>
            <a:endParaRPr lang="en-US" sz="4000" dirty="0"/>
          </a:p>
        </p:txBody>
      </p:sp>
      <p:sp>
        <p:nvSpPr>
          <p:cNvPr id="16" name="Stat 2 label"/>
          <p:cNvSpPr txBox="1"/>
          <p:nvPr/>
        </p:nvSpPr>
        <p:spPr>
          <a:xfrm>
            <a:off x="8001000" y="3538728"/>
            <a:ext cx="3657600" cy="548640"/>
          </a:xfrm>
          <a:prstGeom prst="rect">
            <a:avLst/>
          </a:prstGeom>
          <a:noFill/>
          <a:ln/>
        </p:spPr>
        <p:txBody>
          <a:bodyPr wrap="square" lIns="0" tIns="0" rIns="0" bIns="0" rtlCol="0" anchor="t"/>
          <a:lstStyle/>
          <a:p>
            <a:pPr indent="0" marL="0">
              <a:buNone/>
            </a:pPr>
            <a:r>
              <a:rPr lang="en-US" sz="1500" dirty="0">
                <a:solidFill>
                  <a:schemeClr val="bg1"/>
                </a:solidFill>
              </a:rPr>
              <a:t>8 wallets reach Trusted · net +$200</a:t>
            </a:r>
            <a:endParaRPr lang="en-US" sz="1500" dirty="0"/>
          </a:p>
        </p:txBody>
      </p:sp>
      <p:sp>
        <p:nvSpPr>
          <p:cNvPr id="17" name="Stat 3"/>
          <p:cNvSpPr txBox="1"/>
          <p:nvPr/>
        </p:nvSpPr>
        <p:spPr>
          <a:xfrm>
            <a:off x="8001000" y="4206240"/>
            <a:ext cx="3657600" cy="658368"/>
          </a:xfrm>
          <a:prstGeom prst="rect">
            <a:avLst/>
          </a:prstGeom>
          <a:noFill/>
          <a:ln/>
        </p:spPr>
        <p:txBody>
          <a:bodyPr wrap="square" lIns="0" tIns="0" rIns="0" bIns="0" rtlCol="0" anchor="t"/>
          <a:lstStyle/>
          <a:p>
            <a:pPr indent="0" marL="0">
              <a:buNone/>
            </a:pPr>
            <a:r>
              <a:rPr lang="en-US" sz="4000" b="1" dirty="0">
                <a:solidFill>
                  <a:schemeClr val="accent6"/>
                </a:solidFill>
                <a:latin typeface="+mj-lt" pitchFamily="34" charset="0"/>
                <a:ea typeface="+mj-lt" pitchFamily="34" charset="-122"/>
                <a:cs typeface="+mj-lt" pitchFamily="34" charset="-120"/>
              </a:rPr>
              <a:t>day 30</a:t>
            </a:r>
            <a:endParaRPr lang="en-US" sz="4000" dirty="0"/>
          </a:p>
        </p:txBody>
      </p:sp>
      <p:sp>
        <p:nvSpPr>
          <p:cNvPr id="18" name="Stat 3 label"/>
          <p:cNvSpPr txBox="1"/>
          <p:nvPr/>
        </p:nvSpPr>
        <p:spPr>
          <a:xfrm>
            <a:off x="8001000" y="4864608"/>
            <a:ext cx="3657600" cy="548640"/>
          </a:xfrm>
          <a:prstGeom prst="rect">
            <a:avLst/>
          </a:prstGeom>
          <a:noFill/>
          <a:ln/>
        </p:spPr>
        <p:txBody>
          <a:bodyPr wrap="square" lIns="0" tIns="0" rIns="0" bIns="0" rtlCol="0" anchor="t"/>
          <a:lstStyle/>
          <a:p>
            <a:pPr indent="0" marL="0">
              <a:buNone/>
            </a:pPr>
            <a:r>
              <a:rPr lang="en-US" sz="1500" dirty="0">
                <a:solidFill>
                  <a:schemeClr val="bg1"/>
                </a:solidFill>
              </a:rPr>
              <a:t>21 wallets reach Trusted · net +$525</a:t>
            </a:r>
            <a:endParaRPr lang="en-US" sz="1500" dirty="0"/>
          </a:p>
        </p:txBody>
      </p:sp>
      <p:sp>
        <p:nvSpPr>
          <p:cNvPr id="19" name="Source"/>
          <p:cNvSpPr txBox="1"/>
          <p:nvPr/>
        </p:nvSpPr>
        <p:spPr>
          <a:xfrm>
            <a:off x="8001000" y="5623560"/>
            <a:ext cx="3657600" cy="365760"/>
          </a:xfrm>
          <a:prstGeom prst="rect">
            <a:avLst/>
          </a:prstGeom>
          <a:noFill/>
          <a:ln/>
        </p:spPr>
        <p:txBody>
          <a:bodyPr wrap="square" lIns="0" tIns="0" rIns="0" bIns="0" rtlCol="0" anchor="t"/>
          <a:lstStyle/>
          <a:p>
            <a:pPr indent="0" marL="0">
              <a:buNone/>
            </a:pPr>
            <a:r>
              <a:rPr lang="en-US" sz="1100" dirty="0">
                <a:solidFill>
                  <a:schemeClr val="bg2"/>
                </a:solidFill>
              </a:rPr>
              <a:t>source: docs/SCORING.md, ring simulation at mainnet params</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DRAKE FORMAT (NO DRAKES WERE HARMED)</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KYC? in this economy?</a:t>
            </a:r>
            <a:endParaRPr lang="en-US" sz="3600" dirty="0"/>
          </a:p>
        </p:txBody>
      </p:sp>
      <p:sp>
        <p:nvSpPr>
          <p:cNvPr id="4" name="Meme panel 1"/>
          <p:cNvSpPr/>
          <p:nvPr/>
        </p:nvSpPr>
        <p:spPr>
          <a:xfrm>
            <a:off x="548640" y="1600200"/>
            <a:ext cx="2194560" cy="2057400"/>
          </a:xfrm>
          <a:prstGeom prst="roundRect">
            <a:avLst>
              <a:gd name="adj" fmla="val 6222"/>
            </a:avLst>
          </a:prstGeom>
          <a:solidFill>
            <a:schemeClr val="accent6">
              <a:alpha val="16000"/>
            </a:schemeClr>
          </a:solidFill>
          <a:ln w="12700">
            <a:solidFill>
              <a:schemeClr val="accent6">
                <a:alpha val="45000"/>
              </a:schemeClr>
            </a:solidFill>
            <a:prstDash val="solid"/>
          </a:ln>
        </p:spPr>
      </p:sp>
      <p:sp>
        <p:nvSpPr>
          <p:cNvPr id="5" name="Meme emoji 1"/>
          <p:cNvSpPr txBox="1"/>
          <p:nvPr/>
        </p:nvSpPr>
        <p:spPr>
          <a:xfrm>
            <a:off x="548640" y="1737360"/>
            <a:ext cx="2194560" cy="1371600"/>
          </a:xfrm>
          <a:prstGeom prst="rect">
            <a:avLst/>
          </a:prstGeom>
          <a:noFill/>
          <a:ln/>
        </p:spPr>
        <p:txBody>
          <a:bodyPr wrap="square" lIns="0" tIns="0" rIns="0" bIns="0" rtlCol="0" anchor="ctr"/>
          <a:lstStyle/>
          <a:p>
            <a:pPr algn="ctr" indent="0" marL="0">
              <a:buNone/>
            </a:pPr>
            <a:r>
              <a:rPr lang="en-US" sz="8000" dirty="0">
                <a:solidFill>
                  <a:srgbClr val="000000"/>
                </a:solidFill>
              </a:rPr>
              <a:t>🙅</a:t>
            </a:r>
            <a:endParaRPr lang="en-US" sz="8000" dirty="0"/>
          </a:p>
        </p:txBody>
      </p:sp>
      <p:sp>
        <p:nvSpPr>
          <p:cNvPr id="6" name="Meme tag 1"/>
          <p:cNvSpPr txBox="1"/>
          <p:nvPr/>
        </p:nvSpPr>
        <p:spPr>
          <a:xfrm>
            <a:off x="548640" y="3108960"/>
            <a:ext cx="2194560" cy="411480"/>
          </a:xfrm>
          <a:prstGeom prst="rect">
            <a:avLst/>
          </a:prstGeom>
          <a:noFill/>
          <a:ln/>
        </p:spPr>
        <p:txBody>
          <a:bodyPr wrap="square" lIns="0" tIns="0" rIns="0" bIns="0" rtlCol="0" anchor="t"/>
          <a:lstStyle/>
          <a:p>
            <a:pPr algn="ctr" indent="0" marL="0">
              <a:buNone/>
            </a:pPr>
            <a:r>
              <a:rPr lang="en-US" sz="1800" b="1" dirty="0">
                <a:solidFill>
                  <a:schemeClr val="accent6"/>
                </a:solidFill>
                <a:latin typeface="+mj-lt" pitchFamily="34" charset="0"/>
                <a:ea typeface="+mj-lt" pitchFamily="34" charset="-122"/>
                <a:cs typeface="+mj-lt" pitchFamily="34" charset="-120"/>
              </a:rPr>
              <a:t>NAH</a:t>
            </a:r>
            <a:endParaRPr lang="en-US" sz="1800" dirty="0"/>
          </a:p>
        </p:txBody>
      </p:sp>
      <p:sp>
        <p:nvSpPr>
          <p:cNvPr id="7" name="Meme text panel 1"/>
          <p:cNvSpPr/>
          <p:nvPr/>
        </p:nvSpPr>
        <p:spPr>
          <a:xfrm>
            <a:off x="2971800" y="1600200"/>
            <a:ext cx="8668512" cy="2057400"/>
          </a:xfrm>
          <a:prstGeom prst="roundRect">
            <a:avLst>
              <a:gd name="adj" fmla="val 6222"/>
            </a:avLst>
          </a:prstGeom>
          <a:solidFill>
            <a:schemeClr val="tx2"/>
          </a:solidFill>
          <a:ln w="12700">
            <a:solidFill>
              <a:schemeClr val="accent2">
                <a:alpha val="45000"/>
              </a:schemeClr>
            </a:solidFill>
            <a:prstDash val="solid"/>
          </a:ln>
        </p:spPr>
      </p:sp>
      <p:sp>
        <p:nvSpPr>
          <p:cNvPr id="8" name="Meme text 1"/>
          <p:cNvSpPr txBox="1"/>
          <p:nvPr/>
        </p:nvSpPr>
        <p:spPr>
          <a:xfrm>
            <a:off x="3291840" y="1874520"/>
            <a:ext cx="8046720" cy="1508760"/>
          </a:xfrm>
          <a:prstGeom prst="rect">
            <a:avLst/>
          </a:prstGeom>
          <a:noFill/>
          <a:ln/>
        </p:spPr>
        <p:txBody>
          <a:bodyPr wrap="square" lIns="0" tIns="0" rIns="0" bIns="0" rtlCol="0" anchor="ctr"/>
          <a:lstStyle/>
          <a:p>
            <a:pPr indent="0" marL="0">
              <a:buNone/>
            </a:pPr>
            <a:r>
              <a:rPr lang="en-US" sz="2400" dirty="0">
                <a:solidFill>
                  <a:schemeClr val="bg1"/>
                </a:solidFill>
              </a:rPr>
              <a:t>KYC: upload your passport and a selfie, store them in someone’s database, pray it never leaks, and tie every wallet to your legal name forever.</a:t>
            </a:r>
            <a:endParaRPr lang="en-US" sz="2400" dirty="0"/>
          </a:p>
        </p:txBody>
      </p:sp>
      <p:sp>
        <p:nvSpPr>
          <p:cNvPr id="9" name="Meme panel 2"/>
          <p:cNvSpPr/>
          <p:nvPr/>
        </p:nvSpPr>
        <p:spPr>
          <a:xfrm>
            <a:off x="548640" y="3886200"/>
            <a:ext cx="2194560" cy="2057400"/>
          </a:xfrm>
          <a:prstGeom prst="roundRect">
            <a:avLst>
              <a:gd name="adj" fmla="val 6222"/>
            </a:avLst>
          </a:prstGeom>
          <a:solidFill>
            <a:schemeClr val="accent1">
              <a:alpha val="16000"/>
            </a:schemeClr>
          </a:solidFill>
          <a:ln w="12700">
            <a:solidFill>
              <a:schemeClr val="accent1">
                <a:alpha val="45000"/>
              </a:schemeClr>
            </a:solidFill>
            <a:prstDash val="solid"/>
          </a:ln>
        </p:spPr>
      </p:sp>
      <p:sp>
        <p:nvSpPr>
          <p:cNvPr id="10" name="Meme emoji 2"/>
          <p:cNvSpPr txBox="1"/>
          <p:nvPr/>
        </p:nvSpPr>
        <p:spPr>
          <a:xfrm>
            <a:off x="548640" y="4023360"/>
            <a:ext cx="2194560" cy="1371600"/>
          </a:xfrm>
          <a:prstGeom prst="rect">
            <a:avLst/>
          </a:prstGeom>
          <a:noFill/>
          <a:ln/>
        </p:spPr>
        <p:txBody>
          <a:bodyPr wrap="square" lIns="0" tIns="0" rIns="0" bIns="0" rtlCol="0" anchor="ctr"/>
          <a:lstStyle/>
          <a:p>
            <a:pPr algn="ctr" indent="0" marL="0">
              <a:buNone/>
            </a:pPr>
            <a:r>
              <a:rPr lang="en-US" sz="8000" dirty="0">
                <a:solidFill>
                  <a:srgbClr val="000000"/>
                </a:solidFill>
              </a:rPr>
              <a:t>😎</a:t>
            </a:r>
            <a:endParaRPr lang="en-US" sz="8000" dirty="0"/>
          </a:p>
        </p:txBody>
      </p:sp>
      <p:sp>
        <p:nvSpPr>
          <p:cNvPr id="11" name="Meme tag 2"/>
          <p:cNvSpPr txBox="1"/>
          <p:nvPr/>
        </p:nvSpPr>
        <p:spPr>
          <a:xfrm>
            <a:off x="548640" y="5394960"/>
            <a:ext cx="2194560" cy="411480"/>
          </a:xfrm>
          <a:prstGeom prst="rect">
            <a:avLst/>
          </a:prstGeom>
          <a:noFill/>
          <a:ln/>
        </p:spPr>
        <p:txBody>
          <a:bodyPr wrap="square" lIns="0" tIns="0" rIns="0" bIns="0" rtlCol="0" anchor="t"/>
          <a:lstStyle/>
          <a:p>
            <a:pPr algn="ctr" indent="0" marL="0">
              <a:buNone/>
            </a:pPr>
            <a:r>
              <a:rPr lang="en-US" sz="1800" b="1" dirty="0">
                <a:solidFill>
                  <a:schemeClr val="accent1"/>
                </a:solidFill>
                <a:latin typeface="+mj-lt" pitchFamily="34" charset="0"/>
                <a:ea typeface="+mj-lt" pitchFamily="34" charset="-122"/>
                <a:cs typeface="+mj-lt" pitchFamily="34" charset="-120"/>
              </a:rPr>
              <a:t>YEAH</a:t>
            </a:r>
            <a:endParaRPr lang="en-US" sz="1800" dirty="0"/>
          </a:p>
        </p:txBody>
      </p:sp>
      <p:sp>
        <p:nvSpPr>
          <p:cNvPr id="12" name="Meme text panel 2"/>
          <p:cNvSpPr/>
          <p:nvPr/>
        </p:nvSpPr>
        <p:spPr>
          <a:xfrm>
            <a:off x="2971800" y="3886200"/>
            <a:ext cx="8668512" cy="2057400"/>
          </a:xfrm>
          <a:prstGeom prst="roundRect">
            <a:avLst>
              <a:gd name="adj" fmla="val 6222"/>
            </a:avLst>
          </a:prstGeom>
          <a:solidFill>
            <a:schemeClr val="tx2"/>
          </a:solidFill>
          <a:ln w="12700">
            <a:solidFill>
              <a:schemeClr val="accent2">
                <a:alpha val="45000"/>
              </a:schemeClr>
            </a:solidFill>
            <a:prstDash val="solid"/>
          </a:ln>
        </p:spPr>
      </p:sp>
      <p:sp>
        <p:nvSpPr>
          <p:cNvPr id="13" name="Meme text 2"/>
          <p:cNvSpPr txBox="1"/>
          <p:nvPr/>
        </p:nvSpPr>
        <p:spPr>
          <a:xfrm>
            <a:off x="3291840" y="4160520"/>
            <a:ext cx="8046720" cy="1508760"/>
          </a:xfrm>
          <a:prstGeom prst="rect">
            <a:avLst/>
          </a:prstGeom>
          <a:noFill/>
          <a:ln/>
        </p:spPr>
        <p:txBody>
          <a:bodyPr wrap="square" lIns="0" tIns="0" rIns="0" bIns="0" rtlCol="0" anchor="ctr"/>
          <a:lstStyle/>
          <a:p>
            <a:pPr indent="0" marL="0">
              <a:buNone/>
            </a:pPr>
            <a:r>
              <a:rPr lang="en-US" sz="2400" dirty="0">
                <a:solidFill>
                  <a:schemeClr val="bg1"/>
                </a:solidFill>
              </a:rPr>
              <a:t>zk: prove “I’m in the verified-humans club” and nothing else. The contract learns you’re unique and unused, never which human you are.</a:t>
            </a:r>
            <a:endParaRPr lang="en-US" sz="2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SEMAPHORE, STEP BY STEP</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how the nullifier trick works</a:t>
            </a:r>
            <a:endParaRPr lang="en-US" sz="3600" dirty="0"/>
          </a:p>
        </p:txBody>
      </p:sp>
      <p:sp>
        <p:nvSpPr>
          <p:cNvPr id="4" name="Step card 1"/>
          <p:cNvSpPr/>
          <p:nvPr/>
        </p:nvSpPr>
        <p:spPr>
          <a:xfrm>
            <a:off x="548640" y="1645920"/>
            <a:ext cx="2057400" cy="3520440"/>
          </a:xfrm>
          <a:prstGeom prst="roundRect">
            <a:avLst>
              <a:gd name="adj" fmla="val 6222"/>
            </a:avLst>
          </a:prstGeom>
          <a:solidFill>
            <a:schemeClr val="tx2"/>
          </a:solidFill>
          <a:ln w="12700">
            <a:solidFill>
              <a:schemeClr val="accent2">
                <a:alpha val="45000"/>
              </a:schemeClr>
            </a:solidFill>
            <a:prstDash val="solid"/>
          </a:ln>
        </p:spPr>
      </p:sp>
      <p:sp>
        <p:nvSpPr>
          <p:cNvPr id="5" name="Step 1"/>
          <p:cNvSpPr/>
          <p:nvPr/>
        </p:nvSpPr>
        <p:spPr>
          <a:xfrm>
            <a:off x="731520" y="1828800"/>
            <a:ext cx="502920" cy="502920"/>
          </a:xfrm>
          <a:prstGeom prst="ellipse">
            <a:avLst/>
          </a:prstGeom>
          <a:solidFill>
            <a:schemeClr val="accent5">
              <a:alpha val="85000"/>
            </a:schemeClr>
          </a:solidFill>
          <a:ln w="12700">
            <a:solidFill>
              <a:schemeClr val="accent5"/>
            </a:solidFill>
            <a:prstDash val="solid"/>
          </a:ln>
        </p:spPr>
      </p:sp>
      <p:sp>
        <p:nvSpPr>
          <p:cNvPr id="6" name="Step 1 label"/>
          <p:cNvSpPr txBox="1"/>
          <p:nvPr/>
        </p:nvSpPr>
        <p:spPr>
          <a:xfrm>
            <a:off x="731520" y="18288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1</a:t>
            </a:r>
            <a:endParaRPr lang="en-US" sz="1800" dirty="0"/>
          </a:p>
        </p:txBody>
      </p:sp>
      <p:sp>
        <p:nvSpPr>
          <p:cNvPr id="7" name="Icon chip"/>
          <p:cNvSpPr/>
          <p:nvPr/>
        </p:nvSpPr>
        <p:spPr>
          <a:xfrm>
            <a:off x="1901952" y="1801368"/>
            <a:ext cx="548640" cy="548640"/>
          </a:xfrm>
          <a:prstGeom prst="ellipse">
            <a:avLst/>
          </a:prstGeom>
          <a:solidFill>
            <a:schemeClr val="accent5">
              <a:alpha val="22000"/>
            </a:schemeClr>
          </a:solidFill>
          <a:ln w="12700">
            <a:solidFill>
              <a:schemeClr val="accent5">
                <a:alpha val="70000"/>
              </a:schemeClr>
            </a:solidFill>
            <a:prstDash val="solid"/>
          </a:ln>
        </p:spPr>
      </p:sp>
      <p:pic>
        <p:nvPicPr>
          <p:cNvPr id="8" name="Icon" descr="preencoded.png">    </p:cNvPr>
          <p:cNvPicPr>
            <a:picLocks noChangeAspect="1"/>
          </p:cNvPicPr>
          <p:nvPr/>
        </p:nvPicPr>
        <p:blipFill>
          <a:blip r:embed="rId1"/>
          <a:stretch>
            <a:fillRect/>
          </a:stretch>
        </p:blipFill>
        <p:spPr>
          <a:xfrm>
            <a:off x="2039112" y="1938528"/>
            <a:ext cx="274320" cy="274320"/>
          </a:xfrm>
          <a:prstGeom prst="rect">
            <a:avLst/>
          </a:prstGeom>
        </p:spPr>
      </p:pic>
      <p:sp>
        <p:nvSpPr>
          <p:cNvPr id="9" name="Step 1 title"/>
          <p:cNvSpPr txBox="1"/>
          <p:nvPr/>
        </p:nvSpPr>
        <p:spPr>
          <a:xfrm>
            <a:off x="731520" y="2560320"/>
            <a:ext cx="1737360" cy="685800"/>
          </a:xfrm>
          <a:prstGeom prst="rect">
            <a:avLst/>
          </a:prstGeom>
          <a:noFill/>
          <a:ln/>
        </p:spPr>
        <p:txBody>
          <a:bodyPr wrap="square" lIns="0" tIns="0" rIns="0" bIns="0" rtlCol="0" anchor="t"/>
          <a:lstStyle/>
          <a:p>
            <a:pPr indent="0" marL="0">
              <a:buNone/>
            </a:pPr>
            <a:r>
              <a:rPr lang="en-US" sz="1800" b="1" dirty="0">
                <a:solidFill>
                  <a:schemeClr val="bg1"/>
                </a:solidFill>
              </a:rPr>
              <a:t>Get verified once</a:t>
            </a:r>
            <a:endParaRPr lang="en-US" sz="1800" dirty="0"/>
          </a:p>
        </p:txBody>
      </p:sp>
      <p:sp>
        <p:nvSpPr>
          <p:cNvPr id="10" name="Step 1 body"/>
          <p:cNvSpPr txBox="1"/>
          <p:nvPr/>
        </p:nvSpPr>
        <p:spPr>
          <a:xfrm>
            <a:off x="731520" y="3291840"/>
            <a:ext cx="1737360" cy="1783080"/>
          </a:xfrm>
          <a:prstGeom prst="rect">
            <a:avLst/>
          </a:prstGeom>
          <a:noFill/>
          <a:ln/>
        </p:spPr>
        <p:txBody>
          <a:bodyPr wrap="square" lIns="0" tIns="0" rIns="0" bIns="0" rtlCol="0" anchor="t"/>
          <a:lstStyle/>
          <a:p>
            <a:pPr indent="0" marL="0">
              <a:buNone/>
            </a:pPr>
            <a:r>
              <a:rPr lang="en-US" sz="1400" dirty="0">
                <a:solidFill>
                  <a:schemeClr val="bg2"/>
                </a:solidFill>
              </a:rPr>
              <a:t>An issuer checks you’re one real human (passport chip, biometric, or KYB for a company). You join a verified-humans Merkle tree.</a:t>
            </a:r>
            <a:endParaRPr lang="en-US" sz="1400" dirty="0"/>
          </a:p>
        </p:txBody>
      </p:sp>
      <p:sp>
        <p:nvSpPr>
          <p:cNvPr id="11" name="Step card 2"/>
          <p:cNvSpPr/>
          <p:nvPr/>
        </p:nvSpPr>
        <p:spPr>
          <a:xfrm>
            <a:off x="2807208" y="1645920"/>
            <a:ext cx="2057400" cy="3520440"/>
          </a:xfrm>
          <a:prstGeom prst="roundRect">
            <a:avLst>
              <a:gd name="adj" fmla="val 6222"/>
            </a:avLst>
          </a:prstGeom>
          <a:solidFill>
            <a:schemeClr val="tx2"/>
          </a:solidFill>
          <a:ln w="12700">
            <a:solidFill>
              <a:schemeClr val="accent2">
                <a:alpha val="45000"/>
              </a:schemeClr>
            </a:solidFill>
            <a:prstDash val="solid"/>
          </a:ln>
        </p:spPr>
      </p:sp>
      <p:sp>
        <p:nvSpPr>
          <p:cNvPr id="12" name="Step 2"/>
          <p:cNvSpPr/>
          <p:nvPr/>
        </p:nvSpPr>
        <p:spPr>
          <a:xfrm>
            <a:off x="2990088" y="1828800"/>
            <a:ext cx="502920" cy="502920"/>
          </a:xfrm>
          <a:prstGeom prst="ellipse">
            <a:avLst/>
          </a:prstGeom>
          <a:solidFill>
            <a:schemeClr val="accent2">
              <a:alpha val="85000"/>
            </a:schemeClr>
          </a:solidFill>
          <a:ln w="12700">
            <a:solidFill>
              <a:schemeClr val="accent2"/>
            </a:solidFill>
            <a:prstDash val="solid"/>
          </a:ln>
        </p:spPr>
      </p:sp>
      <p:sp>
        <p:nvSpPr>
          <p:cNvPr id="13" name="Step 2 label"/>
          <p:cNvSpPr txBox="1"/>
          <p:nvPr/>
        </p:nvSpPr>
        <p:spPr>
          <a:xfrm>
            <a:off x="2990088" y="18288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2</a:t>
            </a:r>
            <a:endParaRPr lang="en-US" sz="1800" dirty="0"/>
          </a:p>
        </p:txBody>
      </p:sp>
      <p:sp>
        <p:nvSpPr>
          <p:cNvPr id="14" name="Icon chip"/>
          <p:cNvSpPr/>
          <p:nvPr/>
        </p:nvSpPr>
        <p:spPr>
          <a:xfrm>
            <a:off x="4160520" y="1801368"/>
            <a:ext cx="548640" cy="548640"/>
          </a:xfrm>
          <a:prstGeom prst="ellipse">
            <a:avLst/>
          </a:prstGeom>
          <a:solidFill>
            <a:schemeClr val="accent2">
              <a:alpha val="22000"/>
            </a:schemeClr>
          </a:solidFill>
          <a:ln w="12700">
            <a:solidFill>
              <a:schemeClr val="accent2">
                <a:alpha val="70000"/>
              </a:schemeClr>
            </a:solidFill>
            <a:prstDash val="solid"/>
          </a:ln>
        </p:spPr>
      </p:sp>
      <p:pic>
        <p:nvPicPr>
          <p:cNvPr id="15" name="Icon" descr="preencoded.png">    </p:cNvPr>
          <p:cNvPicPr>
            <a:picLocks noChangeAspect="1"/>
          </p:cNvPicPr>
          <p:nvPr/>
        </p:nvPicPr>
        <p:blipFill>
          <a:blip r:embed="rId2"/>
          <a:stretch>
            <a:fillRect/>
          </a:stretch>
        </p:blipFill>
        <p:spPr>
          <a:xfrm>
            <a:off x="4297680" y="1938528"/>
            <a:ext cx="274320" cy="274320"/>
          </a:xfrm>
          <a:prstGeom prst="rect">
            <a:avLst/>
          </a:prstGeom>
        </p:spPr>
      </p:pic>
      <p:sp>
        <p:nvSpPr>
          <p:cNvPr id="16" name="Step 2 title"/>
          <p:cNvSpPr txBox="1"/>
          <p:nvPr/>
        </p:nvSpPr>
        <p:spPr>
          <a:xfrm>
            <a:off x="2990088" y="2560320"/>
            <a:ext cx="1737360" cy="685800"/>
          </a:xfrm>
          <a:prstGeom prst="rect">
            <a:avLst/>
          </a:prstGeom>
          <a:noFill/>
          <a:ln/>
        </p:spPr>
        <p:txBody>
          <a:bodyPr wrap="square" lIns="0" tIns="0" rIns="0" bIns="0" rtlCol="0" anchor="t"/>
          <a:lstStyle/>
          <a:p>
            <a:pPr indent="0" marL="0">
              <a:buNone/>
            </a:pPr>
            <a:r>
              <a:rPr lang="en-US" sz="1800" b="1" dirty="0">
                <a:solidFill>
                  <a:schemeClr val="bg1"/>
                </a:solidFill>
              </a:rPr>
              <a:t>Prove membership</a:t>
            </a:r>
            <a:endParaRPr lang="en-US" sz="1800" dirty="0"/>
          </a:p>
        </p:txBody>
      </p:sp>
      <p:sp>
        <p:nvSpPr>
          <p:cNvPr id="17" name="Step 2 body"/>
          <p:cNvSpPr txBox="1"/>
          <p:nvPr/>
        </p:nvSpPr>
        <p:spPr>
          <a:xfrm>
            <a:off x="2990088" y="3291840"/>
            <a:ext cx="1737360" cy="1783080"/>
          </a:xfrm>
          <a:prstGeom prst="rect">
            <a:avLst/>
          </a:prstGeom>
          <a:noFill/>
          <a:ln/>
        </p:spPr>
        <p:txBody>
          <a:bodyPr wrap="square" lIns="0" tIns="0" rIns="0" bIns="0" rtlCol="0" anchor="t"/>
          <a:lstStyle/>
          <a:p>
            <a:pPr indent="0" marL="0">
              <a:buNone/>
            </a:pPr>
            <a:r>
              <a:rPr lang="en-US" sz="1400" dirty="0">
                <a:solidFill>
                  <a:schemeClr val="bg2"/>
                </a:solidFill>
              </a:rPr>
              <a:t>Your device makes a zk proof: “I’m one of the leaves in this tree.” It never says which leaf.</a:t>
            </a:r>
            <a:endParaRPr lang="en-US" sz="1400" dirty="0"/>
          </a:p>
        </p:txBody>
      </p:sp>
      <p:sp>
        <p:nvSpPr>
          <p:cNvPr id="18" name="Step card 3"/>
          <p:cNvSpPr/>
          <p:nvPr/>
        </p:nvSpPr>
        <p:spPr>
          <a:xfrm>
            <a:off x="5065776" y="1645920"/>
            <a:ext cx="2057400" cy="3520440"/>
          </a:xfrm>
          <a:prstGeom prst="roundRect">
            <a:avLst>
              <a:gd name="adj" fmla="val 6222"/>
            </a:avLst>
          </a:prstGeom>
          <a:solidFill>
            <a:schemeClr val="tx2"/>
          </a:solidFill>
          <a:ln w="12700">
            <a:solidFill>
              <a:schemeClr val="accent2">
                <a:alpha val="45000"/>
              </a:schemeClr>
            </a:solidFill>
            <a:prstDash val="solid"/>
          </a:ln>
        </p:spPr>
      </p:sp>
      <p:sp>
        <p:nvSpPr>
          <p:cNvPr id="19" name="Step 3"/>
          <p:cNvSpPr/>
          <p:nvPr/>
        </p:nvSpPr>
        <p:spPr>
          <a:xfrm>
            <a:off x="5248656" y="1828800"/>
            <a:ext cx="502920" cy="502920"/>
          </a:xfrm>
          <a:prstGeom prst="ellipse">
            <a:avLst/>
          </a:prstGeom>
          <a:solidFill>
            <a:schemeClr val="accent3">
              <a:alpha val="85000"/>
            </a:schemeClr>
          </a:solidFill>
          <a:ln w="12700">
            <a:solidFill>
              <a:schemeClr val="accent3"/>
            </a:solidFill>
            <a:prstDash val="solid"/>
          </a:ln>
        </p:spPr>
      </p:sp>
      <p:sp>
        <p:nvSpPr>
          <p:cNvPr id="20" name="Step 3 label"/>
          <p:cNvSpPr txBox="1"/>
          <p:nvPr/>
        </p:nvSpPr>
        <p:spPr>
          <a:xfrm>
            <a:off x="5248656" y="18288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3</a:t>
            </a:r>
            <a:endParaRPr lang="en-US" sz="1800" dirty="0"/>
          </a:p>
        </p:txBody>
      </p:sp>
      <p:sp>
        <p:nvSpPr>
          <p:cNvPr id="21" name="Icon chip"/>
          <p:cNvSpPr/>
          <p:nvPr/>
        </p:nvSpPr>
        <p:spPr>
          <a:xfrm>
            <a:off x="6419088" y="1801368"/>
            <a:ext cx="548640" cy="548640"/>
          </a:xfrm>
          <a:prstGeom prst="ellipse">
            <a:avLst/>
          </a:prstGeom>
          <a:solidFill>
            <a:schemeClr val="accent3">
              <a:alpha val="22000"/>
            </a:schemeClr>
          </a:solidFill>
          <a:ln w="12700">
            <a:solidFill>
              <a:schemeClr val="accent3">
                <a:alpha val="70000"/>
              </a:schemeClr>
            </a:solidFill>
            <a:prstDash val="solid"/>
          </a:ln>
        </p:spPr>
      </p:sp>
      <p:pic>
        <p:nvPicPr>
          <p:cNvPr id="22" name="Icon" descr="preencoded.png">    </p:cNvPr>
          <p:cNvPicPr>
            <a:picLocks noChangeAspect="1"/>
          </p:cNvPicPr>
          <p:nvPr/>
        </p:nvPicPr>
        <p:blipFill>
          <a:blip r:embed="rId3"/>
          <a:stretch>
            <a:fillRect/>
          </a:stretch>
        </p:blipFill>
        <p:spPr>
          <a:xfrm>
            <a:off x="6556248" y="1938528"/>
            <a:ext cx="274320" cy="274320"/>
          </a:xfrm>
          <a:prstGeom prst="rect">
            <a:avLst/>
          </a:prstGeom>
        </p:spPr>
      </p:pic>
      <p:sp>
        <p:nvSpPr>
          <p:cNvPr id="23" name="Step 3 title"/>
          <p:cNvSpPr txBox="1"/>
          <p:nvPr/>
        </p:nvSpPr>
        <p:spPr>
          <a:xfrm>
            <a:off x="5248656" y="2560320"/>
            <a:ext cx="1737360" cy="685800"/>
          </a:xfrm>
          <a:prstGeom prst="rect">
            <a:avLst/>
          </a:prstGeom>
          <a:noFill/>
          <a:ln/>
        </p:spPr>
        <p:txBody>
          <a:bodyPr wrap="square" lIns="0" tIns="0" rIns="0" bIns="0" rtlCol="0" anchor="t"/>
          <a:lstStyle/>
          <a:p>
            <a:pPr indent="0" marL="0">
              <a:buNone/>
            </a:pPr>
            <a:r>
              <a:rPr lang="en-US" sz="1800" b="1" dirty="0">
                <a:solidFill>
                  <a:schemeClr val="bg1"/>
                </a:solidFill>
              </a:rPr>
              <a:t>Attach a nullifier</a:t>
            </a:r>
            <a:endParaRPr lang="en-US" sz="1800" dirty="0"/>
          </a:p>
        </p:txBody>
      </p:sp>
      <p:sp>
        <p:nvSpPr>
          <p:cNvPr id="24" name="Step 3 body"/>
          <p:cNvSpPr txBox="1"/>
          <p:nvPr/>
        </p:nvSpPr>
        <p:spPr>
          <a:xfrm>
            <a:off x="5248656" y="3291840"/>
            <a:ext cx="1737360" cy="1783080"/>
          </a:xfrm>
          <a:prstGeom prst="rect">
            <a:avLst/>
          </a:prstGeom>
          <a:noFill/>
          <a:ln/>
        </p:spPr>
        <p:txBody>
          <a:bodyPr wrap="square" lIns="0" tIns="0" rIns="0" bIns="0" rtlCol="0" anchor="t"/>
          <a:lstStyle/>
          <a:p>
            <a:pPr indent="0" marL="0">
              <a:buNone/>
            </a:pPr>
            <a:r>
              <a:rPr lang="en-US" sz="1400" dirty="0">
                <a:solidFill>
                  <a:schemeClr val="bg2"/>
                </a:solidFill>
              </a:rPr>
              <a:t>Poseidon(your secret, scope). Same human + same scope = same nullifier, every time.</a:t>
            </a:r>
            <a:endParaRPr lang="en-US" sz="1400" dirty="0"/>
          </a:p>
        </p:txBody>
      </p:sp>
      <p:sp>
        <p:nvSpPr>
          <p:cNvPr id="25" name="Step card 4"/>
          <p:cNvSpPr/>
          <p:nvPr/>
        </p:nvSpPr>
        <p:spPr>
          <a:xfrm>
            <a:off x="7324344" y="1645920"/>
            <a:ext cx="2057400" cy="3520440"/>
          </a:xfrm>
          <a:prstGeom prst="roundRect">
            <a:avLst>
              <a:gd name="adj" fmla="val 6222"/>
            </a:avLst>
          </a:prstGeom>
          <a:solidFill>
            <a:schemeClr val="tx2"/>
          </a:solidFill>
          <a:ln w="12700">
            <a:solidFill>
              <a:schemeClr val="accent2">
                <a:alpha val="45000"/>
              </a:schemeClr>
            </a:solidFill>
            <a:prstDash val="solid"/>
          </a:ln>
        </p:spPr>
      </p:sp>
      <p:sp>
        <p:nvSpPr>
          <p:cNvPr id="26" name="Step 4"/>
          <p:cNvSpPr/>
          <p:nvPr/>
        </p:nvSpPr>
        <p:spPr>
          <a:xfrm>
            <a:off x="7507224" y="1828800"/>
            <a:ext cx="502920" cy="502920"/>
          </a:xfrm>
          <a:prstGeom prst="ellipse">
            <a:avLst/>
          </a:prstGeom>
          <a:solidFill>
            <a:schemeClr val="accent4">
              <a:alpha val="85000"/>
            </a:schemeClr>
          </a:solidFill>
          <a:ln w="12700">
            <a:solidFill>
              <a:schemeClr val="accent4"/>
            </a:solidFill>
            <a:prstDash val="solid"/>
          </a:ln>
        </p:spPr>
      </p:sp>
      <p:sp>
        <p:nvSpPr>
          <p:cNvPr id="27" name="Step 4 label"/>
          <p:cNvSpPr txBox="1"/>
          <p:nvPr/>
        </p:nvSpPr>
        <p:spPr>
          <a:xfrm>
            <a:off x="7507224" y="18288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4</a:t>
            </a:r>
            <a:endParaRPr lang="en-US" sz="1800" dirty="0"/>
          </a:p>
        </p:txBody>
      </p:sp>
      <p:sp>
        <p:nvSpPr>
          <p:cNvPr id="28" name="Icon chip"/>
          <p:cNvSpPr/>
          <p:nvPr/>
        </p:nvSpPr>
        <p:spPr>
          <a:xfrm>
            <a:off x="8677656" y="1801368"/>
            <a:ext cx="548640" cy="548640"/>
          </a:xfrm>
          <a:prstGeom prst="ellipse">
            <a:avLst/>
          </a:prstGeom>
          <a:solidFill>
            <a:schemeClr val="accent4">
              <a:alpha val="22000"/>
            </a:schemeClr>
          </a:solidFill>
          <a:ln w="12700">
            <a:solidFill>
              <a:schemeClr val="accent4">
                <a:alpha val="70000"/>
              </a:schemeClr>
            </a:solidFill>
            <a:prstDash val="solid"/>
          </a:ln>
        </p:spPr>
      </p:sp>
      <p:pic>
        <p:nvPicPr>
          <p:cNvPr id="29" name="Icon" descr="preencoded.png">    </p:cNvPr>
          <p:cNvPicPr>
            <a:picLocks noChangeAspect="1"/>
          </p:cNvPicPr>
          <p:nvPr/>
        </p:nvPicPr>
        <p:blipFill>
          <a:blip r:embed="rId4"/>
          <a:stretch>
            <a:fillRect/>
          </a:stretch>
        </p:blipFill>
        <p:spPr>
          <a:xfrm>
            <a:off x="8814816" y="1938528"/>
            <a:ext cx="274320" cy="274320"/>
          </a:xfrm>
          <a:prstGeom prst="rect">
            <a:avLst/>
          </a:prstGeom>
        </p:spPr>
      </p:pic>
      <p:sp>
        <p:nvSpPr>
          <p:cNvPr id="30" name="Step 4 title"/>
          <p:cNvSpPr txBox="1"/>
          <p:nvPr/>
        </p:nvSpPr>
        <p:spPr>
          <a:xfrm>
            <a:off x="7507224" y="2560320"/>
            <a:ext cx="1737360" cy="685800"/>
          </a:xfrm>
          <a:prstGeom prst="rect">
            <a:avLst/>
          </a:prstGeom>
          <a:noFill/>
          <a:ln/>
        </p:spPr>
        <p:txBody>
          <a:bodyPr wrap="square" lIns="0" tIns="0" rIns="0" bIns="0" rtlCol="0" anchor="t"/>
          <a:lstStyle/>
          <a:p>
            <a:pPr indent="0" marL="0">
              <a:buNone/>
            </a:pPr>
            <a:r>
              <a:rPr lang="en-US" sz="1800" b="1" dirty="0">
                <a:solidFill>
                  <a:schemeClr val="bg1"/>
                </a:solidFill>
              </a:rPr>
              <a:t>Contract checks</a:t>
            </a:r>
            <a:endParaRPr lang="en-US" sz="1800" dirty="0"/>
          </a:p>
        </p:txBody>
      </p:sp>
      <p:sp>
        <p:nvSpPr>
          <p:cNvPr id="31" name="Step 4 body"/>
          <p:cNvSpPr txBox="1"/>
          <p:nvPr/>
        </p:nvSpPr>
        <p:spPr>
          <a:xfrm>
            <a:off x="7507224" y="3291840"/>
            <a:ext cx="1737360" cy="1783080"/>
          </a:xfrm>
          <a:prstGeom prst="rect">
            <a:avLst/>
          </a:prstGeom>
          <a:noFill/>
          <a:ln/>
        </p:spPr>
        <p:txBody>
          <a:bodyPr wrap="square" lIns="0" tIns="0" rIns="0" bIns="0" rtlCol="0" anchor="t"/>
          <a:lstStyle/>
          <a:p>
            <a:pPr indent="0" marL="0">
              <a:buNone/>
            </a:pPr>
            <a:r>
              <a:rPr lang="en-US" sz="1400" dirty="0">
                <a:solidFill>
                  <a:schemeClr val="bg2"/>
                </a:solidFill>
              </a:rPr>
              <a:t>Is the proof valid? Is the root one we accept? Is the nullifier new? All three, or it reverts.</a:t>
            </a:r>
            <a:endParaRPr lang="en-US" sz="1400" dirty="0"/>
          </a:p>
        </p:txBody>
      </p:sp>
      <p:sp>
        <p:nvSpPr>
          <p:cNvPr id="32" name="Step card 5"/>
          <p:cNvSpPr/>
          <p:nvPr/>
        </p:nvSpPr>
        <p:spPr>
          <a:xfrm>
            <a:off x="9582912" y="1645920"/>
            <a:ext cx="2057400" cy="3520440"/>
          </a:xfrm>
          <a:prstGeom prst="roundRect">
            <a:avLst>
              <a:gd name="adj" fmla="val 6222"/>
            </a:avLst>
          </a:prstGeom>
          <a:solidFill>
            <a:schemeClr val="tx2"/>
          </a:solidFill>
          <a:ln w="12700">
            <a:solidFill>
              <a:schemeClr val="accent2">
                <a:alpha val="45000"/>
              </a:schemeClr>
            </a:solidFill>
            <a:prstDash val="solid"/>
          </a:ln>
        </p:spPr>
      </p:sp>
      <p:sp>
        <p:nvSpPr>
          <p:cNvPr id="33" name="Step 5"/>
          <p:cNvSpPr/>
          <p:nvPr/>
        </p:nvSpPr>
        <p:spPr>
          <a:xfrm>
            <a:off x="9765792" y="1828800"/>
            <a:ext cx="502920" cy="502920"/>
          </a:xfrm>
          <a:prstGeom prst="ellipse">
            <a:avLst/>
          </a:prstGeom>
          <a:solidFill>
            <a:schemeClr val="accent1">
              <a:alpha val="85000"/>
            </a:schemeClr>
          </a:solidFill>
          <a:ln w="12700">
            <a:solidFill>
              <a:schemeClr val="accent1"/>
            </a:solidFill>
            <a:prstDash val="solid"/>
          </a:ln>
        </p:spPr>
      </p:sp>
      <p:sp>
        <p:nvSpPr>
          <p:cNvPr id="34" name="Step 5 label"/>
          <p:cNvSpPr txBox="1"/>
          <p:nvPr/>
        </p:nvSpPr>
        <p:spPr>
          <a:xfrm>
            <a:off x="9765792" y="18288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5</a:t>
            </a:r>
            <a:endParaRPr lang="en-US" sz="1800" dirty="0"/>
          </a:p>
        </p:txBody>
      </p:sp>
      <p:sp>
        <p:nvSpPr>
          <p:cNvPr id="35" name="Icon chip"/>
          <p:cNvSpPr/>
          <p:nvPr/>
        </p:nvSpPr>
        <p:spPr>
          <a:xfrm>
            <a:off x="10936224" y="1801368"/>
            <a:ext cx="548640" cy="548640"/>
          </a:xfrm>
          <a:prstGeom prst="ellipse">
            <a:avLst/>
          </a:prstGeom>
          <a:solidFill>
            <a:schemeClr val="accent1">
              <a:alpha val="22000"/>
            </a:schemeClr>
          </a:solidFill>
          <a:ln w="12700">
            <a:solidFill>
              <a:schemeClr val="accent1">
                <a:alpha val="70000"/>
              </a:schemeClr>
            </a:solidFill>
            <a:prstDash val="solid"/>
          </a:ln>
        </p:spPr>
      </p:sp>
      <p:pic>
        <p:nvPicPr>
          <p:cNvPr id="36" name="Icon" descr="preencoded.png">    </p:cNvPr>
          <p:cNvPicPr>
            <a:picLocks noChangeAspect="1"/>
          </p:cNvPicPr>
          <p:nvPr/>
        </p:nvPicPr>
        <p:blipFill>
          <a:blip r:embed="rId5"/>
          <a:stretch>
            <a:fillRect/>
          </a:stretch>
        </p:blipFill>
        <p:spPr>
          <a:xfrm>
            <a:off x="11073384" y="1938528"/>
            <a:ext cx="274320" cy="274320"/>
          </a:xfrm>
          <a:prstGeom prst="rect">
            <a:avLst/>
          </a:prstGeom>
        </p:spPr>
      </p:pic>
      <p:sp>
        <p:nvSpPr>
          <p:cNvPr id="37" name="Step 5 title"/>
          <p:cNvSpPr txBox="1"/>
          <p:nvPr/>
        </p:nvSpPr>
        <p:spPr>
          <a:xfrm>
            <a:off x="9765792" y="2560320"/>
            <a:ext cx="1737360" cy="685800"/>
          </a:xfrm>
          <a:prstGeom prst="rect">
            <a:avLst/>
          </a:prstGeom>
          <a:noFill/>
          <a:ln/>
        </p:spPr>
        <p:txBody>
          <a:bodyPr wrap="square" lIns="0" tIns="0" rIns="0" bIns="0" rtlCol="0" anchor="t"/>
          <a:lstStyle/>
          <a:p>
            <a:pPr indent="0" marL="0">
              <a:buNone/>
            </a:pPr>
            <a:r>
              <a:rPr lang="en-US" sz="1800" b="1" dirty="0">
                <a:solidFill>
                  <a:schemeClr val="bg1"/>
                </a:solidFill>
              </a:rPr>
              <a:t>Result</a:t>
            </a:r>
            <a:endParaRPr lang="en-US" sz="1800" dirty="0"/>
          </a:p>
        </p:txBody>
      </p:sp>
      <p:sp>
        <p:nvSpPr>
          <p:cNvPr id="38" name="Step 5 body"/>
          <p:cNvSpPr txBox="1"/>
          <p:nvPr/>
        </p:nvSpPr>
        <p:spPr>
          <a:xfrm>
            <a:off x="9765792" y="3291840"/>
            <a:ext cx="1737360" cy="1783080"/>
          </a:xfrm>
          <a:prstGeom prst="rect">
            <a:avLst/>
          </a:prstGeom>
          <a:noFill/>
          <a:ln/>
        </p:spPr>
        <p:txBody>
          <a:bodyPr wrap="square" lIns="0" tIns="0" rIns="0" bIns="0" rtlCol="0" anchor="t"/>
          <a:lstStyle/>
          <a:p>
            <a:pPr indent="0" marL="0">
              <a:buNone/>
            </a:pPr>
            <a:r>
              <a:rPr lang="en-US" sz="1400" dirty="0">
                <a:solidFill>
                  <a:schemeClr val="bg2"/>
                </a:solidFill>
              </a:rPr>
              <a:t>1 human = 1 slot. 1,000 wallets produce the same nullifier: one passes, 999 get rekt.</a:t>
            </a:r>
            <a:endParaRPr lang="en-US" sz="1400" dirty="0"/>
          </a:p>
        </p:txBody>
      </p:sp>
      <p:sp>
        <p:nvSpPr>
          <p:cNvPr id="39" name="Semaphore note"/>
          <p:cNvSpPr txBox="1"/>
          <p:nvPr/>
        </p:nvSpPr>
        <p:spPr>
          <a:xfrm>
            <a:off x="548640" y="5440680"/>
            <a:ext cx="11064240" cy="365760"/>
          </a:xfrm>
          <a:prstGeom prst="rect">
            <a:avLst/>
          </a:prstGeom>
          <a:noFill/>
          <a:ln/>
        </p:spPr>
        <p:txBody>
          <a:bodyPr wrap="square" lIns="0" tIns="0" rIns="0" bIns="0" rtlCol="0" anchor="t"/>
          <a:lstStyle/>
          <a:p>
            <a:pPr indent="0" marL="0">
              <a:buNone/>
            </a:pPr>
            <a:r>
              <a:rPr lang="en-US" sz="1400" dirty="0">
                <a:solidFill>
                  <a:schemeClr val="accent1"/>
                </a:solidFill>
                <a:latin typeface="+mj-lt" pitchFamily="34" charset="0"/>
                <a:ea typeface="+mj-lt" pitchFamily="34" charset="-122"/>
                <a:cs typeface="+mj-lt" pitchFamily="34" charset="-120"/>
              </a:rPr>
              <a:t>Semaphore: open source, Groth16 on BN254, the curve Solana has native alt_bn128 syscalls for.</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THE ONE FORMULA</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nullifier = festival wristband 🎟️</a:t>
            </a:r>
            <a:endParaRPr lang="en-US" sz="3600" dirty="0"/>
          </a:p>
        </p:txBody>
      </p:sp>
      <p:sp>
        <p:nvSpPr>
          <p:cNvPr id="4" name="Terminal"/>
          <p:cNvSpPr/>
          <p:nvPr/>
        </p:nvSpPr>
        <p:spPr>
          <a:xfrm>
            <a:off x="548640" y="1645920"/>
            <a:ext cx="6675120" cy="3246120"/>
          </a:xfrm>
          <a:prstGeom prst="roundRect">
            <a:avLst>
              <a:gd name="adj" fmla="val 3944"/>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5" name="Terminal dot 1"/>
          <p:cNvSpPr/>
          <p:nvPr/>
        </p:nvSpPr>
        <p:spPr>
          <a:xfrm>
            <a:off x="749808" y="1801368"/>
            <a:ext cx="118872" cy="118872"/>
          </a:xfrm>
          <a:prstGeom prst="ellipse">
            <a:avLst/>
          </a:prstGeom>
          <a:solidFill>
            <a:schemeClr val="accent6"/>
          </a:solidFill>
          <a:ln w="12700">
            <a:solidFill>
              <a:schemeClr val="accent6"/>
            </a:solidFill>
            <a:prstDash val="solid"/>
          </a:ln>
        </p:spPr>
      </p:sp>
      <p:sp>
        <p:nvSpPr>
          <p:cNvPr id="6" name="Terminal dot 2"/>
          <p:cNvSpPr/>
          <p:nvPr/>
        </p:nvSpPr>
        <p:spPr>
          <a:xfrm>
            <a:off x="950976" y="1801368"/>
            <a:ext cx="118872" cy="118872"/>
          </a:xfrm>
          <a:prstGeom prst="ellipse">
            <a:avLst/>
          </a:prstGeom>
          <a:solidFill>
            <a:schemeClr val="accent3"/>
          </a:solidFill>
          <a:ln w="12700">
            <a:solidFill>
              <a:schemeClr val="accent3"/>
            </a:solidFill>
            <a:prstDash val="solid"/>
          </a:ln>
        </p:spPr>
      </p:sp>
      <p:sp>
        <p:nvSpPr>
          <p:cNvPr id="7" name="Terminal dot 3"/>
          <p:cNvSpPr/>
          <p:nvPr/>
        </p:nvSpPr>
        <p:spPr>
          <a:xfrm>
            <a:off x="1152144" y="1801368"/>
            <a:ext cx="118872" cy="118872"/>
          </a:xfrm>
          <a:prstGeom prst="ellipse">
            <a:avLst/>
          </a:prstGeom>
          <a:solidFill>
            <a:schemeClr val="accent1"/>
          </a:solidFill>
          <a:ln w="12700">
            <a:solidFill>
              <a:schemeClr val="accent1"/>
            </a:solidFill>
            <a:prstDash val="solid"/>
          </a:ln>
        </p:spPr>
      </p:sp>
      <p:sp>
        <p:nvSpPr>
          <p:cNvPr id="8" name="Terminal label"/>
          <p:cNvSpPr txBox="1"/>
          <p:nvPr/>
        </p:nvSpPr>
        <p:spPr>
          <a:xfrm>
            <a:off x="1417320" y="1728216"/>
            <a:ext cx="557784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semaphore.circom (vibes edition)</a:t>
            </a:r>
            <a:endParaRPr lang="en-US" sz="1000" dirty="0"/>
          </a:p>
        </p:txBody>
      </p:sp>
      <p:sp>
        <p:nvSpPr>
          <p:cNvPr id="9" name="Terminal text"/>
          <p:cNvSpPr txBox="1"/>
          <p:nvPr/>
        </p:nvSpPr>
        <p:spPr>
          <a:xfrm>
            <a:off x="822960" y="2084832"/>
            <a:ext cx="6172200" cy="2697480"/>
          </a:xfrm>
          <a:prstGeom prst="rect">
            <a:avLst/>
          </a:prstGeom>
          <a:noFill/>
          <a:ln/>
        </p:spPr>
        <p:txBody>
          <a:bodyPr wrap="square" lIns="0" tIns="0" rIns="0" bIns="0" rtlCol="0" anchor="t"/>
          <a:lstStyle/>
          <a:p>
            <a:pPr indent="0" marL="0">
              <a:lnSpc>
                <a:spcPct val="115000"/>
              </a:lnSpc>
              <a:buNone/>
            </a:pPr>
            <a:r>
              <a:rPr lang="en-US" sz="1500" dirty="0">
                <a:solidFill>
                  <a:schemeClr val="bg2"/>
                </a:solidFill>
                <a:latin typeface="+mj-lt" pitchFamily="34" charset="0"/>
                <a:ea typeface="+mj-lt" pitchFamily="34" charset="-122"/>
                <a:cs typeface="+mj-lt" pitchFamily="34" charset="-120"/>
              </a:rPr>
              <a:t>// once per app, public</a:t>
            </a:r>
            <a:endParaRPr lang="en-US" sz="1500" dirty="0"/>
          </a:p>
          <a:p>
            <a:pPr indent="0" marL="0">
              <a:lnSpc>
                <a:spcPct val="115000"/>
              </a:lnSpc>
              <a:buNone/>
            </a:pPr>
            <a:r>
              <a:rPr lang="en-US" sz="1500" dirty="0">
                <a:solidFill>
                  <a:schemeClr val="bg1"/>
                </a:solidFill>
                <a:latin typeface="+mj-lt" pitchFamily="34" charset="0"/>
                <a:ea typeface="+mj-lt" pitchFamily="34" charset="-122"/>
                <a:cs typeface="+mj-lt" pitchFamily="34" charset="-120"/>
              </a:rPr>
              <a:t>scope     = hash("tessera/operator/v1")</a:t>
            </a:r>
            <a:endParaRPr lang="en-US" sz="1500" dirty="0"/>
          </a:p>
          <a:p>
            <a:pPr indent="0" marL="0">
              <a:lnSpc>
                <a:spcPct val="115000"/>
              </a:lnSpc>
              <a:buNone/>
            </a:pPr>
            <a:r>
              <a:rPr lang="en-US" sz="1500" dirty="0">
                <a:solidFill>
                  <a:schemeClr val="bg2"/>
                </a:solidFill>
                <a:latin typeface="+mj-lt" pitchFamily="34" charset="0"/>
                <a:ea typeface="+mj-lt" pitchFamily="34" charset="-122"/>
                <a:cs typeface="+mj-lt" pitchFamily="34" charset="-120"/>
              </a:rPr>
              <a:t>// derived from your secret identity</a:t>
            </a:r>
            <a:endParaRPr lang="en-US" sz="1500" dirty="0"/>
          </a:p>
          <a:p>
            <a:pPr indent="0" marL="0">
              <a:lnSpc>
                <a:spcPct val="115000"/>
              </a:lnSpc>
              <a:buNone/>
            </a:pPr>
            <a:r>
              <a:rPr lang="en-US" sz="1500" dirty="0">
                <a:solidFill>
                  <a:schemeClr val="accent1"/>
                </a:solidFill>
                <a:latin typeface="+mj-lt" pitchFamily="34" charset="0"/>
                <a:ea typeface="+mj-lt" pitchFamily="34" charset="-122"/>
                <a:cs typeface="+mj-lt" pitchFamily="34" charset="-120"/>
              </a:rPr>
              <a:t>nullifier = Poseidon(secret, scope)</a:t>
            </a:r>
            <a:endParaRPr lang="en-US" sz="1500" dirty="0"/>
          </a:p>
          <a:p>
            <a:pPr indent="0" marL="0">
              <a:lnSpc>
                <a:spcPct val="115000"/>
              </a:lnSpc>
              <a:buNone/>
            </a:pPr>
            <a:r>
              <a:rPr lang="en-US" sz="1500" dirty="0">
                <a:solidFill>
                  <a:schemeClr val="bg1"/>
                </a:solidFill>
                <a:latin typeface="+mj-lt" pitchFamily="34" charset="0"/>
                <a:ea typeface="+mj-lt" pitchFamily="34" charset="-122"/>
                <a:cs typeface="+mj-lt" pitchFamily="34" charset="-120"/>
              </a:rPr>
              <a:t>message   = your wallet address</a:t>
            </a:r>
            <a:endParaRPr lang="en-US" sz="1500" dirty="0"/>
          </a:p>
          <a:p>
            <a:pPr indent="0" marL="0">
              <a:lnSpc>
                <a:spcPct val="115000"/>
              </a:lnSpc>
              <a:buNone/>
            </a:pPr>
            <a:r>
              <a:rPr lang="en-US" sz="1500" dirty="0">
                <a:solidFill>
                  <a:schemeClr val="bg2"/>
                </a:solidFill>
                <a:latin typeface="+mj-lt" pitchFamily="34" charset="0"/>
                <a:ea typeface="+mj-lt" pitchFamily="34" charset="-122"/>
                <a:cs typeface="+mj-lt" pitchFamily="34" charset="-120"/>
              </a:rPr>
              <a:t> </a:t>
            </a:r>
            <a:endParaRPr lang="en-US" sz="1500" dirty="0"/>
          </a:p>
          <a:p>
            <a:pPr indent="0" marL="0">
              <a:lnSpc>
                <a:spcPct val="115000"/>
              </a:lnSpc>
              <a:buNone/>
            </a:pPr>
            <a:r>
              <a:rPr lang="en-US" sz="1500" dirty="0">
                <a:solidFill>
                  <a:schemeClr val="bg2"/>
                </a:solidFill>
                <a:latin typeface="+mj-lt" pitchFamily="34" charset="0"/>
                <a:ea typeface="+mj-lt" pitchFamily="34" charset="-122"/>
                <a:cs typeface="+mj-lt" pitchFamily="34" charset="-120"/>
              </a:rPr>
              <a:t>// same human, same scope → same nullifier</a:t>
            </a:r>
            <a:endParaRPr lang="en-US" sz="1500" dirty="0"/>
          </a:p>
          <a:p>
            <a:pPr indent="0" marL="0">
              <a:lnSpc>
                <a:spcPct val="115000"/>
              </a:lnSpc>
              <a:buNone/>
            </a:pPr>
            <a:r>
              <a:rPr lang="en-US" sz="1500" dirty="0">
                <a:solidFill>
                  <a:schemeClr val="accent4"/>
                </a:solidFill>
                <a:latin typeface="+mj-lt" pitchFamily="34" charset="0"/>
                <a:ea typeface="+mj-lt" pitchFamily="34" charset="-122"/>
                <a:cs typeface="+mj-lt" pitchFamily="34" charset="-120"/>
              </a:rPr>
              <a:t>// → 2nd attempt reverts: AlreadyClaimed</a:t>
            </a:r>
            <a:endParaRPr lang="en-US" sz="1500" dirty="0"/>
          </a:p>
          <a:p>
            <a:pPr indent="0" marL="0">
              <a:lnSpc>
                <a:spcPct val="115000"/>
              </a:lnSpc>
              <a:buNone/>
            </a:pPr>
            <a:r>
              <a:rPr lang="en-US" sz="1500" dirty="0">
                <a:solidFill>
                  <a:schemeClr val="accent3"/>
                </a:solidFill>
                <a:latin typeface="+mj-lt" pitchFamily="34" charset="0"/>
                <a:ea typeface="+mj-lt" pitchFamily="34" charset="-122"/>
                <a:cs typeface="+mj-lt" pitchFamily="34" charset="-120"/>
              </a:rPr>
              <a:t>// other app, other scope → unlinkable</a:t>
            </a:r>
            <a:endParaRPr lang="en-US" sz="1500" dirty="0"/>
          </a:p>
        </p:txBody>
      </p:sp>
      <p:sp>
        <p:nvSpPr>
          <p:cNvPr id="10" name="Message note"/>
          <p:cNvSpPr txBox="1"/>
          <p:nvPr/>
        </p:nvSpPr>
        <p:spPr>
          <a:xfrm>
            <a:off x="548640" y="5074920"/>
            <a:ext cx="6675120" cy="1005840"/>
          </a:xfrm>
          <a:prstGeom prst="rect">
            <a:avLst/>
          </a:prstGeom>
          <a:noFill/>
          <a:ln/>
        </p:spPr>
        <p:txBody>
          <a:bodyPr wrap="square" lIns="0" tIns="0" rIns="0" bIns="0" rtlCol="0" anchor="t"/>
          <a:lstStyle/>
          <a:p>
            <a:pPr indent="0" marL="0">
              <a:buNone/>
            </a:pPr>
            <a:r>
              <a:rPr lang="en-US" sz="1600" dirty="0">
                <a:solidFill>
                  <a:schemeClr val="bg1"/>
                </a:solidFill>
              </a:rPr>
              <a:t>Why put your wallet in “message”? The proof is bound to it, so nobody can copy your proof out of the mempool and claim your slot with their own wallet.</a:t>
            </a:r>
            <a:endParaRPr lang="en-US" sz="1600" dirty="0"/>
          </a:p>
        </p:txBody>
      </p:sp>
      <p:sp>
        <p:nvSpPr>
          <p:cNvPr id="11" name="Analogy 1"/>
          <p:cNvSpPr/>
          <p:nvPr/>
        </p:nvSpPr>
        <p:spPr>
          <a:xfrm>
            <a:off x="7498080" y="1645920"/>
            <a:ext cx="4142232" cy="1325880"/>
          </a:xfrm>
          <a:prstGeom prst="roundRect">
            <a:avLst>
              <a:gd name="adj" fmla="val 9655"/>
            </a:avLst>
          </a:prstGeom>
          <a:solidFill>
            <a:schemeClr val="tx2"/>
          </a:solidFill>
          <a:ln w="12700">
            <a:solidFill>
              <a:schemeClr val="accent2">
                <a:alpha val="45000"/>
              </a:schemeClr>
            </a:solidFill>
            <a:prstDash val="solid"/>
          </a:ln>
        </p:spPr>
      </p:sp>
      <p:sp>
        <p:nvSpPr>
          <p:cNvPr id="12" name="Icon chip"/>
          <p:cNvSpPr/>
          <p:nvPr/>
        </p:nvSpPr>
        <p:spPr>
          <a:xfrm>
            <a:off x="7662672" y="1828800"/>
            <a:ext cx="548640" cy="548640"/>
          </a:xfrm>
          <a:prstGeom prst="ellipse">
            <a:avLst/>
          </a:prstGeom>
          <a:solidFill>
            <a:schemeClr val="accent3">
              <a:alpha val="22000"/>
            </a:schemeClr>
          </a:solidFill>
          <a:ln w="12700">
            <a:solidFill>
              <a:schemeClr val="accent3">
                <a:alpha val="70000"/>
              </a:schemeClr>
            </a:solidFill>
            <a:prstDash val="solid"/>
          </a:ln>
        </p:spPr>
      </p:sp>
      <p:pic>
        <p:nvPicPr>
          <p:cNvPr id="13" name="Icon" descr="preencoded.png">    </p:cNvPr>
          <p:cNvPicPr>
            <a:picLocks noChangeAspect="1"/>
          </p:cNvPicPr>
          <p:nvPr/>
        </p:nvPicPr>
        <p:blipFill>
          <a:blip r:embed="rId1"/>
          <a:stretch>
            <a:fillRect/>
          </a:stretch>
        </p:blipFill>
        <p:spPr>
          <a:xfrm>
            <a:off x="7799832" y="1965960"/>
            <a:ext cx="274320" cy="274320"/>
          </a:xfrm>
          <a:prstGeom prst="rect">
            <a:avLst/>
          </a:prstGeom>
        </p:spPr>
      </p:pic>
      <p:sp>
        <p:nvSpPr>
          <p:cNvPr id="14" name="Analogy 1 title"/>
          <p:cNvSpPr txBox="1"/>
          <p:nvPr/>
        </p:nvSpPr>
        <p:spPr>
          <a:xfrm>
            <a:off x="8366760" y="1828800"/>
            <a:ext cx="3154680" cy="365760"/>
          </a:xfrm>
          <a:prstGeom prst="rect">
            <a:avLst/>
          </a:prstGeom>
          <a:noFill/>
          <a:ln/>
        </p:spPr>
        <p:txBody>
          <a:bodyPr wrap="square" lIns="0" tIns="0" rIns="0" bIns="0" rtlCol="0" anchor="t"/>
          <a:lstStyle/>
          <a:p>
            <a:pPr indent="0" marL="0">
              <a:buNone/>
            </a:pPr>
            <a:r>
              <a:rPr lang="en-US" sz="1700" b="1" dirty="0">
                <a:solidFill>
                  <a:schemeClr val="bg1"/>
                </a:solidFill>
              </a:rPr>
              <a:t>One wristband per person</a:t>
            </a:r>
            <a:endParaRPr lang="en-US" sz="1700" dirty="0"/>
          </a:p>
        </p:txBody>
      </p:sp>
      <p:sp>
        <p:nvSpPr>
          <p:cNvPr id="15" name="Analogy 1 body"/>
          <p:cNvSpPr txBox="1"/>
          <p:nvPr/>
        </p:nvSpPr>
        <p:spPr>
          <a:xfrm>
            <a:off x="8366760" y="2212848"/>
            <a:ext cx="3154680" cy="685800"/>
          </a:xfrm>
          <a:prstGeom prst="rect">
            <a:avLst/>
          </a:prstGeom>
          <a:noFill/>
          <a:ln/>
        </p:spPr>
        <p:txBody>
          <a:bodyPr wrap="square" lIns="0" tIns="0" rIns="0" bIns="0" rtlCol="0" anchor="t"/>
          <a:lstStyle/>
          <a:p>
            <a:pPr indent="0" marL="0">
              <a:buNone/>
            </a:pPr>
            <a:r>
              <a:rPr lang="en-US" sz="1400" dirty="0">
                <a:solidFill>
                  <a:schemeClr val="bg2"/>
                </a:solidFill>
              </a:rPr>
              <a:t>The bouncer checks one thing: has this wristband been used?</a:t>
            </a:r>
            <a:endParaRPr lang="en-US" sz="1400" dirty="0"/>
          </a:p>
        </p:txBody>
      </p:sp>
      <p:sp>
        <p:nvSpPr>
          <p:cNvPr id="16" name="Analogy 2"/>
          <p:cNvSpPr/>
          <p:nvPr/>
        </p:nvSpPr>
        <p:spPr>
          <a:xfrm>
            <a:off x="7498080" y="3127248"/>
            <a:ext cx="4142232" cy="1325880"/>
          </a:xfrm>
          <a:prstGeom prst="roundRect">
            <a:avLst>
              <a:gd name="adj" fmla="val 9655"/>
            </a:avLst>
          </a:prstGeom>
          <a:solidFill>
            <a:schemeClr val="tx2"/>
          </a:solidFill>
          <a:ln w="12700">
            <a:solidFill>
              <a:schemeClr val="accent2">
                <a:alpha val="45000"/>
              </a:schemeClr>
            </a:solidFill>
            <a:prstDash val="solid"/>
          </a:ln>
        </p:spPr>
      </p:sp>
      <p:sp>
        <p:nvSpPr>
          <p:cNvPr id="17" name="Icon chip"/>
          <p:cNvSpPr/>
          <p:nvPr/>
        </p:nvSpPr>
        <p:spPr>
          <a:xfrm>
            <a:off x="7662672" y="3310128"/>
            <a:ext cx="548640" cy="548640"/>
          </a:xfrm>
          <a:prstGeom prst="ellipse">
            <a:avLst/>
          </a:prstGeom>
          <a:solidFill>
            <a:schemeClr val="accent5">
              <a:alpha val="22000"/>
            </a:schemeClr>
          </a:solidFill>
          <a:ln w="12700">
            <a:solidFill>
              <a:schemeClr val="accent5">
                <a:alpha val="70000"/>
              </a:schemeClr>
            </a:solidFill>
            <a:prstDash val="solid"/>
          </a:ln>
        </p:spPr>
      </p:sp>
      <p:pic>
        <p:nvPicPr>
          <p:cNvPr id="18" name="Icon" descr="preencoded.png">    </p:cNvPr>
          <p:cNvPicPr>
            <a:picLocks noChangeAspect="1"/>
          </p:cNvPicPr>
          <p:nvPr/>
        </p:nvPicPr>
        <p:blipFill>
          <a:blip r:embed="rId2"/>
          <a:stretch>
            <a:fillRect/>
          </a:stretch>
        </p:blipFill>
        <p:spPr>
          <a:xfrm>
            <a:off x="7799832" y="3447288"/>
            <a:ext cx="274320" cy="274320"/>
          </a:xfrm>
          <a:prstGeom prst="rect">
            <a:avLst/>
          </a:prstGeom>
        </p:spPr>
      </p:pic>
      <p:sp>
        <p:nvSpPr>
          <p:cNvPr id="19" name="Analogy 2 title"/>
          <p:cNvSpPr txBox="1"/>
          <p:nvPr/>
        </p:nvSpPr>
        <p:spPr>
          <a:xfrm>
            <a:off x="8366760" y="3310128"/>
            <a:ext cx="3154680" cy="365760"/>
          </a:xfrm>
          <a:prstGeom prst="rect">
            <a:avLst/>
          </a:prstGeom>
          <a:noFill/>
          <a:ln/>
        </p:spPr>
        <p:txBody>
          <a:bodyPr wrap="square" lIns="0" tIns="0" rIns="0" bIns="0" rtlCol="0" anchor="t"/>
          <a:lstStyle/>
          <a:p>
            <a:pPr indent="0" marL="0">
              <a:buNone/>
            </a:pPr>
            <a:r>
              <a:rPr lang="en-US" sz="1700" b="1" dirty="0">
                <a:solidFill>
                  <a:schemeClr val="bg1"/>
                </a:solidFill>
              </a:rPr>
              <a:t>No name at the door</a:t>
            </a:r>
            <a:endParaRPr lang="en-US" sz="1700" dirty="0"/>
          </a:p>
        </p:txBody>
      </p:sp>
      <p:sp>
        <p:nvSpPr>
          <p:cNvPr id="20" name="Analogy 2 body"/>
          <p:cNvSpPr txBox="1"/>
          <p:nvPr/>
        </p:nvSpPr>
        <p:spPr>
          <a:xfrm>
            <a:off x="8366760" y="3694176"/>
            <a:ext cx="3154680" cy="685800"/>
          </a:xfrm>
          <a:prstGeom prst="rect">
            <a:avLst/>
          </a:prstGeom>
          <a:noFill/>
          <a:ln/>
        </p:spPr>
        <p:txBody>
          <a:bodyPr wrap="square" lIns="0" tIns="0" rIns="0" bIns="0" rtlCol="0" anchor="t"/>
          <a:lstStyle/>
          <a:p>
            <a:pPr indent="0" marL="0">
              <a:buNone/>
            </a:pPr>
            <a:r>
              <a:rPr lang="en-US" sz="1400" dirty="0">
                <a:solidFill>
                  <a:schemeClr val="bg2"/>
                </a:solidFill>
              </a:rPr>
              <a:t>The bouncer knows you’re on the list, not who you are.</a:t>
            </a:r>
            <a:endParaRPr lang="en-US" sz="1400" dirty="0"/>
          </a:p>
        </p:txBody>
      </p:sp>
      <p:sp>
        <p:nvSpPr>
          <p:cNvPr id="21" name="Analogy 3"/>
          <p:cNvSpPr/>
          <p:nvPr/>
        </p:nvSpPr>
        <p:spPr>
          <a:xfrm>
            <a:off x="7498080" y="4608576"/>
            <a:ext cx="4142232" cy="1325880"/>
          </a:xfrm>
          <a:prstGeom prst="roundRect">
            <a:avLst>
              <a:gd name="adj" fmla="val 9655"/>
            </a:avLst>
          </a:prstGeom>
          <a:solidFill>
            <a:schemeClr val="tx2"/>
          </a:solidFill>
          <a:ln w="12700">
            <a:solidFill>
              <a:schemeClr val="accent2">
                <a:alpha val="45000"/>
              </a:schemeClr>
            </a:solidFill>
            <a:prstDash val="solid"/>
          </a:ln>
        </p:spPr>
      </p:sp>
      <p:sp>
        <p:nvSpPr>
          <p:cNvPr id="22" name="Icon chip"/>
          <p:cNvSpPr/>
          <p:nvPr/>
        </p:nvSpPr>
        <p:spPr>
          <a:xfrm>
            <a:off x="7662672" y="4791456"/>
            <a:ext cx="548640" cy="548640"/>
          </a:xfrm>
          <a:prstGeom prst="ellipse">
            <a:avLst/>
          </a:prstGeom>
          <a:solidFill>
            <a:schemeClr val="accent4">
              <a:alpha val="22000"/>
            </a:schemeClr>
          </a:solidFill>
          <a:ln w="12700">
            <a:solidFill>
              <a:schemeClr val="accent4">
                <a:alpha val="70000"/>
              </a:schemeClr>
            </a:solidFill>
            <a:prstDash val="solid"/>
          </a:ln>
        </p:spPr>
      </p:sp>
      <p:pic>
        <p:nvPicPr>
          <p:cNvPr id="23" name="Icon" descr="preencoded.png">    </p:cNvPr>
          <p:cNvPicPr>
            <a:picLocks noChangeAspect="1"/>
          </p:cNvPicPr>
          <p:nvPr/>
        </p:nvPicPr>
        <p:blipFill>
          <a:blip r:embed="rId3"/>
          <a:stretch>
            <a:fillRect/>
          </a:stretch>
        </p:blipFill>
        <p:spPr>
          <a:xfrm>
            <a:off x="7799832" y="4928616"/>
            <a:ext cx="274320" cy="274320"/>
          </a:xfrm>
          <a:prstGeom prst="rect">
            <a:avLst/>
          </a:prstGeom>
        </p:spPr>
      </p:pic>
      <p:sp>
        <p:nvSpPr>
          <p:cNvPr id="24" name="Analogy 3 title"/>
          <p:cNvSpPr txBox="1"/>
          <p:nvPr/>
        </p:nvSpPr>
        <p:spPr>
          <a:xfrm>
            <a:off x="8366760" y="4791456"/>
            <a:ext cx="3154680" cy="365760"/>
          </a:xfrm>
          <a:prstGeom prst="rect">
            <a:avLst/>
          </a:prstGeom>
          <a:noFill/>
          <a:ln/>
        </p:spPr>
        <p:txBody>
          <a:bodyPr wrap="square" lIns="0" tIns="0" rIns="0" bIns="0" rtlCol="0" anchor="t"/>
          <a:lstStyle/>
          <a:p>
            <a:pPr indent="0" marL="0">
              <a:buNone/>
            </a:pPr>
            <a:r>
              <a:rPr lang="en-US" sz="1700" b="1" dirty="0">
                <a:solidFill>
                  <a:schemeClr val="bg1"/>
                </a:solidFill>
              </a:rPr>
              <a:t>New festival, new wristband</a:t>
            </a:r>
            <a:endParaRPr lang="en-US" sz="1700" dirty="0"/>
          </a:p>
        </p:txBody>
      </p:sp>
      <p:sp>
        <p:nvSpPr>
          <p:cNvPr id="25" name="Analogy 3 body"/>
          <p:cNvSpPr txBox="1"/>
          <p:nvPr/>
        </p:nvSpPr>
        <p:spPr>
          <a:xfrm>
            <a:off x="8366760" y="5175504"/>
            <a:ext cx="3154680" cy="685800"/>
          </a:xfrm>
          <a:prstGeom prst="rect">
            <a:avLst/>
          </a:prstGeom>
          <a:noFill/>
          <a:ln/>
        </p:spPr>
        <p:txBody>
          <a:bodyPr wrap="square" lIns="0" tIns="0" rIns="0" bIns="0" rtlCol="0" anchor="t"/>
          <a:lstStyle/>
          <a:p>
            <a:pPr indent="0" marL="0">
              <a:buNone/>
            </a:pPr>
            <a:r>
              <a:rPr lang="en-US" sz="1400" dirty="0">
                <a:solidFill>
                  <a:schemeClr val="bg2"/>
                </a:solidFill>
              </a:rPr>
              <a:t>Your Tessera nullifier ≠ your airdrop nullifier. Nobody can link them.</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ARCHITECTURE: 1 ACCOUNT, 3 INSTRUCTIONS, 0 CHANGES TO X402</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where it plugs into Tessera</a:t>
            </a:r>
            <a:endParaRPr lang="en-US" sz="3600" dirty="0"/>
          </a:p>
        </p:txBody>
      </p:sp>
      <p:sp>
        <p:nvSpPr>
          <p:cNvPr id="4" name="Issuer box"/>
          <p:cNvSpPr/>
          <p:nvPr/>
        </p:nvSpPr>
        <p:spPr>
          <a:xfrm>
            <a:off x="548640" y="1645920"/>
            <a:ext cx="2560320" cy="1371600"/>
          </a:xfrm>
          <a:prstGeom prst="roundRect">
            <a:avLst>
              <a:gd name="adj" fmla="val 9333"/>
            </a:avLst>
          </a:prstGeom>
          <a:solidFill>
            <a:schemeClr val="accent5">
              <a:alpha val="16000"/>
            </a:schemeClr>
          </a:solidFill>
          <a:ln w="12700">
            <a:solidFill>
              <a:schemeClr val="accent5">
                <a:alpha val="45000"/>
              </a:schemeClr>
            </a:solidFill>
            <a:prstDash val="solid"/>
          </a:ln>
        </p:spPr>
      </p:sp>
      <p:sp>
        <p:nvSpPr>
          <p:cNvPr id="5" name="Issuer box title"/>
          <p:cNvSpPr txBox="1"/>
          <p:nvPr/>
        </p:nvSpPr>
        <p:spPr>
          <a:xfrm>
            <a:off x="713232" y="1783080"/>
            <a:ext cx="2231136" cy="347472"/>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Issuer</a:t>
            </a:r>
            <a:endParaRPr lang="en-US" sz="1600" dirty="0"/>
          </a:p>
        </p:txBody>
      </p:sp>
      <p:sp>
        <p:nvSpPr>
          <p:cNvPr id="6" name="Issuer box body"/>
          <p:cNvSpPr txBox="1"/>
          <p:nvPr/>
        </p:nvSpPr>
        <p:spPr>
          <a:xfrm>
            <a:off x="713232" y="2148840"/>
            <a:ext cx="2231136" cy="777240"/>
          </a:xfrm>
          <a:prstGeom prst="rect">
            <a:avLst/>
          </a:prstGeom>
          <a:noFill/>
          <a:ln/>
        </p:spPr>
        <p:txBody>
          <a:bodyPr wrap="square" lIns="0" tIns="0" rIns="0" bIns="0" rtlCol="0" anchor="t"/>
          <a:lstStyle/>
          <a:p>
            <a:pPr indent="0" marL="0">
              <a:buNone/>
            </a:pPr>
            <a:r>
              <a:rPr lang="en-US" sz="1400" dirty="0">
                <a:solidFill>
                  <a:schemeClr val="bg2"/>
                </a:solidFill>
              </a:rPr>
              <a:t>Verifies humans or businesses off-chain. Posts the group’s Merkle root.</a:t>
            </a:r>
            <a:endParaRPr lang="en-US" sz="1400" dirty="0"/>
          </a:p>
        </p:txBody>
      </p:sp>
      <p:sp>
        <p:nvSpPr>
          <p:cNvPr id="7" name="Roots box"/>
          <p:cNvSpPr/>
          <p:nvPr/>
        </p:nvSpPr>
        <p:spPr>
          <a:xfrm>
            <a:off x="3657600" y="1645920"/>
            <a:ext cx="2926080" cy="1371600"/>
          </a:xfrm>
          <a:prstGeom prst="roundRect">
            <a:avLst>
              <a:gd name="adj" fmla="val 9333"/>
            </a:avLst>
          </a:prstGeom>
          <a:solidFill>
            <a:schemeClr val="accent3">
              <a:alpha val="16000"/>
            </a:schemeClr>
          </a:solidFill>
          <a:ln w="12700">
            <a:solidFill>
              <a:schemeClr val="accent3">
                <a:alpha val="45000"/>
              </a:schemeClr>
            </a:solidFill>
            <a:prstDash val="solid"/>
          </a:ln>
        </p:spPr>
      </p:sp>
      <p:sp>
        <p:nvSpPr>
          <p:cNvPr id="8" name="Roots box title"/>
          <p:cNvSpPr txBox="1"/>
          <p:nvPr/>
        </p:nvSpPr>
        <p:spPr>
          <a:xfrm>
            <a:off x="3822192" y="1783080"/>
            <a:ext cx="2596896" cy="347472"/>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Config.roots</a:t>
            </a:r>
            <a:endParaRPr lang="en-US" sz="1600" dirty="0"/>
          </a:p>
        </p:txBody>
      </p:sp>
      <p:sp>
        <p:nvSpPr>
          <p:cNvPr id="9" name="Roots box body"/>
          <p:cNvSpPr txBox="1"/>
          <p:nvPr/>
        </p:nvSpPr>
        <p:spPr>
          <a:xfrm>
            <a:off x="3822192" y="2148840"/>
            <a:ext cx="2596896" cy="777240"/>
          </a:xfrm>
          <a:prstGeom prst="rect">
            <a:avLst/>
          </a:prstGeom>
          <a:noFill/>
          <a:ln/>
        </p:spPr>
        <p:txBody>
          <a:bodyPr wrap="square" lIns="0" tIns="0" rIns="0" bIns="0" rtlCol="0" anchor="t"/>
          <a:lstStyle/>
          <a:p>
            <a:pPr indent="0" marL="0">
              <a:buNone/>
            </a:pPr>
            <a:r>
              <a:rPr lang="en-US" sz="1400" dirty="0">
                <a:solidFill>
                  <a:schemeClr val="bg2"/>
                </a:solidFill>
              </a:rPr>
              <a:t>post_root (issuer signs). Keeps the last N roots so proofs don’t go stale.</a:t>
            </a:r>
            <a:endParaRPr lang="en-US" sz="1400" dirty="0"/>
          </a:p>
        </p:txBody>
      </p:sp>
      <p:sp>
        <p:nvSpPr>
          <p:cNvPr id="10" name="Browser box"/>
          <p:cNvSpPr/>
          <p:nvPr/>
        </p:nvSpPr>
        <p:spPr>
          <a:xfrm>
            <a:off x="548640" y="3383280"/>
            <a:ext cx="2560320" cy="1463040"/>
          </a:xfrm>
          <a:prstGeom prst="roundRect">
            <a:avLst>
              <a:gd name="adj" fmla="val 8750"/>
            </a:avLst>
          </a:prstGeom>
          <a:solidFill>
            <a:schemeClr val="accent4">
              <a:alpha val="16000"/>
            </a:schemeClr>
          </a:solidFill>
          <a:ln w="12700">
            <a:solidFill>
              <a:schemeClr val="accent4">
                <a:alpha val="45000"/>
              </a:schemeClr>
            </a:solidFill>
            <a:prstDash val="solid"/>
          </a:ln>
        </p:spPr>
      </p:sp>
      <p:sp>
        <p:nvSpPr>
          <p:cNvPr id="11" name="Browser box title"/>
          <p:cNvSpPr txBox="1"/>
          <p:nvPr/>
        </p:nvSpPr>
        <p:spPr>
          <a:xfrm>
            <a:off x="713232" y="3520440"/>
            <a:ext cx="2231136" cy="347472"/>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Your browser</a:t>
            </a:r>
            <a:endParaRPr lang="en-US" sz="1600" dirty="0"/>
          </a:p>
        </p:txBody>
      </p:sp>
      <p:sp>
        <p:nvSpPr>
          <p:cNvPr id="12" name="Browser box body"/>
          <p:cNvSpPr txBox="1"/>
          <p:nvPr/>
        </p:nvSpPr>
        <p:spPr>
          <a:xfrm>
            <a:off x="713232" y="3886200"/>
            <a:ext cx="2231136" cy="868680"/>
          </a:xfrm>
          <a:prstGeom prst="rect">
            <a:avLst/>
          </a:prstGeom>
          <a:noFill/>
          <a:ln/>
        </p:spPr>
        <p:txBody>
          <a:bodyPr wrap="square" lIns="0" tIns="0" rIns="0" bIns="0" rtlCol="0" anchor="t"/>
          <a:lstStyle/>
          <a:p>
            <a:pPr indent="0" marL="0">
              <a:buNone/>
            </a:pPr>
            <a:r>
              <a:rPr lang="en-US" sz="1400" dirty="0">
                <a:solidFill>
                  <a:schemeClr val="bg2"/>
                </a:solidFill>
              </a:rPr>
              <a:t>Semaphore’s JS library builds the Groth16 proof in a few seconds.</a:t>
            </a:r>
            <a:endParaRPr lang="en-US" sz="1400" dirty="0"/>
          </a:p>
        </p:txBody>
      </p:sp>
      <p:sp>
        <p:nvSpPr>
          <p:cNvPr id="13" name="Program box"/>
          <p:cNvSpPr/>
          <p:nvPr/>
        </p:nvSpPr>
        <p:spPr>
          <a:xfrm>
            <a:off x="3657600" y="3383280"/>
            <a:ext cx="2926080" cy="1463040"/>
          </a:xfrm>
          <a:prstGeom prst="roundRect">
            <a:avLst>
              <a:gd name="adj" fmla="val 8750"/>
            </a:avLst>
          </a:prstGeom>
          <a:solidFill>
            <a:schemeClr val="tx2"/>
          </a:solidFill>
          <a:ln w="12700">
            <a:solidFill>
              <a:schemeClr val="accent2"/>
            </a:solidFill>
            <a:prstDash val="solid"/>
          </a:ln>
          <a:effectLst>
            <a:outerShdw sx="100000" sy="100000" kx="0" ky="0" algn="bl" rotWithShape="0" blurRad="228600" dist="50800" dir="5400000">
              <a:srgbClr val="9945FF">
                <a:alpha val="35000"/>
              </a:srgbClr>
            </a:outerShdw>
          </a:effectLst>
        </p:spPr>
      </p:sp>
      <p:sp>
        <p:nvSpPr>
          <p:cNvPr id="14" name="Program box title"/>
          <p:cNvSpPr txBox="1"/>
          <p:nvPr/>
        </p:nvSpPr>
        <p:spPr>
          <a:xfrm>
            <a:off x="3822192" y="3520440"/>
            <a:ext cx="2596896" cy="347472"/>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Tessera program</a:t>
            </a:r>
            <a:endParaRPr lang="en-US" sz="1600" dirty="0"/>
          </a:p>
        </p:txBody>
      </p:sp>
      <p:sp>
        <p:nvSpPr>
          <p:cNvPr id="15" name="Program box body"/>
          <p:cNvSpPr txBox="1"/>
          <p:nvPr/>
        </p:nvSpPr>
        <p:spPr>
          <a:xfrm>
            <a:off x="3822192" y="3886200"/>
            <a:ext cx="2596896" cy="868680"/>
          </a:xfrm>
          <a:prstGeom prst="rect">
            <a:avLst/>
          </a:prstGeom>
          <a:noFill/>
          <a:ln/>
        </p:spPr>
        <p:txBody>
          <a:bodyPr wrap="square" lIns="0" tIns="0" rIns="0" bIns="0" rtlCol="0" anchor="t"/>
          <a:lstStyle/>
          <a:p>
            <a:pPr indent="0" marL="0">
              <a:buNone/>
            </a:pPr>
            <a:r>
              <a:rPr lang="en-US" sz="1400" dirty="0">
                <a:solidFill>
                  <a:schemeClr val="bg2"/>
                </a:solidFill>
              </a:rPr>
              <a:t>prove_operator(proof, root, nullifier): Groth16 check via alt_bn128 syscalls.</a:t>
            </a:r>
            <a:endParaRPr lang="en-US" sz="1400" dirty="0"/>
          </a:p>
        </p:txBody>
      </p:sp>
      <p:sp>
        <p:nvSpPr>
          <p:cNvPr id="16" name="Operator box"/>
          <p:cNvSpPr/>
          <p:nvPr/>
        </p:nvSpPr>
        <p:spPr>
          <a:xfrm>
            <a:off x="7132320" y="3383280"/>
            <a:ext cx="2377440" cy="1463040"/>
          </a:xfrm>
          <a:prstGeom prst="roundRect">
            <a:avLst>
              <a:gd name="adj" fmla="val 8750"/>
            </a:avLst>
          </a:prstGeom>
          <a:solidFill>
            <a:schemeClr val="accent1">
              <a:alpha val="16000"/>
            </a:schemeClr>
          </a:solidFill>
          <a:ln w="12700">
            <a:solidFill>
              <a:schemeClr val="accent1">
                <a:alpha val="45000"/>
              </a:schemeClr>
            </a:solidFill>
            <a:prstDash val="solid"/>
          </a:ln>
        </p:spPr>
      </p:sp>
      <p:sp>
        <p:nvSpPr>
          <p:cNvPr id="17" name="Operator box title"/>
          <p:cNvSpPr txBox="1"/>
          <p:nvPr/>
        </p:nvSpPr>
        <p:spPr>
          <a:xfrm>
            <a:off x="7296912" y="3520440"/>
            <a:ext cx="2048256" cy="347472"/>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Operator PDA</a:t>
            </a:r>
            <a:endParaRPr lang="en-US" sz="1600" dirty="0"/>
          </a:p>
        </p:txBody>
      </p:sp>
      <p:sp>
        <p:nvSpPr>
          <p:cNvPr id="18" name="Operator box body"/>
          <p:cNvSpPr txBox="1"/>
          <p:nvPr/>
        </p:nvSpPr>
        <p:spPr>
          <a:xfrm>
            <a:off x="7296912" y="3886200"/>
            <a:ext cx="2048256" cy="868680"/>
          </a:xfrm>
          <a:prstGeom prst="rect">
            <a:avLst/>
          </a:prstGeom>
          <a:noFill/>
          <a:ln/>
        </p:spPr>
        <p:txBody>
          <a:bodyPr wrap="square" lIns="0" tIns="0" rIns="0" bIns="0" rtlCol="0" anchor="t"/>
          <a:lstStyle/>
          <a:p>
            <a:pPr indent="0" marL="0">
              <a:buNone/>
            </a:pPr>
            <a:r>
              <a:rPr lang="en-US" sz="1400" dirty="0">
                <a:solidFill>
                  <a:schemeClr val="bg2"/>
                </a:solidFill>
              </a:rPr>
              <a:t>seeds: ["operator", nullifier]. Controller = the wallet that proved.</a:t>
            </a:r>
            <a:endParaRPr lang="en-US" sz="1400" dirty="0"/>
          </a:p>
        </p:txBody>
      </p:sp>
      <p:sp>
        <p:nvSpPr>
          <p:cNvPr id="19" name="Arrow issuer to roots"/>
          <p:cNvSpPr/>
          <p:nvPr/>
        </p:nvSpPr>
        <p:spPr>
          <a:xfrm>
            <a:off x="3154680" y="2331720"/>
            <a:ext cx="457200" cy="0"/>
          </a:xfrm>
          <a:prstGeom prst="line">
            <a:avLst/>
          </a:prstGeom>
          <a:noFill/>
          <a:ln w="25400">
            <a:solidFill>
              <a:schemeClr val="accent1"/>
            </a:solidFill>
            <a:prstDash val="solid"/>
            <a:tailEnd type="triangle"/>
          </a:ln>
        </p:spPr>
      </p:sp>
      <p:sp>
        <p:nvSpPr>
          <p:cNvPr id="20" name="Arrow roots to program"/>
          <p:cNvSpPr/>
          <p:nvPr/>
        </p:nvSpPr>
        <p:spPr>
          <a:xfrm>
            <a:off x="5120640" y="3044952"/>
            <a:ext cx="0" cy="310896"/>
          </a:xfrm>
          <a:prstGeom prst="line">
            <a:avLst/>
          </a:prstGeom>
          <a:noFill/>
          <a:ln w="25400">
            <a:solidFill>
              <a:schemeClr val="accent1"/>
            </a:solidFill>
            <a:prstDash val="solid"/>
            <a:tailEnd type="triangle"/>
          </a:ln>
        </p:spPr>
      </p:sp>
      <p:sp>
        <p:nvSpPr>
          <p:cNvPr id="21" name="Arrow browser to program"/>
          <p:cNvSpPr/>
          <p:nvPr/>
        </p:nvSpPr>
        <p:spPr>
          <a:xfrm>
            <a:off x="3154680" y="4114800"/>
            <a:ext cx="457200" cy="0"/>
          </a:xfrm>
          <a:prstGeom prst="line">
            <a:avLst/>
          </a:prstGeom>
          <a:noFill/>
          <a:ln w="25400">
            <a:solidFill>
              <a:schemeClr val="accent1"/>
            </a:solidFill>
            <a:prstDash val="solid"/>
            <a:tailEnd type="triangle"/>
          </a:ln>
        </p:spPr>
      </p:sp>
      <p:sp>
        <p:nvSpPr>
          <p:cNvPr id="22" name="Arrow program to operator"/>
          <p:cNvSpPr/>
          <p:nvPr/>
        </p:nvSpPr>
        <p:spPr>
          <a:xfrm>
            <a:off x="6629400" y="4114800"/>
            <a:ext cx="457200" cy="0"/>
          </a:xfrm>
          <a:prstGeom prst="line">
            <a:avLst/>
          </a:prstGeom>
          <a:noFill/>
          <a:ln w="25400">
            <a:solidFill>
              <a:schemeClr val="accent1"/>
            </a:solidFill>
            <a:prstDash val="solid"/>
            <a:tailEnd type="triangle"/>
          </a:ln>
        </p:spPr>
      </p:sp>
      <p:sp>
        <p:nvSpPr>
          <p:cNvPr id="23" name="Arrow operator to agents"/>
          <p:cNvSpPr/>
          <p:nvPr/>
        </p:nvSpPr>
        <p:spPr>
          <a:xfrm>
            <a:off x="8321040" y="4873752"/>
            <a:ext cx="0" cy="292608"/>
          </a:xfrm>
          <a:prstGeom prst="line">
            <a:avLst/>
          </a:prstGeom>
          <a:noFill/>
          <a:ln w="25400">
            <a:solidFill>
              <a:schemeClr val="accent1"/>
            </a:solidFill>
            <a:prstDash val="solid"/>
            <a:tailEnd type="triangle"/>
          </a:ln>
        </p:spPr>
      </p:sp>
      <p:sp>
        <p:nvSpPr>
          <p:cNvPr id="24" name="Agent atlas"/>
          <p:cNvSpPr/>
          <p:nvPr/>
        </p:nvSpPr>
        <p:spPr>
          <a:xfrm>
            <a:off x="7132320" y="5230368"/>
            <a:ext cx="731520" cy="457200"/>
          </a:xfrm>
          <a:prstGeom prst="roundRect">
            <a:avLst>
              <a:gd name="adj" fmla="val 20000"/>
            </a:avLst>
          </a:prstGeom>
          <a:solidFill>
            <a:schemeClr val="accent2">
              <a:alpha val="30000"/>
            </a:schemeClr>
          </a:solidFill>
          <a:ln w="12700">
            <a:solidFill>
              <a:schemeClr val="accent2"/>
            </a:solidFill>
            <a:prstDash val="solid"/>
          </a:ln>
        </p:spPr>
      </p:sp>
      <p:sp>
        <p:nvSpPr>
          <p:cNvPr id="25" name="Agent atlas label"/>
          <p:cNvSpPr txBox="1"/>
          <p:nvPr/>
        </p:nvSpPr>
        <p:spPr>
          <a:xfrm>
            <a:off x="7132320" y="5230368"/>
            <a:ext cx="73152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atlas</a:t>
            </a:r>
            <a:endParaRPr lang="en-US" sz="1200" dirty="0"/>
          </a:p>
        </p:txBody>
      </p:sp>
      <p:sp>
        <p:nvSpPr>
          <p:cNvPr id="26" name="Agent quill"/>
          <p:cNvSpPr/>
          <p:nvPr/>
        </p:nvSpPr>
        <p:spPr>
          <a:xfrm>
            <a:off x="7955280" y="5230368"/>
            <a:ext cx="731520" cy="457200"/>
          </a:xfrm>
          <a:prstGeom prst="roundRect">
            <a:avLst>
              <a:gd name="adj" fmla="val 20000"/>
            </a:avLst>
          </a:prstGeom>
          <a:solidFill>
            <a:schemeClr val="accent2">
              <a:alpha val="30000"/>
            </a:schemeClr>
          </a:solidFill>
          <a:ln w="12700">
            <a:solidFill>
              <a:schemeClr val="accent2"/>
            </a:solidFill>
            <a:prstDash val="solid"/>
          </a:ln>
        </p:spPr>
      </p:sp>
      <p:sp>
        <p:nvSpPr>
          <p:cNvPr id="27" name="Agent quill label"/>
          <p:cNvSpPr txBox="1"/>
          <p:nvPr/>
        </p:nvSpPr>
        <p:spPr>
          <a:xfrm>
            <a:off x="7955280" y="5230368"/>
            <a:ext cx="73152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quill</a:t>
            </a:r>
            <a:endParaRPr lang="en-US" sz="1200" dirty="0"/>
          </a:p>
        </p:txBody>
      </p:sp>
      <p:sp>
        <p:nvSpPr>
          <p:cNvPr id="28" name="Agent vera"/>
          <p:cNvSpPr/>
          <p:nvPr/>
        </p:nvSpPr>
        <p:spPr>
          <a:xfrm>
            <a:off x="8778240" y="5230368"/>
            <a:ext cx="731520" cy="457200"/>
          </a:xfrm>
          <a:prstGeom prst="roundRect">
            <a:avLst>
              <a:gd name="adj" fmla="val 20000"/>
            </a:avLst>
          </a:prstGeom>
          <a:solidFill>
            <a:schemeClr val="accent2">
              <a:alpha val="30000"/>
            </a:schemeClr>
          </a:solidFill>
          <a:ln w="12700">
            <a:solidFill>
              <a:schemeClr val="accent2"/>
            </a:solidFill>
            <a:prstDash val="solid"/>
          </a:ln>
        </p:spPr>
      </p:sp>
      <p:sp>
        <p:nvSpPr>
          <p:cNvPr id="29" name="Agent vera label"/>
          <p:cNvSpPr txBox="1"/>
          <p:nvPr/>
        </p:nvSpPr>
        <p:spPr>
          <a:xfrm>
            <a:off x="8778240" y="5230368"/>
            <a:ext cx="73152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vera</a:t>
            </a:r>
            <a:endParaRPr lang="en-US" sz="1200" dirty="0"/>
          </a:p>
        </p:txBody>
      </p:sp>
      <p:sp>
        <p:nvSpPr>
          <p:cNvPr id="30" name="Link note"/>
          <p:cNvSpPr txBox="1"/>
          <p:nvPr/>
        </p:nvSpPr>
        <p:spPr>
          <a:xfrm>
            <a:off x="548640" y="5120640"/>
            <a:ext cx="6035040" cy="822960"/>
          </a:xfrm>
          <a:prstGeom prst="rect">
            <a:avLst/>
          </a:prstGeom>
          <a:noFill/>
          <a:ln/>
        </p:spPr>
        <p:txBody>
          <a:bodyPr wrap="square" lIns="0" tIns="0" rIns="0" bIns="0" rtlCol="0" anchor="t"/>
          <a:lstStyle/>
          <a:p>
            <a:pPr indent="0" marL="0">
              <a:buNone/>
            </a:pPr>
            <a:r>
              <a:rPr lang="en-US" sz="1500" dirty="0">
                <a:solidFill>
                  <a:schemeClr val="bg1"/>
                </a:solidFill>
              </a:rPr>
              <a:t>link_agent: the operator’s controller and the agent wallet both sign. One human, many agents, one reputation.</a:t>
            </a:r>
            <a:endParaRPr lang="en-US" sz="1500" dirty="0"/>
          </a:p>
        </p:txBody>
      </p:sp>
      <p:sp>
        <p:nvSpPr>
          <p:cNvPr id="31" name="New stuff"/>
          <p:cNvSpPr/>
          <p:nvPr/>
        </p:nvSpPr>
        <p:spPr>
          <a:xfrm>
            <a:off x="9829800" y="1645920"/>
            <a:ext cx="1810512" cy="4069080"/>
          </a:xfrm>
          <a:prstGeom prst="roundRect">
            <a:avLst>
              <a:gd name="adj" fmla="val 7071"/>
            </a:avLst>
          </a:prstGeom>
          <a:solidFill>
            <a:schemeClr val="tx2"/>
          </a:solidFill>
          <a:ln w="12700">
            <a:solidFill>
              <a:schemeClr val="accent2">
                <a:alpha val="45000"/>
              </a:schemeClr>
            </a:solidFill>
            <a:prstDash val="solid"/>
          </a:ln>
        </p:spPr>
      </p:sp>
      <p:sp>
        <p:nvSpPr>
          <p:cNvPr id="32" name="New 1 title"/>
          <p:cNvSpPr txBox="1"/>
          <p:nvPr/>
        </p:nvSpPr>
        <p:spPr>
          <a:xfrm>
            <a:off x="9985248" y="1810512"/>
            <a:ext cx="1554480" cy="347472"/>
          </a:xfrm>
          <a:prstGeom prst="rect">
            <a:avLst/>
          </a:prstGeom>
          <a:noFill/>
          <a:ln/>
        </p:spPr>
        <p:txBody>
          <a:bodyPr wrap="square" lIns="0" tIns="0" rIns="0" bIns="0" rtlCol="0" anchor="t"/>
          <a:lstStyle/>
          <a:p>
            <a:pPr indent="0" marL="0">
              <a:buNone/>
            </a:pPr>
            <a:r>
              <a:rPr lang="en-US" sz="1700" b="1" dirty="0">
                <a:solidFill>
                  <a:schemeClr val="accent1"/>
                </a:solidFill>
                <a:latin typeface="+mj-lt" pitchFamily="34" charset="0"/>
                <a:ea typeface="+mj-lt" pitchFamily="34" charset="-122"/>
                <a:cs typeface="+mj-lt" pitchFamily="34" charset="-120"/>
              </a:rPr>
              <a:t>+1 account</a:t>
            </a:r>
            <a:endParaRPr lang="en-US" sz="1700" dirty="0"/>
          </a:p>
        </p:txBody>
      </p:sp>
      <p:sp>
        <p:nvSpPr>
          <p:cNvPr id="33" name="New 1 body"/>
          <p:cNvSpPr txBox="1"/>
          <p:nvPr/>
        </p:nvSpPr>
        <p:spPr>
          <a:xfrm>
            <a:off x="9985248" y="2157984"/>
            <a:ext cx="1554480" cy="566928"/>
          </a:xfrm>
          <a:prstGeom prst="rect">
            <a:avLst/>
          </a:prstGeom>
          <a:noFill/>
          <a:ln/>
        </p:spPr>
        <p:txBody>
          <a:bodyPr wrap="square" lIns="0" tIns="0" rIns="0" bIns="0" rtlCol="0" anchor="t"/>
          <a:lstStyle/>
          <a:p>
            <a:pPr indent="0" marL="0">
              <a:buNone/>
            </a:pPr>
            <a:r>
              <a:rPr lang="en-US" sz="1400" dirty="0">
                <a:solidFill>
                  <a:schemeClr val="bg2"/>
                </a:solidFill>
              </a:rPr>
              <a:t>Operator</a:t>
            </a:r>
            <a:endParaRPr lang="en-US" sz="1400" dirty="0"/>
          </a:p>
        </p:txBody>
      </p:sp>
      <p:sp>
        <p:nvSpPr>
          <p:cNvPr id="34" name="New 2 title"/>
          <p:cNvSpPr txBox="1"/>
          <p:nvPr/>
        </p:nvSpPr>
        <p:spPr>
          <a:xfrm>
            <a:off x="9985248" y="2606040"/>
            <a:ext cx="1554480" cy="347472"/>
          </a:xfrm>
          <a:prstGeom prst="rect">
            <a:avLst/>
          </a:prstGeom>
          <a:noFill/>
          <a:ln/>
        </p:spPr>
        <p:txBody>
          <a:bodyPr wrap="square" lIns="0" tIns="0" rIns="0" bIns="0" rtlCol="0" anchor="t"/>
          <a:lstStyle/>
          <a:p>
            <a:pPr indent="0" marL="0">
              <a:buNone/>
            </a:pPr>
            <a:r>
              <a:rPr lang="en-US" sz="1700" b="1" dirty="0">
                <a:solidFill>
                  <a:schemeClr val="accent1"/>
                </a:solidFill>
                <a:latin typeface="+mj-lt" pitchFamily="34" charset="0"/>
                <a:ea typeface="+mj-lt" pitchFamily="34" charset="-122"/>
                <a:cs typeface="+mj-lt" pitchFamily="34" charset="-120"/>
              </a:rPr>
              <a:t>+3 ix</a:t>
            </a:r>
            <a:endParaRPr lang="en-US" sz="1700" dirty="0"/>
          </a:p>
        </p:txBody>
      </p:sp>
      <p:sp>
        <p:nvSpPr>
          <p:cNvPr id="35" name="New 2 body"/>
          <p:cNvSpPr txBox="1"/>
          <p:nvPr/>
        </p:nvSpPr>
        <p:spPr>
          <a:xfrm>
            <a:off x="9985248" y="2953512"/>
            <a:ext cx="1554480" cy="566928"/>
          </a:xfrm>
          <a:prstGeom prst="rect">
            <a:avLst/>
          </a:prstGeom>
          <a:noFill/>
          <a:ln/>
        </p:spPr>
        <p:txBody>
          <a:bodyPr wrap="square" lIns="0" tIns="0" rIns="0" bIns="0" rtlCol="0" anchor="t"/>
          <a:lstStyle/>
          <a:p>
            <a:pPr indent="0" marL="0">
              <a:buNone/>
            </a:pPr>
            <a:r>
              <a:rPr lang="en-US" sz="1400" dirty="0">
                <a:solidFill>
                  <a:schemeClr val="bg2"/>
                </a:solidFill>
              </a:rPr>
              <a:t>post_root, prove_operator, link_agent</a:t>
            </a:r>
            <a:endParaRPr lang="en-US" sz="1400" dirty="0"/>
          </a:p>
        </p:txBody>
      </p:sp>
      <p:sp>
        <p:nvSpPr>
          <p:cNvPr id="36" name="New 3 title"/>
          <p:cNvSpPr txBox="1"/>
          <p:nvPr/>
        </p:nvSpPr>
        <p:spPr>
          <a:xfrm>
            <a:off x="9985248" y="3767328"/>
            <a:ext cx="1554480" cy="347472"/>
          </a:xfrm>
          <a:prstGeom prst="rect">
            <a:avLst/>
          </a:prstGeom>
          <a:noFill/>
          <a:ln/>
        </p:spPr>
        <p:txBody>
          <a:bodyPr wrap="square" lIns="0" tIns="0" rIns="0" bIns="0" rtlCol="0" anchor="t"/>
          <a:lstStyle/>
          <a:p>
            <a:pPr indent="0" marL="0">
              <a:buNone/>
            </a:pPr>
            <a:r>
              <a:rPr lang="en-US" sz="1700" b="1" dirty="0">
                <a:solidFill>
                  <a:schemeClr val="accent1"/>
                </a:solidFill>
                <a:latin typeface="+mj-lt" pitchFamily="34" charset="0"/>
                <a:ea typeface="+mj-lt" pitchFamily="34" charset="-122"/>
                <a:cs typeface="+mj-lt" pitchFamily="34" charset="-120"/>
              </a:rPr>
              <a:t>+1 field</a:t>
            </a:r>
            <a:endParaRPr lang="en-US" sz="1700" dirty="0"/>
          </a:p>
        </p:txBody>
      </p:sp>
      <p:sp>
        <p:nvSpPr>
          <p:cNvPr id="37" name="New 3 body"/>
          <p:cNvSpPr txBox="1"/>
          <p:nvPr/>
        </p:nvSpPr>
        <p:spPr>
          <a:xfrm>
            <a:off x="9985248" y="4114800"/>
            <a:ext cx="1554480" cy="566928"/>
          </a:xfrm>
          <a:prstGeom prst="rect">
            <a:avLst/>
          </a:prstGeom>
          <a:noFill/>
          <a:ln/>
        </p:spPr>
        <p:txBody>
          <a:bodyPr wrap="square" lIns="0" tIns="0" rIns="0" bIns="0" rtlCol="0" anchor="t"/>
          <a:lstStyle/>
          <a:p>
            <a:pPr indent="0" marL="0">
              <a:buNone/>
            </a:pPr>
            <a:r>
              <a:rPr lang="en-US" sz="1400" dirty="0">
                <a:solidFill>
                  <a:schemeClr val="bg2"/>
                </a:solidFill>
              </a:rPr>
              <a:t>Agent.operator</a:t>
            </a:r>
            <a:endParaRPr lang="en-US" sz="1400" dirty="0"/>
          </a:p>
        </p:txBody>
      </p:sp>
      <p:sp>
        <p:nvSpPr>
          <p:cNvPr id="38" name="New 4 title"/>
          <p:cNvSpPr txBox="1"/>
          <p:nvPr/>
        </p:nvSpPr>
        <p:spPr>
          <a:xfrm>
            <a:off x="9985248" y="4553712"/>
            <a:ext cx="1554480" cy="347472"/>
          </a:xfrm>
          <a:prstGeom prst="rect">
            <a:avLst/>
          </a:prstGeom>
          <a:noFill/>
          <a:ln/>
        </p:spPr>
        <p:txBody>
          <a:bodyPr wrap="square" lIns="0" tIns="0" rIns="0" bIns="0" rtlCol="0" anchor="t"/>
          <a:lstStyle/>
          <a:p>
            <a:pPr indent="0" marL="0">
              <a:buNone/>
            </a:pPr>
            <a:r>
              <a:rPr lang="en-US" sz="1700" b="1" dirty="0">
                <a:solidFill>
                  <a:schemeClr val="accent1"/>
                </a:solidFill>
                <a:latin typeface="+mj-lt" pitchFamily="34" charset="0"/>
                <a:ea typeface="+mj-lt" pitchFamily="34" charset="-122"/>
                <a:cs typeface="+mj-lt" pitchFamily="34" charset="-120"/>
              </a:rPr>
              <a:t>+0</a:t>
            </a:r>
            <a:endParaRPr lang="en-US" sz="1700" dirty="0"/>
          </a:p>
        </p:txBody>
      </p:sp>
      <p:sp>
        <p:nvSpPr>
          <p:cNvPr id="39" name="New 4 body"/>
          <p:cNvSpPr txBox="1"/>
          <p:nvPr/>
        </p:nvSpPr>
        <p:spPr>
          <a:xfrm>
            <a:off x="9985248" y="4901184"/>
            <a:ext cx="1554480" cy="566928"/>
          </a:xfrm>
          <a:prstGeom prst="rect">
            <a:avLst/>
          </a:prstGeom>
          <a:noFill/>
          <a:ln/>
        </p:spPr>
        <p:txBody>
          <a:bodyPr wrap="square" lIns="0" tIns="0" rIns="0" bIns="0" rtlCol="0" anchor="t"/>
          <a:lstStyle/>
          <a:p>
            <a:pPr indent="0" marL="0">
              <a:buNone/>
            </a:pPr>
            <a:r>
              <a:rPr lang="en-US" sz="1400" dirty="0">
                <a:solidFill>
                  <a:schemeClr val="bg2"/>
                </a:solidFill>
              </a:rPr>
              <a:t>changes to x402 or the escrow</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WHAT CHANGES IN THE SCORE</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3 rules that rug the farmers</a:t>
            </a:r>
            <a:endParaRPr lang="en-US" sz="3600" dirty="0"/>
          </a:p>
        </p:txBody>
      </p:sp>
      <p:graphicFrame>
        <p:nvGraphicFramePr>
          <p:cNvPr id="9" name="Rules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3657600"/>
                <a:gridCol w="3566160"/>
                <a:gridCol w="3867912"/>
              </a:tblGrid>
              <a:tr h="502920">
                <a:tc>
                  <a:txBody>
                    <a:bodyPr/>
                    <a:lstStyle/>
                    <a:p>
                      <a:pPr indent="0" marL="0">
                        <a:buNone/>
                      </a:pPr>
                      <a:r>
                        <a:rPr lang="en-US" sz="1500" b="1" dirty="0">
                          <a:solidFill>
                            <a:schemeClr val="accent1"/>
                          </a:solidFill>
                          <a:latin typeface="+mj-lt" pitchFamily="34" charset="0"/>
                          <a:ea typeface="+mj-lt" pitchFamily="34" charset="-122"/>
                          <a:cs typeface="+mj-lt" pitchFamily="34" charset="-120"/>
                        </a:rPr>
                        <a:t>rule</a:t>
                      </a:r>
                      <a:endParaRPr lang="en-US" sz="1500" dirty="0">
                        <a:latin typeface="+mj-lt" charset="0"/>
                        <a:ea typeface="+mj-lt" charset="0"/>
                        <a:cs typeface="+mj-lt" charset="0"/>
                      </a:endParaRPr>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b="1" dirty="0">
                          <a:solidFill>
                            <a:schemeClr val="accent3"/>
                          </a:solidFill>
                          <a:latin typeface="+mj-lt" pitchFamily="34" charset="0"/>
                          <a:ea typeface="+mj-lt" pitchFamily="34" charset="-122"/>
                          <a:cs typeface="+mj-lt" pitchFamily="34" charset="-120"/>
                        </a:rPr>
                        <a:t>today 😬</a:t>
                      </a:r>
                      <a:endParaRPr lang="en-US" sz="1500" dirty="0">
                        <a:latin typeface="+mj-lt" charset="0"/>
                        <a:ea typeface="+mj-lt" charset="0"/>
                        <a:cs typeface="+mj-lt" charset="0"/>
                      </a:endParaRPr>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b="1" dirty="0">
                          <a:solidFill>
                            <a:schemeClr val="accent1"/>
                          </a:solidFill>
                          <a:latin typeface="+mj-lt" pitchFamily="34" charset="0"/>
                          <a:ea typeface="+mj-lt" pitchFamily="34" charset="-122"/>
                          <a:cs typeface="+mj-lt" pitchFamily="34" charset="-120"/>
                        </a:rPr>
                        <a:t>with zk operators 😎</a:t>
                      </a:r>
                      <a:endParaRPr lang="en-US" sz="1500" dirty="0">
                        <a:latin typeface="+mj-lt" charset="0"/>
                        <a:ea typeface="+mj-lt" charset="0"/>
                        <a:cs typeface="+mj-lt" charset="0"/>
                      </a:endParaRPr>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r>
              <a:tr h="960120">
                <a:tc>
                  <a:txBody>
                    <a:bodyPr/>
                    <a:lstStyle/>
                    <a:p>
                      <a:pPr indent="0" marL="0">
                        <a:buNone/>
                      </a:pPr>
                      <a:r>
                        <a:rPr lang="en-US" sz="1500" b="1" dirty="0">
                          <a:solidFill>
                            <a:schemeClr val="bg1"/>
                          </a:solidFill>
                        </a:rPr>
                        <a:t>① Same-operator trades earn 0 credit</a:t>
                      </a:r>
                      <a:endParaRPr lang="en-US" sz="1500" dirty="0"/>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2"/>
                          </a:solidFill>
                        </a:rPr>
                        <a:t>8+ of your own wallets can farm Trusted (C2)</a:t>
                      </a:r>
                      <a:endParaRPr lang="en-US" sz="1500" dirty="0"/>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rPr>
                        <a:t>A ring run by one human earns nothing. Faking it needs 8+ real, verified humans.</a:t>
                      </a:r>
                      <a:endParaRPr lang="en-US" sz="1500" dirty="0"/>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r>
              <a:tr h="960120">
                <a:tc>
                  <a:txBody>
                    <a:bodyPr/>
                    <a:lstStyle/>
                    <a:p>
                      <a:pPr indent="0" marL="0">
                        <a:buNone/>
                      </a:pPr>
                      <a:r>
                        <a:rPr lang="en-US" sz="1500" b="1" dirty="0">
                          <a:solidFill>
                            <a:schemeClr val="bg1"/>
                          </a:solidFill>
                        </a:rPr>
                        <a:t>② Penalties stick to the operator</a:t>
                      </a:r>
                      <a:endParaRPr lang="en-US" sz="1500" dirty="0"/>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2"/>
                          </a:solidFill>
                        </a:rPr>
                        <a:t>Rekt wallet → fresh wallet → clean slate (C12)</a:t>
                      </a:r>
                      <a:endParaRPr lang="en-US" sz="1500" dirty="0"/>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rPr>
                        <a:t>New agents inherit the operator’s penalty. Whitewashing: dead.</a:t>
                      </a:r>
                      <a:endParaRPr lang="en-US" sz="1500" dirty="0"/>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r>
              <a:tr h="960120">
                <a:tc>
                  <a:txBody>
                    <a:bodyPr/>
                    <a:lstStyle/>
                    <a:p>
                      <a:pPr indent="0" marL="0">
                        <a:buNone/>
                      </a:pPr>
                      <a:r>
                        <a:rPr lang="en-US" sz="1500" b="1" dirty="0">
                          <a:solidFill>
                            <a:schemeClr val="bg1"/>
                          </a:solidFill>
                        </a:rPr>
                        <a:t>③ Trusted and the instant limit need a verified operator</a:t>
                      </a:r>
                      <a:endParaRPr lang="en-US" sz="1500" dirty="0"/>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2"/>
                          </a:solidFill>
                        </a:rPr>
                        <a:t>Exit-scam payout capped per wallet: base × your wallet count</a:t>
                      </a:r>
                      <a:endParaRPr lang="en-US" sz="1500" dirty="0"/>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rPr>
                        <a:t>Capped per human: one base, however many wallets.</a:t>
                      </a:r>
                      <a:endParaRPr lang="en-US" sz="1500" dirty="0"/>
                    </a:p>
                  </a:txBody>
                  <a:tcPr marL="109728" marR="109728" marT="109728" marB="109728"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r>
            </a:tbl>
          </a:graphicData>
        </a:graphic>
      </p:graphicFrame>
      <p:sp>
        <p:nvSpPr>
          <p:cNvPr id="5" name="Opt-in note"/>
          <p:cNvSpPr/>
          <p:nvPr/>
        </p:nvSpPr>
        <p:spPr>
          <a:xfrm>
            <a:off x="548640" y="5349240"/>
            <a:ext cx="11091672" cy="777240"/>
          </a:xfrm>
          <a:prstGeom prst="roundRect">
            <a:avLst>
              <a:gd name="adj" fmla="val 16471"/>
            </a:avLst>
          </a:prstGeom>
          <a:solidFill>
            <a:schemeClr val="accent3">
              <a:alpha val="16000"/>
            </a:schemeClr>
          </a:solidFill>
          <a:ln w="12700">
            <a:solidFill>
              <a:schemeClr val="accent3">
                <a:alpha val="45000"/>
              </a:schemeClr>
            </a:solidFill>
            <a:prstDash val="solid"/>
          </a:ln>
        </p:spPr>
      </p:sp>
      <p:sp>
        <p:nvSpPr>
          <p:cNvPr id="6" name="Opt-in text"/>
          <p:cNvSpPr txBox="1"/>
          <p:nvPr/>
        </p:nvSpPr>
        <p:spPr>
          <a:xfrm>
            <a:off x="777240" y="5440680"/>
            <a:ext cx="10698480" cy="594360"/>
          </a:xfrm>
          <a:prstGeom prst="rect">
            <a:avLst/>
          </a:prstGeom>
          <a:noFill/>
          <a:ln/>
        </p:spPr>
        <p:txBody>
          <a:bodyPr wrap="square" lIns="0" tIns="0" rIns="0" bIns="0" rtlCol="0" anchor="ctr"/>
          <a:lstStyle/>
          <a:p>
            <a:pPr indent="0" marL="0">
              <a:buNone/>
            </a:pPr>
            <a:r>
              <a:rPr lang="en-US" sz="1600" dirty="0">
                <a:solidFill>
                  <a:schemeClr val="bg1"/>
                </a:solidFill>
              </a:rPr>
              <a:t>🧘 Opt-in: unverified wallets work exactly as today; they just top out at Established. Nobody is forced to prove anything.</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EXPANDING BRAIN, TESSERA EDITION</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galaxy-brain Sybil defense</a:t>
            </a:r>
            <a:endParaRPr lang="en-US" sz="3600" dirty="0"/>
          </a:p>
        </p:txBody>
      </p:sp>
      <p:sp>
        <p:nvSpPr>
          <p:cNvPr id="4" name="Brain row 1"/>
          <p:cNvSpPr/>
          <p:nvPr/>
        </p:nvSpPr>
        <p:spPr>
          <a:xfrm>
            <a:off x="548640" y="1572768"/>
            <a:ext cx="8229600" cy="1024128"/>
          </a:xfrm>
          <a:prstGeom prst="roundRect">
            <a:avLst>
              <a:gd name="adj" fmla="val 12500"/>
            </a:avLst>
          </a:prstGeom>
          <a:solidFill>
            <a:schemeClr val="tx2"/>
          </a:solidFill>
          <a:ln w="12700">
            <a:solidFill>
              <a:schemeClr val="accent2">
                <a:alpha val="45000"/>
              </a:schemeClr>
            </a:solidFill>
            <a:prstDash val="solid"/>
          </a:ln>
        </p:spPr>
      </p:sp>
      <p:sp>
        <p:nvSpPr>
          <p:cNvPr id="5" name="Brain 1 title"/>
          <p:cNvSpPr txBox="1"/>
          <p:nvPr/>
        </p:nvSpPr>
        <p:spPr>
          <a:xfrm>
            <a:off x="777240" y="1700784"/>
            <a:ext cx="7863840" cy="411480"/>
          </a:xfrm>
          <a:prstGeom prst="rect">
            <a:avLst/>
          </a:prstGeom>
          <a:noFill/>
          <a:ln/>
        </p:spPr>
        <p:txBody>
          <a:bodyPr wrap="square" lIns="0" tIns="0" rIns="0" bIns="0" rtlCol="0" anchor="t"/>
          <a:lstStyle/>
          <a:p>
            <a:pPr indent="0" marL="0">
              <a:buNone/>
            </a:pPr>
            <a:r>
              <a:rPr lang="en-US" sz="2100" b="1" dirty="0">
                <a:solidFill>
                  <a:schemeClr val="bg1"/>
                </a:solidFill>
              </a:rPr>
              <a:t>1 wallet = 1 user</a:t>
            </a:r>
            <a:endParaRPr lang="en-US" sz="2100" dirty="0"/>
          </a:p>
        </p:txBody>
      </p:sp>
      <p:sp>
        <p:nvSpPr>
          <p:cNvPr id="6" name="Brain 1 body"/>
          <p:cNvSpPr txBox="1"/>
          <p:nvPr/>
        </p:nvSpPr>
        <p:spPr>
          <a:xfrm>
            <a:off x="777240" y="2121408"/>
            <a:ext cx="7863840" cy="365760"/>
          </a:xfrm>
          <a:prstGeom prst="rect">
            <a:avLst/>
          </a:prstGeom>
          <a:noFill/>
          <a:ln/>
        </p:spPr>
        <p:txBody>
          <a:bodyPr wrap="square" lIns="0" tIns="0" rIns="0" bIns="0" rtlCol="0" anchor="t"/>
          <a:lstStyle/>
          <a:p>
            <a:pPr indent="0" marL="0">
              <a:buNone/>
            </a:pPr>
            <a:r>
              <a:rPr lang="en-US" sz="1500" dirty="0">
                <a:solidFill>
                  <a:schemeClr val="bg2"/>
                </a:solidFill>
              </a:rPr>
              <a:t>airdrop farmers love this one weird trick</a:t>
            </a:r>
            <a:endParaRPr lang="en-US" sz="1500" dirty="0"/>
          </a:p>
        </p:txBody>
      </p:sp>
      <p:sp>
        <p:nvSpPr>
          <p:cNvPr id="7" name="Brain panel 1"/>
          <p:cNvSpPr/>
          <p:nvPr/>
        </p:nvSpPr>
        <p:spPr>
          <a:xfrm>
            <a:off x="9006840" y="1572768"/>
            <a:ext cx="2633472" cy="1024128"/>
          </a:xfrm>
          <a:prstGeom prst="roundRect">
            <a:avLst>
              <a:gd name="adj" fmla="val 12500"/>
            </a:avLst>
          </a:prstGeom>
          <a:solidFill>
            <a:schemeClr val="bg2">
              <a:alpha val="16000"/>
            </a:schemeClr>
          </a:solidFill>
          <a:ln w="12700">
            <a:solidFill>
              <a:schemeClr val="bg2">
                <a:alpha val="45000"/>
              </a:schemeClr>
            </a:solidFill>
            <a:prstDash val="solid"/>
          </a:ln>
        </p:spPr>
      </p:sp>
      <p:pic>
        <p:nvPicPr>
          <p:cNvPr id="8" name="Brain icon 1" descr="preencoded.png">    </p:cNvPr>
          <p:cNvPicPr>
            <a:picLocks noChangeAspect="1"/>
          </p:cNvPicPr>
          <p:nvPr/>
        </p:nvPicPr>
        <p:blipFill>
          <a:blip r:embed="rId1"/>
          <a:stretch>
            <a:fillRect/>
          </a:stretch>
        </p:blipFill>
        <p:spPr>
          <a:xfrm>
            <a:off x="9441180" y="1856232"/>
            <a:ext cx="457200" cy="457200"/>
          </a:xfrm>
          <a:prstGeom prst="rect">
            <a:avLst/>
          </a:prstGeom>
        </p:spPr>
      </p:pic>
      <p:sp>
        <p:nvSpPr>
          <p:cNvPr id="9" name="Brain tag 1"/>
          <p:cNvSpPr txBox="1"/>
          <p:nvPr/>
        </p:nvSpPr>
        <p:spPr>
          <a:xfrm>
            <a:off x="10287000" y="1892808"/>
            <a:ext cx="1234440" cy="384048"/>
          </a:xfrm>
          <a:prstGeom prst="rect">
            <a:avLst/>
          </a:prstGeom>
          <a:noFill/>
          <a:ln/>
        </p:spPr>
        <p:txBody>
          <a:bodyPr wrap="square" lIns="0" tIns="0" rIns="0" bIns="0" rtlCol="0" anchor="t"/>
          <a:lstStyle/>
          <a:p>
            <a:pPr indent="0" marL="0">
              <a:buNone/>
            </a:pPr>
            <a:r>
              <a:rPr lang="en-US" sz="1600" b="1" dirty="0">
                <a:solidFill>
                  <a:schemeClr val="bg2"/>
                </a:solidFill>
                <a:latin typeface="+mj-lt" pitchFamily="34" charset="0"/>
                <a:ea typeface="+mj-lt" pitchFamily="34" charset="-122"/>
                <a:cs typeface="+mj-lt" pitchFamily="34" charset="-120"/>
              </a:rPr>
              <a:t>smol</a:t>
            </a:r>
            <a:endParaRPr lang="en-US" sz="1600" dirty="0"/>
          </a:p>
        </p:txBody>
      </p:sp>
      <p:sp>
        <p:nvSpPr>
          <p:cNvPr id="10" name="Brain row 2"/>
          <p:cNvSpPr/>
          <p:nvPr/>
        </p:nvSpPr>
        <p:spPr>
          <a:xfrm>
            <a:off x="548640" y="2734056"/>
            <a:ext cx="8229600" cy="1024128"/>
          </a:xfrm>
          <a:prstGeom prst="roundRect">
            <a:avLst>
              <a:gd name="adj" fmla="val 12500"/>
            </a:avLst>
          </a:prstGeom>
          <a:solidFill>
            <a:schemeClr val="tx2"/>
          </a:solidFill>
          <a:ln w="12700">
            <a:solidFill>
              <a:schemeClr val="accent2">
                <a:alpha val="45000"/>
              </a:schemeClr>
            </a:solidFill>
            <a:prstDash val="solid"/>
          </a:ln>
        </p:spPr>
      </p:sp>
      <p:sp>
        <p:nvSpPr>
          <p:cNvPr id="11" name="Brain 2 title"/>
          <p:cNvSpPr txBox="1"/>
          <p:nvPr/>
        </p:nvSpPr>
        <p:spPr>
          <a:xfrm>
            <a:off x="777240" y="2862072"/>
            <a:ext cx="7863840" cy="411480"/>
          </a:xfrm>
          <a:prstGeom prst="rect">
            <a:avLst/>
          </a:prstGeom>
          <a:noFill/>
          <a:ln/>
        </p:spPr>
        <p:txBody>
          <a:bodyPr wrap="square" lIns="0" tIns="0" rIns="0" bIns="0" rtlCol="0" anchor="t"/>
          <a:lstStyle/>
          <a:p>
            <a:pPr indent="0" marL="0">
              <a:buNone/>
            </a:pPr>
            <a:r>
              <a:rPr lang="en-US" sz="2100" b="1" dirty="0">
                <a:solidFill>
                  <a:schemeClr val="bg1"/>
                </a:solidFill>
              </a:rPr>
              <a:t>just count the volume</a:t>
            </a:r>
            <a:endParaRPr lang="en-US" sz="2100" dirty="0"/>
          </a:p>
        </p:txBody>
      </p:sp>
      <p:sp>
        <p:nvSpPr>
          <p:cNvPr id="12" name="Brain 2 body"/>
          <p:cNvSpPr txBox="1"/>
          <p:nvPr/>
        </p:nvSpPr>
        <p:spPr>
          <a:xfrm>
            <a:off x="777240" y="3282696"/>
            <a:ext cx="7863840" cy="365760"/>
          </a:xfrm>
          <a:prstGeom prst="rect">
            <a:avLst/>
          </a:prstGeom>
          <a:noFill/>
          <a:ln/>
        </p:spPr>
        <p:txBody>
          <a:bodyPr wrap="square" lIns="0" tIns="0" rIns="0" bIns="0" rtlCol="0" anchor="t"/>
          <a:lstStyle/>
          <a:p>
            <a:pPr indent="0" marL="0">
              <a:buNone/>
            </a:pPr>
            <a:r>
              <a:rPr lang="en-US" sz="1500" dirty="0">
                <a:solidFill>
                  <a:schemeClr val="bg2"/>
                </a:solidFill>
              </a:rPr>
              <a:t>wash trading go brrr 📈</a:t>
            </a:r>
            <a:endParaRPr lang="en-US" sz="1500" dirty="0"/>
          </a:p>
        </p:txBody>
      </p:sp>
      <p:sp>
        <p:nvSpPr>
          <p:cNvPr id="13" name="Brain panel 2"/>
          <p:cNvSpPr/>
          <p:nvPr/>
        </p:nvSpPr>
        <p:spPr>
          <a:xfrm>
            <a:off x="9006840" y="2734056"/>
            <a:ext cx="2633472" cy="1024128"/>
          </a:xfrm>
          <a:prstGeom prst="roundRect">
            <a:avLst>
              <a:gd name="adj" fmla="val 12500"/>
            </a:avLst>
          </a:prstGeom>
          <a:solidFill>
            <a:schemeClr val="accent5">
              <a:alpha val="16000"/>
            </a:schemeClr>
          </a:solidFill>
          <a:ln w="12700">
            <a:solidFill>
              <a:schemeClr val="accent5">
                <a:alpha val="45000"/>
              </a:schemeClr>
            </a:solidFill>
            <a:prstDash val="solid"/>
          </a:ln>
        </p:spPr>
      </p:sp>
      <p:pic>
        <p:nvPicPr>
          <p:cNvPr id="14" name="Brain icon 2" descr="preencoded.png">    </p:cNvPr>
          <p:cNvPicPr>
            <a:picLocks noChangeAspect="1"/>
          </p:cNvPicPr>
          <p:nvPr/>
        </p:nvPicPr>
        <p:blipFill>
          <a:blip r:embed="rId2"/>
          <a:stretch>
            <a:fillRect/>
          </a:stretch>
        </p:blipFill>
        <p:spPr>
          <a:xfrm>
            <a:off x="9372600" y="2948940"/>
            <a:ext cx="594360" cy="594360"/>
          </a:xfrm>
          <a:prstGeom prst="rect">
            <a:avLst/>
          </a:prstGeom>
        </p:spPr>
      </p:pic>
      <p:sp>
        <p:nvSpPr>
          <p:cNvPr id="15" name="Brain tag 2"/>
          <p:cNvSpPr txBox="1"/>
          <p:nvPr/>
        </p:nvSpPr>
        <p:spPr>
          <a:xfrm>
            <a:off x="10287000" y="3054096"/>
            <a:ext cx="1234440" cy="384048"/>
          </a:xfrm>
          <a:prstGeom prst="rect">
            <a:avLst/>
          </a:prstGeom>
          <a:noFill/>
          <a:ln/>
        </p:spPr>
        <p:txBody>
          <a:bodyPr wrap="square" lIns="0" tIns="0" rIns="0" bIns="0" rtlCol="0" anchor="t"/>
          <a:lstStyle/>
          <a:p>
            <a:pPr indent="0" marL="0">
              <a:buNone/>
            </a:pPr>
            <a:r>
              <a:rPr lang="en-US" sz="1600" b="1" dirty="0">
                <a:solidFill>
                  <a:schemeClr val="accent5"/>
                </a:solidFill>
                <a:latin typeface="+mj-lt" pitchFamily="34" charset="0"/>
                <a:ea typeface="+mj-lt" pitchFamily="34" charset="-122"/>
                <a:cs typeface="+mj-lt" pitchFamily="34" charset="-120"/>
              </a:rPr>
              <a:t>mid</a:t>
            </a:r>
            <a:endParaRPr lang="en-US" sz="1600" dirty="0"/>
          </a:p>
        </p:txBody>
      </p:sp>
      <p:sp>
        <p:nvSpPr>
          <p:cNvPr id="16" name="Brain row 3"/>
          <p:cNvSpPr/>
          <p:nvPr/>
        </p:nvSpPr>
        <p:spPr>
          <a:xfrm>
            <a:off x="548640" y="3895344"/>
            <a:ext cx="8229600" cy="1024128"/>
          </a:xfrm>
          <a:prstGeom prst="roundRect">
            <a:avLst>
              <a:gd name="adj" fmla="val 12500"/>
            </a:avLst>
          </a:prstGeom>
          <a:solidFill>
            <a:schemeClr val="tx2"/>
          </a:solidFill>
          <a:ln w="12700">
            <a:solidFill>
              <a:schemeClr val="accent2">
                <a:alpha val="45000"/>
              </a:schemeClr>
            </a:solidFill>
            <a:prstDash val="solid"/>
          </a:ln>
        </p:spPr>
      </p:sp>
      <p:sp>
        <p:nvSpPr>
          <p:cNvPr id="17" name="Brain 3 title"/>
          <p:cNvSpPr txBox="1"/>
          <p:nvPr/>
        </p:nvSpPr>
        <p:spPr>
          <a:xfrm>
            <a:off x="777240" y="4023360"/>
            <a:ext cx="7863840" cy="411480"/>
          </a:xfrm>
          <a:prstGeom prst="rect">
            <a:avLst/>
          </a:prstGeom>
          <a:noFill/>
          <a:ln/>
        </p:spPr>
        <p:txBody>
          <a:bodyPr wrap="square" lIns="0" tIns="0" rIns="0" bIns="0" rtlCol="0" anchor="t"/>
          <a:lstStyle/>
          <a:p>
            <a:pPr indent="0" marL="0">
              <a:buNone/>
            </a:pPr>
            <a:r>
              <a:rPr lang="en-US" sz="2100" b="1" dirty="0">
                <a:solidFill>
                  <a:schemeClr val="bg1"/>
                </a:solidFill>
              </a:rPr>
              <a:t>weight by counterparty, cap per pair, gate on time</a:t>
            </a:r>
            <a:endParaRPr lang="en-US" sz="2100" dirty="0"/>
          </a:p>
        </p:txBody>
      </p:sp>
      <p:sp>
        <p:nvSpPr>
          <p:cNvPr id="18" name="Brain 3 body"/>
          <p:cNvSpPr txBox="1"/>
          <p:nvPr/>
        </p:nvSpPr>
        <p:spPr>
          <a:xfrm>
            <a:off x="777240" y="4443984"/>
            <a:ext cx="7863840" cy="365760"/>
          </a:xfrm>
          <a:prstGeom prst="rect">
            <a:avLst/>
          </a:prstGeom>
          <a:noFill/>
          <a:ln/>
        </p:spPr>
        <p:txBody>
          <a:bodyPr wrap="square" lIns="0" tIns="0" rIns="0" bIns="0" rtlCol="0" anchor="t"/>
          <a:lstStyle/>
          <a:p>
            <a:pPr indent="0" marL="0">
              <a:buNone/>
            </a:pPr>
            <a:r>
              <a:rPr lang="en-US" sz="1500" dirty="0">
                <a:solidFill>
                  <a:schemeClr val="bg2"/>
                </a:solidFill>
              </a:rPr>
              <a:t>Tessera today: farming costs fees and months</a:t>
            </a:r>
            <a:endParaRPr lang="en-US" sz="1500" dirty="0"/>
          </a:p>
        </p:txBody>
      </p:sp>
      <p:sp>
        <p:nvSpPr>
          <p:cNvPr id="19" name="Brain panel 3"/>
          <p:cNvSpPr/>
          <p:nvPr/>
        </p:nvSpPr>
        <p:spPr>
          <a:xfrm>
            <a:off x="9006840" y="3895344"/>
            <a:ext cx="2633472" cy="1024128"/>
          </a:xfrm>
          <a:prstGeom prst="roundRect">
            <a:avLst>
              <a:gd name="adj" fmla="val 12500"/>
            </a:avLst>
          </a:prstGeom>
          <a:solidFill>
            <a:schemeClr val="accent2">
              <a:alpha val="16000"/>
            </a:schemeClr>
          </a:solidFill>
          <a:ln w="12700">
            <a:solidFill>
              <a:schemeClr val="accent2">
                <a:alpha val="45000"/>
              </a:schemeClr>
            </a:solidFill>
            <a:prstDash val="solid"/>
          </a:ln>
        </p:spPr>
      </p:sp>
      <p:pic>
        <p:nvPicPr>
          <p:cNvPr id="20" name="Brain icon 3" descr="preencoded.png">    </p:cNvPr>
          <p:cNvPicPr>
            <a:picLocks noChangeAspect="1"/>
          </p:cNvPicPr>
          <p:nvPr/>
        </p:nvPicPr>
        <p:blipFill>
          <a:blip r:embed="rId3"/>
          <a:stretch>
            <a:fillRect/>
          </a:stretch>
        </p:blipFill>
        <p:spPr>
          <a:xfrm>
            <a:off x="9304020" y="4041648"/>
            <a:ext cx="731520" cy="731520"/>
          </a:xfrm>
          <a:prstGeom prst="rect">
            <a:avLst/>
          </a:prstGeom>
        </p:spPr>
      </p:pic>
      <p:sp>
        <p:nvSpPr>
          <p:cNvPr id="21" name="Brain tag 3"/>
          <p:cNvSpPr txBox="1"/>
          <p:nvPr/>
        </p:nvSpPr>
        <p:spPr>
          <a:xfrm>
            <a:off x="10287000" y="4215384"/>
            <a:ext cx="1234440" cy="384048"/>
          </a:xfrm>
          <a:prstGeom prst="rect">
            <a:avLst/>
          </a:prstGeom>
          <a:noFill/>
          <a:ln/>
        </p:spPr>
        <p:txBody>
          <a:bodyPr wrap="square" lIns="0" tIns="0" rIns="0" bIns="0" rtlCol="0" anchor="t"/>
          <a:lstStyle/>
          <a:p>
            <a:pPr indent="0" marL="0">
              <a:buNone/>
            </a:pPr>
            <a:r>
              <a:rPr lang="en-US" sz="1600" b="1" dirty="0">
                <a:solidFill>
                  <a:schemeClr val="accent2"/>
                </a:solidFill>
                <a:latin typeface="+mj-lt" pitchFamily="34" charset="0"/>
                <a:ea typeface="+mj-lt" pitchFamily="34" charset="-122"/>
                <a:cs typeface="+mj-lt" pitchFamily="34" charset="-120"/>
              </a:rPr>
              <a:t>big</a:t>
            </a:r>
            <a:endParaRPr lang="en-US" sz="1600" dirty="0"/>
          </a:p>
        </p:txBody>
      </p:sp>
      <p:sp>
        <p:nvSpPr>
          <p:cNvPr id="22" name="Brain row 4"/>
          <p:cNvSpPr/>
          <p:nvPr/>
        </p:nvSpPr>
        <p:spPr>
          <a:xfrm>
            <a:off x="548640" y="5056632"/>
            <a:ext cx="8229600" cy="1024128"/>
          </a:xfrm>
          <a:prstGeom prst="roundRect">
            <a:avLst>
              <a:gd name="adj" fmla="val 12500"/>
            </a:avLst>
          </a:prstGeom>
          <a:solidFill>
            <a:schemeClr val="tx2"/>
          </a:solidFill>
          <a:ln w="12700">
            <a:solidFill>
              <a:schemeClr val="accent2">
                <a:alpha val="45000"/>
              </a:schemeClr>
            </a:solidFill>
            <a:prstDash val="solid"/>
          </a:ln>
        </p:spPr>
      </p:sp>
      <p:sp>
        <p:nvSpPr>
          <p:cNvPr id="23" name="Brain 4 title"/>
          <p:cNvSpPr txBox="1"/>
          <p:nvPr/>
        </p:nvSpPr>
        <p:spPr>
          <a:xfrm>
            <a:off x="777240" y="5184648"/>
            <a:ext cx="7863840" cy="411480"/>
          </a:xfrm>
          <a:prstGeom prst="rect">
            <a:avLst/>
          </a:prstGeom>
          <a:noFill/>
          <a:ln/>
        </p:spPr>
        <p:txBody>
          <a:bodyPr wrap="square" lIns="0" tIns="0" rIns="0" bIns="0" rtlCol="0" anchor="t"/>
          <a:lstStyle/>
          <a:p>
            <a:pPr indent="0" marL="0">
              <a:buNone/>
            </a:pPr>
            <a:r>
              <a:rPr lang="en-US" sz="2100" b="1" dirty="0">
                <a:solidFill>
                  <a:schemeClr val="bg1"/>
                </a:solidFill>
              </a:rPr>
              <a:t>1 human = 1 nullifier, agents link to it, nobody learns who</a:t>
            </a:r>
            <a:endParaRPr lang="en-US" sz="2100" dirty="0"/>
          </a:p>
        </p:txBody>
      </p:sp>
      <p:sp>
        <p:nvSpPr>
          <p:cNvPr id="24" name="Brain 4 body"/>
          <p:cNvSpPr txBox="1"/>
          <p:nvPr/>
        </p:nvSpPr>
        <p:spPr>
          <a:xfrm>
            <a:off x="777240" y="5605272"/>
            <a:ext cx="7863840" cy="365760"/>
          </a:xfrm>
          <a:prstGeom prst="rect">
            <a:avLst/>
          </a:prstGeom>
          <a:noFill/>
          <a:ln/>
        </p:spPr>
        <p:txBody>
          <a:bodyPr wrap="square" lIns="0" tIns="0" rIns="0" bIns="0" rtlCol="0" anchor="t"/>
          <a:lstStyle/>
          <a:p>
            <a:pPr indent="0" marL="0">
              <a:buNone/>
            </a:pPr>
            <a:r>
              <a:rPr lang="en-US" sz="1500" dirty="0">
                <a:solidFill>
                  <a:schemeClr val="bg2"/>
                </a:solidFill>
              </a:rPr>
              <a:t>Tessera + zk 🌌</a:t>
            </a:r>
            <a:endParaRPr lang="en-US" sz="1500" dirty="0"/>
          </a:p>
        </p:txBody>
      </p:sp>
      <p:sp>
        <p:nvSpPr>
          <p:cNvPr id="25" name="Brain panel 4"/>
          <p:cNvSpPr/>
          <p:nvPr/>
        </p:nvSpPr>
        <p:spPr>
          <a:xfrm>
            <a:off x="9006840" y="5056632"/>
            <a:ext cx="2633472" cy="1024128"/>
          </a:xfrm>
          <a:prstGeom prst="roundRect">
            <a:avLst>
              <a:gd name="adj" fmla="val 12500"/>
            </a:avLst>
          </a:prstGeom>
          <a:solidFill>
            <a:schemeClr val="accent1">
              <a:alpha val="16000"/>
            </a:schemeClr>
          </a:solidFill>
          <a:ln w="12700">
            <a:solidFill>
              <a:schemeClr val="accent1">
                <a:alpha val="45000"/>
              </a:schemeClr>
            </a:solidFill>
            <a:prstDash val="solid"/>
          </a:ln>
          <a:effectLst>
            <a:outerShdw sx="100000" sy="100000" kx="0" ky="0" algn="bl" rotWithShape="0" blurRad="228600" dist="50800" dir="5400000">
              <a:srgbClr val="9945FF">
                <a:alpha val="35000"/>
              </a:srgbClr>
            </a:outerShdw>
          </a:effectLst>
        </p:spPr>
      </p:sp>
      <p:pic>
        <p:nvPicPr>
          <p:cNvPr id="26" name="Brain icon 4" descr="preencoded.png">    </p:cNvPr>
          <p:cNvPicPr>
            <a:picLocks noChangeAspect="1"/>
          </p:cNvPicPr>
          <p:nvPr/>
        </p:nvPicPr>
        <p:blipFill>
          <a:blip r:embed="rId4"/>
          <a:stretch>
            <a:fillRect/>
          </a:stretch>
        </p:blipFill>
        <p:spPr>
          <a:xfrm>
            <a:off x="9235440" y="5134356"/>
            <a:ext cx="868680" cy="868680"/>
          </a:xfrm>
          <a:prstGeom prst="rect">
            <a:avLst/>
          </a:prstGeom>
        </p:spPr>
      </p:pic>
      <p:sp>
        <p:nvSpPr>
          <p:cNvPr id="27" name="Brain tag 4"/>
          <p:cNvSpPr txBox="1"/>
          <p:nvPr/>
        </p:nvSpPr>
        <p:spPr>
          <a:xfrm>
            <a:off x="10287000" y="5376672"/>
            <a:ext cx="1234440" cy="384048"/>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galaxy</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WHAT’S PUBLIC VS WHAT STAYS PRIVATE</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anon stays anon</a:t>
            </a:r>
            <a:endParaRPr lang="en-US" sz="3600" dirty="0"/>
          </a:p>
        </p:txBody>
      </p:sp>
      <p:sp>
        <p:nvSpPr>
          <p:cNvPr id="4" name="Privacy column 1"/>
          <p:cNvSpPr/>
          <p:nvPr/>
        </p:nvSpPr>
        <p:spPr>
          <a:xfrm>
            <a:off x="548640" y="1645920"/>
            <a:ext cx="5394960" cy="3383280"/>
          </a:xfrm>
          <a:prstGeom prst="roundRect">
            <a:avLst>
              <a:gd name="adj" fmla="val 3784"/>
            </a:avLst>
          </a:prstGeom>
          <a:solidFill>
            <a:schemeClr val="accent5">
              <a:alpha val="16000"/>
            </a:schemeClr>
          </a:solidFill>
          <a:ln w="12700">
            <a:solidFill>
              <a:schemeClr val="accent5">
                <a:alpha val="45000"/>
              </a:schemeClr>
            </a:solidFill>
            <a:prstDash val="solid"/>
          </a:ln>
        </p:spPr>
      </p:sp>
      <p:sp>
        <p:nvSpPr>
          <p:cNvPr id="5" name="Icon chip"/>
          <p:cNvSpPr/>
          <p:nvPr/>
        </p:nvSpPr>
        <p:spPr>
          <a:xfrm>
            <a:off x="777240" y="1828800"/>
            <a:ext cx="566928" cy="566928"/>
          </a:xfrm>
          <a:prstGeom prst="ellipse">
            <a:avLst/>
          </a:prstGeom>
          <a:solidFill>
            <a:schemeClr val="accent5">
              <a:alpha val="22000"/>
            </a:schemeClr>
          </a:solidFill>
          <a:ln w="12700">
            <a:solidFill>
              <a:schemeClr val="accent5">
                <a:alpha val="70000"/>
              </a:schemeClr>
            </a:solidFill>
            <a:prstDash val="solid"/>
          </a:ln>
        </p:spPr>
      </p:sp>
      <p:pic>
        <p:nvPicPr>
          <p:cNvPr id="6" name="Icon" descr="preencoded.png">    </p:cNvPr>
          <p:cNvPicPr>
            <a:picLocks noChangeAspect="1"/>
          </p:cNvPicPr>
          <p:nvPr/>
        </p:nvPicPr>
        <p:blipFill>
          <a:blip r:embed="rId1"/>
          <a:stretch>
            <a:fillRect/>
          </a:stretch>
        </p:blipFill>
        <p:spPr>
          <a:xfrm>
            <a:off x="918972" y="1970532"/>
            <a:ext cx="283464" cy="283464"/>
          </a:xfrm>
          <a:prstGeom prst="rect">
            <a:avLst/>
          </a:prstGeom>
        </p:spPr>
      </p:pic>
      <p:sp>
        <p:nvSpPr>
          <p:cNvPr id="7" name="Privacy heading 1"/>
          <p:cNvSpPr txBox="1"/>
          <p:nvPr/>
        </p:nvSpPr>
        <p:spPr>
          <a:xfrm>
            <a:off x="1508760" y="1920240"/>
            <a:ext cx="4206240" cy="411480"/>
          </a:xfrm>
          <a:prstGeom prst="rect">
            <a:avLst/>
          </a:prstGeom>
          <a:noFill/>
          <a:ln/>
        </p:spPr>
        <p:txBody>
          <a:bodyPr wrap="square" lIns="0" tIns="0" rIns="0" bIns="0" rtlCol="0" anchor="t"/>
          <a:lstStyle/>
          <a:p>
            <a:pPr indent="0" marL="0">
              <a:buNone/>
            </a:pPr>
            <a:r>
              <a:rPr lang="en-US" sz="1900" b="1" dirty="0">
                <a:solidFill>
                  <a:schemeClr val="accent5"/>
                </a:solidFill>
                <a:latin typeface="+mj-lt" pitchFamily="34" charset="0"/>
                <a:ea typeface="+mj-lt" pitchFamily="34" charset="-122"/>
                <a:cs typeface="+mj-lt" pitchFamily="34" charset="-120"/>
              </a:rPr>
              <a:t>ON-CHAIN, PUBLIC</a:t>
            </a:r>
            <a:endParaRPr lang="en-US" sz="1900" dirty="0"/>
          </a:p>
        </p:txBody>
      </p:sp>
      <p:sp>
        <p:nvSpPr>
          <p:cNvPr id="8" name="Privacy list 1"/>
          <p:cNvSpPr txBox="1"/>
          <p:nvPr/>
        </p:nvSpPr>
        <p:spPr>
          <a:xfrm>
            <a:off x="822960" y="2606040"/>
            <a:ext cx="4892040" cy="22860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An Operator account exists, keyed by a random-looking nullifier</a:t>
            </a:r>
            <a:endParaRPr lang="en-US" sz="1800" dirty="0"/>
          </a:p>
          <a:p>
            <a:pPr marL="342900" indent="-342900">
              <a:spcAft>
                <a:spcPts val="800"/>
              </a:spcAft>
              <a:buSzPct val="100000"/>
              <a:buChar char="•"/>
            </a:pPr>
            <a:r>
              <a:rPr lang="en-US" sz="1800" dirty="0">
                <a:solidFill>
                  <a:schemeClr val="bg1"/>
                </a:solidFill>
              </a:rPr>
              <a:t>Which agent wallets link to it</a:t>
            </a:r>
            <a:endParaRPr lang="en-US" sz="1800" dirty="0"/>
          </a:p>
          <a:p>
            <a:pPr marL="342900" indent="-342900">
              <a:spcAft>
                <a:spcPts val="800"/>
              </a:spcAft>
              <a:buSzPct val="100000"/>
              <a:buChar char="•"/>
            </a:pPr>
            <a:r>
              <a:rPr lang="en-US" sz="1800" dirty="0">
                <a:solidFill>
                  <a:schemeClr val="bg1"/>
                </a:solidFill>
              </a:rPr>
              <a:t>Their scores, orders and reviews (same as today)</a:t>
            </a:r>
            <a:endParaRPr lang="en-US" sz="1800" dirty="0"/>
          </a:p>
          <a:p>
            <a:pPr marL="342900" indent="-342900">
              <a:spcAft>
                <a:spcPts val="800"/>
              </a:spcAft>
              <a:buSzPct val="100000"/>
              <a:buChar char="•"/>
            </a:pPr>
            <a:r>
              <a:rPr lang="en-US" sz="1800" dirty="0">
                <a:solidFill>
                  <a:schemeClr val="bg1"/>
                </a:solidFill>
              </a:rPr>
              <a:t>Which issuer’s group the proof came from</a:t>
            </a:r>
            <a:endParaRPr lang="en-US" sz="1800" dirty="0"/>
          </a:p>
        </p:txBody>
      </p:sp>
      <p:sp>
        <p:nvSpPr>
          <p:cNvPr id="9" name="Privacy column 2"/>
          <p:cNvSpPr/>
          <p:nvPr/>
        </p:nvSpPr>
        <p:spPr>
          <a:xfrm>
            <a:off x="6245352" y="1645920"/>
            <a:ext cx="5394960" cy="3383280"/>
          </a:xfrm>
          <a:prstGeom prst="roundRect">
            <a:avLst>
              <a:gd name="adj" fmla="val 3784"/>
            </a:avLst>
          </a:prstGeom>
          <a:solidFill>
            <a:schemeClr val="accent1">
              <a:alpha val="16000"/>
            </a:schemeClr>
          </a:solidFill>
          <a:ln w="12700">
            <a:solidFill>
              <a:schemeClr val="accent1">
                <a:alpha val="45000"/>
              </a:schemeClr>
            </a:solidFill>
            <a:prstDash val="solid"/>
          </a:ln>
        </p:spPr>
      </p:sp>
      <p:sp>
        <p:nvSpPr>
          <p:cNvPr id="10" name="Icon chip"/>
          <p:cNvSpPr/>
          <p:nvPr/>
        </p:nvSpPr>
        <p:spPr>
          <a:xfrm>
            <a:off x="6473952" y="1828800"/>
            <a:ext cx="566928" cy="566928"/>
          </a:xfrm>
          <a:prstGeom prst="ellipse">
            <a:avLst/>
          </a:prstGeom>
          <a:solidFill>
            <a:schemeClr val="accent1">
              <a:alpha val="22000"/>
            </a:schemeClr>
          </a:solidFill>
          <a:ln w="12700">
            <a:solidFill>
              <a:schemeClr val="accent1">
                <a:alpha val="70000"/>
              </a:schemeClr>
            </a:solidFill>
            <a:prstDash val="solid"/>
          </a:ln>
        </p:spPr>
      </p:sp>
      <p:pic>
        <p:nvPicPr>
          <p:cNvPr id="11" name="Icon" descr="preencoded.png">    </p:cNvPr>
          <p:cNvPicPr>
            <a:picLocks noChangeAspect="1"/>
          </p:cNvPicPr>
          <p:nvPr/>
        </p:nvPicPr>
        <p:blipFill>
          <a:blip r:embed="rId2"/>
          <a:stretch>
            <a:fillRect/>
          </a:stretch>
        </p:blipFill>
        <p:spPr>
          <a:xfrm>
            <a:off x="6615684" y="1970532"/>
            <a:ext cx="283464" cy="283464"/>
          </a:xfrm>
          <a:prstGeom prst="rect">
            <a:avLst/>
          </a:prstGeom>
        </p:spPr>
      </p:pic>
      <p:sp>
        <p:nvSpPr>
          <p:cNvPr id="12" name="Privacy heading 2"/>
          <p:cNvSpPr txBox="1"/>
          <p:nvPr/>
        </p:nvSpPr>
        <p:spPr>
          <a:xfrm>
            <a:off x="7205472" y="1920240"/>
            <a:ext cx="4206240" cy="411480"/>
          </a:xfrm>
          <a:prstGeom prst="rect">
            <a:avLst/>
          </a:prstGeom>
          <a:noFill/>
          <a:ln/>
        </p:spPr>
        <p:txBody>
          <a:bodyPr wrap="square" lIns="0" tIns="0" rIns="0" bIns="0" rtlCol="0" anchor="t"/>
          <a:lstStyle/>
          <a:p>
            <a:pPr indent="0" marL="0">
              <a:buNone/>
            </a:pPr>
            <a:r>
              <a:rPr lang="en-US" sz="1900" b="1" dirty="0">
                <a:solidFill>
                  <a:schemeClr val="accent1"/>
                </a:solidFill>
                <a:latin typeface="+mj-lt" pitchFamily="34" charset="0"/>
                <a:ea typeface="+mj-lt" pitchFamily="34" charset="-122"/>
                <a:cs typeface="+mj-lt" pitchFamily="34" charset="-120"/>
              </a:rPr>
              <a:t>STAYS PRIVATE</a:t>
            </a:r>
            <a:endParaRPr lang="en-US" sz="1900" dirty="0"/>
          </a:p>
        </p:txBody>
      </p:sp>
      <p:sp>
        <p:nvSpPr>
          <p:cNvPr id="13" name="Privacy list 2"/>
          <p:cNvSpPr txBox="1"/>
          <p:nvPr/>
        </p:nvSpPr>
        <p:spPr>
          <a:xfrm>
            <a:off x="6519672" y="2606040"/>
            <a:ext cx="4892040" cy="22860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Which human or company you are</a:t>
            </a:r>
            <a:endParaRPr lang="en-US" sz="1800" dirty="0"/>
          </a:p>
          <a:p>
            <a:pPr marL="342900" indent="-342900">
              <a:spcAft>
                <a:spcPts val="800"/>
              </a:spcAft>
              <a:buSzPct val="100000"/>
              <a:buChar char="•"/>
            </a:pPr>
            <a:r>
              <a:rPr lang="en-US" sz="1800" dirty="0">
                <a:solidFill>
                  <a:schemeClr val="bg1"/>
                </a:solidFill>
              </a:rPr>
              <a:t>Your passport, face or business documents</a:t>
            </a:r>
            <a:endParaRPr lang="en-US" sz="1800" dirty="0"/>
          </a:p>
          <a:p>
            <a:pPr marL="342900" indent="-342900">
              <a:spcAft>
                <a:spcPts val="800"/>
              </a:spcAft>
              <a:buSzPct val="100000"/>
              <a:buChar char="•"/>
            </a:pPr>
            <a:r>
              <a:rPr lang="en-US" sz="1800" dirty="0">
                <a:solidFill>
                  <a:schemeClr val="bg1"/>
                </a:solidFill>
              </a:rPr>
              <a:t>Your nullifier in any other app</a:t>
            </a:r>
            <a:endParaRPr lang="en-US" sz="1800" dirty="0"/>
          </a:p>
          <a:p>
            <a:pPr marL="342900" indent="-342900">
              <a:spcAft>
                <a:spcPts val="800"/>
              </a:spcAft>
              <a:buSzPct val="100000"/>
              <a:buChar char="•"/>
            </a:pPr>
            <a:r>
              <a:rPr lang="en-US" sz="1800" dirty="0">
                <a:solidFill>
                  <a:schemeClr val="bg1"/>
                </a:solidFill>
              </a:rPr>
              <a:t>Any link between your agents and your airdrop claims</a:t>
            </a:r>
            <a:endParaRPr lang="en-US" sz="1800" dirty="0"/>
          </a:p>
        </p:txBody>
      </p:sp>
      <p:sp>
        <p:nvSpPr>
          <p:cNvPr id="14" name="Trade-off"/>
          <p:cNvSpPr/>
          <p:nvPr/>
        </p:nvSpPr>
        <p:spPr>
          <a:xfrm>
            <a:off x="548640" y="5257800"/>
            <a:ext cx="11091672" cy="868680"/>
          </a:xfrm>
          <a:prstGeom prst="roundRect">
            <a:avLst>
              <a:gd name="adj" fmla="val 14737"/>
            </a:avLst>
          </a:prstGeom>
          <a:solidFill>
            <a:schemeClr val="accent3">
              <a:alpha val="16000"/>
            </a:schemeClr>
          </a:solidFill>
          <a:ln w="12700">
            <a:solidFill>
              <a:schemeClr val="accent3">
                <a:alpha val="45000"/>
              </a:schemeClr>
            </a:solidFill>
            <a:prstDash val="solid"/>
          </a:ln>
        </p:spPr>
      </p:sp>
      <p:sp>
        <p:nvSpPr>
          <p:cNvPr id="15" name="Trade-off text"/>
          <p:cNvSpPr txBox="1"/>
          <p:nvPr/>
        </p:nvSpPr>
        <p:spPr>
          <a:xfrm>
            <a:off x="777240" y="5330952"/>
            <a:ext cx="10698480" cy="731520"/>
          </a:xfrm>
          <a:prstGeom prst="rect">
            <a:avLst/>
          </a:prstGeom>
          <a:noFill/>
          <a:ln/>
        </p:spPr>
        <p:txBody>
          <a:bodyPr wrap="square" lIns="0" tIns="0" rIns="0" bIns="0" rtlCol="0" anchor="ctr"/>
          <a:lstStyle/>
          <a:p>
            <a:pPr indent="0" marL="0">
              <a:buNone/>
            </a:pPr>
            <a:r>
              <a:rPr lang="en-US" sz="1600" dirty="0">
                <a:solidFill>
                  <a:schemeClr val="bg1"/>
                </a:solidFill>
              </a:rPr>
              <a:t>⚖️ The trade-off, said plainly: your agents become linkable to each other. That’s the point. Accountability follows the operator; privacy stays with the person.</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LIMITS, NO COPE</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the fine print (NFA · DYOR)</a:t>
            </a:r>
            <a:endParaRPr lang="en-US" sz="3600" dirty="0"/>
          </a:p>
        </p:txBody>
      </p:sp>
      <p:sp>
        <p:nvSpPr>
          <p:cNvPr id="4" name="Limit 1"/>
          <p:cNvSpPr/>
          <p:nvPr/>
        </p:nvSpPr>
        <p:spPr>
          <a:xfrm>
            <a:off x="548640" y="1627632"/>
            <a:ext cx="3566160" cy="2148840"/>
          </a:xfrm>
          <a:prstGeom prst="roundRect">
            <a:avLst>
              <a:gd name="adj" fmla="val 5957"/>
            </a:avLst>
          </a:prstGeom>
          <a:solidFill>
            <a:schemeClr val="tx2"/>
          </a:solidFill>
          <a:ln w="12700">
            <a:solidFill>
              <a:schemeClr val="accent2">
                <a:alpha val="45000"/>
              </a:schemeClr>
            </a:solidFill>
            <a:prstDash val="solid"/>
          </a:ln>
        </p:spPr>
      </p:sp>
      <p:sp>
        <p:nvSpPr>
          <p:cNvPr id="5" name="Icon chip"/>
          <p:cNvSpPr/>
          <p:nvPr/>
        </p:nvSpPr>
        <p:spPr>
          <a:xfrm>
            <a:off x="731520" y="1810512"/>
            <a:ext cx="530352" cy="530352"/>
          </a:xfrm>
          <a:prstGeom prst="ellipse">
            <a:avLst/>
          </a:prstGeom>
          <a:solidFill>
            <a:schemeClr val="accent6">
              <a:alpha val="22000"/>
            </a:schemeClr>
          </a:solidFill>
          <a:ln w="12700">
            <a:solidFill>
              <a:schemeClr val="accent6">
                <a:alpha val="70000"/>
              </a:schemeClr>
            </a:solidFill>
            <a:prstDash val="solid"/>
          </a:ln>
        </p:spPr>
      </p:sp>
      <p:pic>
        <p:nvPicPr>
          <p:cNvPr id="6" name="Icon" descr="preencoded.png">    </p:cNvPr>
          <p:cNvPicPr>
            <a:picLocks noChangeAspect="1"/>
          </p:cNvPicPr>
          <p:nvPr/>
        </p:nvPicPr>
        <p:blipFill>
          <a:blip r:embed="rId1"/>
          <a:stretch>
            <a:fillRect/>
          </a:stretch>
        </p:blipFill>
        <p:spPr>
          <a:xfrm>
            <a:off x="864108" y="1943100"/>
            <a:ext cx="265176" cy="265176"/>
          </a:xfrm>
          <a:prstGeom prst="rect">
            <a:avLst/>
          </a:prstGeom>
        </p:spPr>
      </p:pic>
      <p:sp>
        <p:nvSpPr>
          <p:cNvPr id="7" name="Limit 1 title"/>
          <p:cNvSpPr txBox="1"/>
          <p:nvPr/>
        </p:nvSpPr>
        <p:spPr>
          <a:xfrm>
            <a:off x="1389888" y="1847088"/>
            <a:ext cx="2606040" cy="457200"/>
          </a:xfrm>
          <a:prstGeom prst="rect">
            <a:avLst/>
          </a:prstGeom>
          <a:noFill/>
          <a:ln/>
        </p:spPr>
        <p:txBody>
          <a:bodyPr wrap="square" lIns="0" tIns="0" rIns="0" bIns="0" rtlCol="0" anchor="ctr"/>
          <a:lstStyle/>
          <a:p>
            <a:pPr indent="0" marL="0">
              <a:buNone/>
            </a:pPr>
            <a:r>
              <a:rPr lang="en-US" sz="1700" b="1" dirty="0">
                <a:solidFill>
                  <a:schemeClr val="bg1"/>
                </a:solidFill>
              </a:rPr>
              <a:t>Garbage in, garbage out</a:t>
            </a:r>
            <a:endParaRPr lang="en-US" sz="1700" dirty="0"/>
          </a:p>
        </p:txBody>
      </p:sp>
      <p:sp>
        <p:nvSpPr>
          <p:cNvPr id="8" name="Limit 1 body"/>
          <p:cNvSpPr txBox="1"/>
          <p:nvPr/>
        </p:nvSpPr>
        <p:spPr>
          <a:xfrm>
            <a:off x="749808" y="2468880"/>
            <a:ext cx="3200400" cy="1234440"/>
          </a:xfrm>
          <a:prstGeom prst="rect">
            <a:avLst/>
          </a:prstGeom>
          <a:noFill/>
          <a:ln/>
        </p:spPr>
        <p:txBody>
          <a:bodyPr wrap="square" lIns="0" tIns="0" rIns="0" bIns="0" rtlCol="0" anchor="t"/>
          <a:lstStyle/>
          <a:p>
            <a:pPr indent="0" marL="0">
              <a:buNone/>
            </a:pPr>
            <a:r>
              <a:rPr lang="en-US" sz="1500" dirty="0">
                <a:solidFill>
                  <a:schemeClr val="bg2"/>
                </a:solidFill>
              </a:rPr>
              <a:t>zk proves a statement about your data. If the issuer is fooled by fake documents or rented identities, the proof is still valid.</a:t>
            </a:r>
            <a:endParaRPr lang="en-US" sz="1500" dirty="0"/>
          </a:p>
        </p:txBody>
      </p:sp>
      <p:sp>
        <p:nvSpPr>
          <p:cNvPr id="9" name="Limit 2"/>
          <p:cNvSpPr/>
          <p:nvPr/>
        </p:nvSpPr>
        <p:spPr>
          <a:xfrm>
            <a:off x="4311396" y="1627632"/>
            <a:ext cx="3566160" cy="2148840"/>
          </a:xfrm>
          <a:prstGeom prst="roundRect">
            <a:avLst>
              <a:gd name="adj" fmla="val 5957"/>
            </a:avLst>
          </a:prstGeom>
          <a:solidFill>
            <a:schemeClr val="tx2"/>
          </a:solidFill>
          <a:ln w="12700">
            <a:solidFill>
              <a:schemeClr val="accent2">
                <a:alpha val="45000"/>
              </a:schemeClr>
            </a:solidFill>
            <a:prstDash val="solid"/>
          </a:ln>
        </p:spPr>
      </p:sp>
      <p:sp>
        <p:nvSpPr>
          <p:cNvPr id="10" name="Icon chip"/>
          <p:cNvSpPr/>
          <p:nvPr/>
        </p:nvSpPr>
        <p:spPr>
          <a:xfrm>
            <a:off x="4494276" y="1810512"/>
            <a:ext cx="530352" cy="530352"/>
          </a:xfrm>
          <a:prstGeom prst="ellipse">
            <a:avLst/>
          </a:prstGeom>
          <a:solidFill>
            <a:schemeClr val="accent3">
              <a:alpha val="22000"/>
            </a:schemeClr>
          </a:solidFill>
          <a:ln w="12700">
            <a:solidFill>
              <a:schemeClr val="accent3">
                <a:alpha val="70000"/>
              </a:schemeClr>
            </a:solidFill>
            <a:prstDash val="solid"/>
          </a:ln>
        </p:spPr>
      </p:sp>
      <p:pic>
        <p:nvPicPr>
          <p:cNvPr id="11" name="Icon" descr="preencoded.png">    </p:cNvPr>
          <p:cNvPicPr>
            <a:picLocks noChangeAspect="1"/>
          </p:cNvPicPr>
          <p:nvPr/>
        </p:nvPicPr>
        <p:blipFill>
          <a:blip r:embed="rId2"/>
          <a:stretch>
            <a:fillRect/>
          </a:stretch>
        </p:blipFill>
        <p:spPr>
          <a:xfrm>
            <a:off x="4626864" y="1943100"/>
            <a:ext cx="265176" cy="265176"/>
          </a:xfrm>
          <a:prstGeom prst="rect">
            <a:avLst/>
          </a:prstGeom>
        </p:spPr>
      </p:pic>
      <p:sp>
        <p:nvSpPr>
          <p:cNvPr id="12" name="Limit 2 title"/>
          <p:cNvSpPr txBox="1"/>
          <p:nvPr/>
        </p:nvSpPr>
        <p:spPr>
          <a:xfrm>
            <a:off x="5152644" y="1847088"/>
            <a:ext cx="2606040" cy="457200"/>
          </a:xfrm>
          <a:prstGeom prst="rect">
            <a:avLst/>
          </a:prstGeom>
          <a:noFill/>
          <a:ln/>
        </p:spPr>
        <p:txBody>
          <a:bodyPr wrap="square" lIns="0" tIns="0" rIns="0" bIns="0" rtlCol="0" anchor="ctr"/>
          <a:lstStyle/>
          <a:p>
            <a:pPr indent="0" marL="0">
              <a:buNone/>
            </a:pPr>
            <a:r>
              <a:rPr lang="en-US" sz="1700" b="1" dirty="0">
                <a:solidFill>
                  <a:schemeClr val="bg1"/>
                </a:solidFill>
              </a:rPr>
              <a:t>The issuer is still central</a:t>
            </a:r>
            <a:endParaRPr lang="en-US" sz="1700" dirty="0"/>
          </a:p>
        </p:txBody>
      </p:sp>
      <p:sp>
        <p:nvSpPr>
          <p:cNvPr id="13" name="Limit 2 body"/>
          <p:cNvSpPr txBox="1"/>
          <p:nvPr/>
        </p:nvSpPr>
        <p:spPr>
          <a:xfrm>
            <a:off x="4512564" y="2468880"/>
            <a:ext cx="3200400" cy="1234440"/>
          </a:xfrm>
          <a:prstGeom prst="rect">
            <a:avLst/>
          </a:prstGeom>
          <a:noFill/>
          <a:ln/>
        </p:spPr>
        <p:txBody>
          <a:bodyPr wrap="square" lIns="0" tIns="0" rIns="0" bIns="0" rtlCol="0" anchor="t"/>
          <a:lstStyle/>
          <a:p>
            <a:pPr indent="0" marL="0">
              <a:buNone/>
            </a:pPr>
            <a:r>
              <a:rPr lang="en-US" sz="1500" dirty="0">
                <a:solidFill>
                  <a:schemeClr val="bg2"/>
                </a:solidFill>
              </a:rPr>
              <a:t>Someone verified you at step 1. zk shrinks that trust; it doesn’t remove it. Accept several issuers so none is a kingmaker.</a:t>
            </a:r>
            <a:endParaRPr lang="en-US" sz="1500" dirty="0"/>
          </a:p>
        </p:txBody>
      </p:sp>
      <p:sp>
        <p:nvSpPr>
          <p:cNvPr id="14" name="Limit 3"/>
          <p:cNvSpPr/>
          <p:nvPr/>
        </p:nvSpPr>
        <p:spPr>
          <a:xfrm>
            <a:off x="8074152" y="1627632"/>
            <a:ext cx="3566160" cy="2148840"/>
          </a:xfrm>
          <a:prstGeom prst="roundRect">
            <a:avLst>
              <a:gd name="adj" fmla="val 5957"/>
            </a:avLst>
          </a:prstGeom>
          <a:solidFill>
            <a:schemeClr val="tx2"/>
          </a:solidFill>
          <a:ln w="12700">
            <a:solidFill>
              <a:schemeClr val="accent2">
                <a:alpha val="45000"/>
              </a:schemeClr>
            </a:solidFill>
            <a:prstDash val="solid"/>
          </a:ln>
        </p:spPr>
      </p:sp>
      <p:sp>
        <p:nvSpPr>
          <p:cNvPr id="15" name="Icon chip"/>
          <p:cNvSpPr/>
          <p:nvPr/>
        </p:nvSpPr>
        <p:spPr>
          <a:xfrm>
            <a:off x="8257032" y="1810512"/>
            <a:ext cx="530352" cy="530352"/>
          </a:xfrm>
          <a:prstGeom prst="ellipse">
            <a:avLst/>
          </a:prstGeom>
          <a:solidFill>
            <a:schemeClr val="accent5">
              <a:alpha val="22000"/>
            </a:schemeClr>
          </a:solidFill>
          <a:ln w="12700">
            <a:solidFill>
              <a:schemeClr val="accent5">
                <a:alpha val="70000"/>
              </a:schemeClr>
            </a:solidFill>
            <a:prstDash val="solid"/>
          </a:ln>
        </p:spPr>
      </p:sp>
      <p:pic>
        <p:nvPicPr>
          <p:cNvPr id="16" name="Icon" descr="preencoded.png">    </p:cNvPr>
          <p:cNvPicPr>
            <a:picLocks noChangeAspect="1"/>
          </p:cNvPicPr>
          <p:nvPr/>
        </p:nvPicPr>
        <p:blipFill>
          <a:blip r:embed="rId3"/>
          <a:stretch>
            <a:fillRect/>
          </a:stretch>
        </p:blipFill>
        <p:spPr>
          <a:xfrm>
            <a:off x="8389620" y="1943100"/>
            <a:ext cx="265176" cy="265176"/>
          </a:xfrm>
          <a:prstGeom prst="rect">
            <a:avLst/>
          </a:prstGeom>
        </p:spPr>
      </p:pic>
      <p:sp>
        <p:nvSpPr>
          <p:cNvPr id="17" name="Limit 3 title"/>
          <p:cNvSpPr txBox="1"/>
          <p:nvPr/>
        </p:nvSpPr>
        <p:spPr>
          <a:xfrm>
            <a:off x="8915400" y="1847088"/>
            <a:ext cx="2606040" cy="457200"/>
          </a:xfrm>
          <a:prstGeom prst="rect">
            <a:avLst/>
          </a:prstGeom>
          <a:noFill/>
          <a:ln/>
        </p:spPr>
        <p:txBody>
          <a:bodyPr wrap="square" lIns="0" tIns="0" rIns="0" bIns="0" rtlCol="0" anchor="ctr"/>
          <a:lstStyle/>
          <a:p>
            <a:pPr indent="0" marL="0">
              <a:buNone/>
            </a:pPr>
            <a:r>
              <a:rPr lang="en-US" sz="1700" b="1" dirty="0">
                <a:solidFill>
                  <a:schemeClr val="bg1"/>
                </a:solidFill>
              </a:rPr>
              <a:t>It costs compute</a:t>
            </a:r>
            <a:endParaRPr lang="en-US" sz="1700" dirty="0"/>
          </a:p>
        </p:txBody>
      </p:sp>
      <p:sp>
        <p:nvSpPr>
          <p:cNvPr id="18" name="Limit 3 body"/>
          <p:cNvSpPr txBox="1"/>
          <p:nvPr/>
        </p:nvSpPr>
        <p:spPr>
          <a:xfrm>
            <a:off x="8275320" y="2468880"/>
            <a:ext cx="3200400" cy="1234440"/>
          </a:xfrm>
          <a:prstGeom prst="rect">
            <a:avLst/>
          </a:prstGeom>
          <a:noFill/>
          <a:ln/>
        </p:spPr>
        <p:txBody>
          <a:bodyPr wrap="square" lIns="0" tIns="0" rIns="0" bIns="0" rtlCol="0" anchor="t"/>
          <a:lstStyle/>
          <a:p>
            <a:pPr indent="0" marL="0">
              <a:buNone/>
            </a:pPr>
            <a:r>
              <a:rPr lang="en-US" sz="1500" dirty="0">
                <a:solidFill>
                  <a:schemeClr val="bg2"/>
                </a:solidFill>
              </a:rPr>
              <a:t>Proofs take seconds on the client. One Groth16 check fits in a Solana transaction, but costs far more than a transfer.</a:t>
            </a:r>
            <a:endParaRPr lang="en-US" sz="1500" dirty="0"/>
          </a:p>
        </p:txBody>
      </p:sp>
      <p:sp>
        <p:nvSpPr>
          <p:cNvPr id="19" name="Limit 4"/>
          <p:cNvSpPr/>
          <p:nvPr/>
        </p:nvSpPr>
        <p:spPr>
          <a:xfrm>
            <a:off x="548640" y="3913632"/>
            <a:ext cx="3566160" cy="2148840"/>
          </a:xfrm>
          <a:prstGeom prst="roundRect">
            <a:avLst>
              <a:gd name="adj" fmla="val 5957"/>
            </a:avLst>
          </a:prstGeom>
          <a:solidFill>
            <a:schemeClr val="tx2"/>
          </a:solidFill>
          <a:ln w="12700">
            <a:solidFill>
              <a:schemeClr val="accent2">
                <a:alpha val="45000"/>
              </a:schemeClr>
            </a:solidFill>
            <a:prstDash val="solid"/>
          </a:ln>
        </p:spPr>
      </p:sp>
      <p:sp>
        <p:nvSpPr>
          <p:cNvPr id="20" name="Icon chip"/>
          <p:cNvSpPr/>
          <p:nvPr/>
        </p:nvSpPr>
        <p:spPr>
          <a:xfrm>
            <a:off x="731520" y="4096512"/>
            <a:ext cx="530352" cy="530352"/>
          </a:xfrm>
          <a:prstGeom prst="ellipse">
            <a:avLst/>
          </a:prstGeom>
          <a:solidFill>
            <a:schemeClr val="accent2">
              <a:alpha val="22000"/>
            </a:schemeClr>
          </a:solidFill>
          <a:ln w="12700">
            <a:solidFill>
              <a:schemeClr val="accent2">
                <a:alpha val="70000"/>
              </a:schemeClr>
            </a:solidFill>
            <a:prstDash val="solid"/>
          </a:ln>
        </p:spPr>
      </p:sp>
      <p:pic>
        <p:nvPicPr>
          <p:cNvPr id="21" name="Icon" descr="preencoded.png">    </p:cNvPr>
          <p:cNvPicPr>
            <a:picLocks noChangeAspect="1"/>
          </p:cNvPicPr>
          <p:nvPr/>
        </p:nvPicPr>
        <p:blipFill>
          <a:blip r:embed="rId4"/>
          <a:stretch>
            <a:fillRect/>
          </a:stretch>
        </p:blipFill>
        <p:spPr>
          <a:xfrm>
            <a:off x="864108" y="4229100"/>
            <a:ext cx="265176" cy="265176"/>
          </a:xfrm>
          <a:prstGeom prst="rect">
            <a:avLst/>
          </a:prstGeom>
        </p:spPr>
      </p:pic>
      <p:sp>
        <p:nvSpPr>
          <p:cNvPr id="22" name="Limit 4 title"/>
          <p:cNvSpPr txBox="1"/>
          <p:nvPr/>
        </p:nvSpPr>
        <p:spPr>
          <a:xfrm>
            <a:off x="1389888" y="4133088"/>
            <a:ext cx="2606040" cy="457200"/>
          </a:xfrm>
          <a:prstGeom prst="rect">
            <a:avLst/>
          </a:prstGeom>
          <a:noFill/>
          <a:ln/>
        </p:spPr>
        <p:txBody>
          <a:bodyPr wrap="square" lIns="0" tIns="0" rIns="0" bIns="0" rtlCol="0" anchor="ctr"/>
          <a:lstStyle/>
          <a:p>
            <a:pPr indent="0" marL="0">
              <a:buNone/>
            </a:pPr>
            <a:r>
              <a:rPr lang="en-US" sz="1700" b="1" dirty="0">
                <a:solidFill>
                  <a:schemeClr val="bg1"/>
                </a:solidFill>
              </a:rPr>
              <a:t>Trusted setup</a:t>
            </a:r>
            <a:endParaRPr lang="en-US" sz="1700" dirty="0"/>
          </a:p>
        </p:txBody>
      </p:sp>
      <p:sp>
        <p:nvSpPr>
          <p:cNvPr id="23" name="Limit 4 body"/>
          <p:cNvSpPr txBox="1"/>
          <p:nvPr/>
        </p:nvSpPr>
        <p:spPr>
          <a:xfrm>
            <a:off x="749808" y="4754880"/>
            <a:ext cx="3200400" cy="1234440"/>
          </a:xfrm>
          <a:prstGeom prst="rect">
            <a:avLst/>
          </a:prstGeom>
          <a:noFill/>
          <a:ln/>
        </p:spPr>
        <p:txBody>
          <a:bodyPr wrap="square" lIns="0" tIns="0" rIns="0" bIns="0" rtlCol="0" anchor="t"/>
          <a:lstStyle/>
          <a:p>
            <a:pPr indent="0" marL="0">
              <a:buNone/>
            </a:pPr>
            <a:r>
              <a:rPr lang="en-US" sz="1500" dirty="0">
                <a:solidFill>
                  <a:schemeClr val="bg2"/>
                </a:solidFill>
              </a:rPr>
              <a:t>Groth16 needs one. Use the verifying keys from Semaphore’s public ceremony. Never run your own setup.</a:t>
            </a:r>
            <a:endParaRPr lang="en-US" sz="1500" dirty="0"/>
          </a:p>
        </p:txBody>
      </p:sp>
      <p:sp>
        <p:nvSpPr>
          <p:cNvPr id="24" name="Limit 5"/>
          <p:cNvSpPr/>
          <p:nvPr/>
        </p:nvSpPr>
        <p:spPr>
          <a:xfrm>
            <a:off x="4311396" y="3913632"/>
            <a:ext cx="3566160" cy="2148840"/>
          </a:xfrm>
          <a:prstGeom prst="roundRect">
            <a:avLst>
              <a:gd name="adj" fmla="val 5957"/>
            </a:avLst>
          </a:prstGeom>
          <a:solidFill>
            <a:schemeClr val="tx2"/>
          </a:solidFill>
          <a:ln w="12700">
            <a:solidFill>
              <a:schemeClr val="accent2">
                <a:alpha val="45000"/>
              </a:schemeClr>
            </a:solidFill>
            <a:prstDash val="solid"/>
          </a:ln>
        </p:spPr>
      </p:sp>
      <p:sp>
        <p:nvSpPr>
          <p:cNvPr id="25" name="Icon chip"/>
          <p:cNvSpPr/>
          <p:nvPr/>
        </p:nvSpPr>
        <p:spPr>
          <a:xfrm>
            <a:off x="4494276" y="4096512"/>
            <a:ext cx="530352" cy="530352"/>
          </a:xfrm>
          <a:prstGeom prst="ellipse">
            <a:avLst/>
          </a:prstGeom>
          <a:solidFill>
            <a:schemeClr val="accent4">
              <a:alpha val="22000"/>
            </a:schemeClr>
          </a:solidFill>
          <a:ln w="12700">
            <a:solidFill>
              <a:schemeClr val="accent4">
                <a:alpha val="70000"/>
              </a:schemeClr>
            </a:solidFill>
            <a:prstDash val="solid"/>
          </a:ln>
        </p:spPr>
      </p:sp>
      <p:pic>
        <p:nvPicPr>
          <p:cNvPr id="26" name="Icon" descr="preencoded.png">    </p:cNvPr>
          <p:cNvPicPr>
            <a:picLocks noChangeAspect="1"/>
          </p:cNvPicPr>
          <p:nvPr/>
        </p:nvPicPr>
        <p:blipFill>
          <a:blip r:embed="rId5"/>
          <a:stretch>
            <a:fillRect/>
          </a:stretch>
        </p:blipFill>
        <p:spPr>
          <a:xfrm>
            <a:off x="4626864" y="4229100"/>
            <a:ext cx="265176" cy="265176"/>
          </a:xfrm>
          <a:prstGeom prst="rect">
            <a:avLst/>
          </a:prstGeom>
        </p:spPr>
      </p:pic>
      <p:sp>
        <p:nvSpPr>
          <p:cNvPr id="27" name="Limit 5 title"/>
          <p:cNvSpPr txBox="1"/>
          <p:nvPr/>
        </p:nvSpPr>
        <p:spPr>
          <a:xfrm>
            <a:off x="5152644" y="4133088"/>
            <a:ext cx="2606040" cy="457200"/>
          </a:xfrm>
          <a:prstGeom prst="rect">
            <a:avLst/>
          </a:prstGeom>
          <a:noFill/>
          <a:ln/>
        </p:spPr>
        <p:txBody>
          <a:bodyPr wrap="square" lIns="0" tIns="0" rIns="0" bIns="0" rtlCol="0" anchor="ctr"/>
          <a:lstStyle/>
          <a:p>
            <a:pPr indent="0" marL="0">
              <a:buNone/>
            </a:pPr>
            <a:r>
              <a:rPr lang="en-US" sz="1700" b="1" dirty="0">
                <a:solidFill>
                  <a:schemeClr val="bg1"/>
                </a:solidFill>
              </a:rPr>
              <a:t>Circuit bugs are silent</a:t>
            </a:r>
            <a:endParaRPr lang="en-US" sz="1700" dirty="0"/>
          </a:p>
        </p:txBody>
      </p:sp>
      <p:sp>
        <p:nvSpPr>
          <p:cNvPr id="28" name="Limit 5 body"/>
          <p:cNvSpPr txBox="1"/>
          <p:nvPr/>
        </p:nvSpPr>
        <p:spPr>
          <a:xfrm>
            <a:off x="4512564" y="4754880"/>
            <a:ext cx="3200400" cy="1234440"/>
          </a:xfrm>
          <a:prstGeom prst="rect">
            <a:avLst/>
          </a:prstGeom>
          <a:noFill/>
          <a:ln/>
        </p:spPr>
        <p:txBody>
          <a:bodyPr wrap="square" lIns="0" tIns="0" rIns="0" bIns="0" rtlCol="0" anchor="t"/>
          <a:lstStyle/>
          <a:p>
            <a:pPr indent="0" marL="0">
              <a:buNone/>
            </a:pPr>
            <a:r>
              <a:rPr lang="en-US" sz="1500" dirty="0">
                <a:solidFill>
                  <a:schemeClr val="bg2"/>
                </a:solidFill>
              </a:rPr>
              <a:t>A broken circuit can accept fake proofs and nobody notices. Use the audited Semaphore circuits as they are.</a:t>
            </a:r>
            <a:endParaRPr lang="en-US" sz="1500" dirty="0"/>
          </a:p>
        </p:txBody>
      </p:sp>
      <p:sp>
        <p:nvSpPr>
          <p:cNvPr id="29" name="Limit 6"/>
          <p:cNvSpPr/>
          <p:nvPr/>
        </p:nvSpPr>
        <p:spPr>
          <a:xfrm>
            <a:off x="8074152" y="3913632"/>
            <a:ext cx="3566160" cy="2148840"/>
          </a:xfrm>
          <a:prstGeom prst="roundRect">
            <a:avLst>
              <a:gd name="adj" fmla="val 5957"/>
            </a:avLst>
          </a:prstGeom>
          <a:solidFill>
            <a:schemeClr val="tx2"/>
          </a:solidFill>
          <a:ln w="12700">
            <a:solidFill>
              <a:schemeClr val="accent2">
                <a:alpha val="45000"/>
              </a:schemeClr>
            </a:solidFill>
            <a:prstDash val="solid"/>
          </a:ln>
        </p:spPr>
      </p:sp>
      <p:sp>
        <p:nvSpPr>
          <p:cNvPr id="30" name="Icon chip"/>
          <p:cNvSpPr/>
          <p:nvPr/>
        </p:nvSpPr>
        <p:spPr>
          <a:xfrm>
            <a:off x="8257032" y="4096512"/>
            <a:ext cx="530352" cy="530352"/>
          </a:xfrm>
          <a:prstGeom prst="ellipse">
            <a:avLst/>
          </a:prstGeom>
          <a:solidFill>
            <a:schemeClr val="accent1">
              <a:alpha val="22000"/>
            </a:schemeClr>
          </a:solidFill>
          <a:ln w="12700">
            <a:solidFill>
              <a:schemeClr val="accent1">
                <a:alpha val="70000"/>
              </a:schemeClr>
            </a:solidFill>
            <a:prstDash val="solid"/>
          </a:ln>
        </p:spPr>
      </p:sp>
      <p:pic>
        <p:nvPicPr>
          <p:cNvPr id="31" name="Icon" descr="preencoded.png">    </p:cNvPr>
          <p:cNvPicPr>
            <a:picLocks noChangeAspect="1"/>
          </p:cNvPicPr>
          <p:nvPr/>
        </p:nvPicPr>
        <p:blipFill>
          <a:blip r:embed="rId6"/>
          <a:stretch>
            <a:fillRect/>
          </a:stretch>
        </p:blipFill>
        <p:spPr>
          <a:xfrm>
            <a:off x="8389620" y="4229100"/>
            <a:ext cx="265176" cy="265176"/>
          </a:xfrm>
          <a:prstGeom prst="rect">
            <a:avLst/>
          </a:prstGeom>
        </p:spPr>
      </p:pic>
      <p:sp>
        <p:nvSpPr>
          <p:cNvPr id="32" name="Limit 6 title"/>
          <p:cNvSpPr txBox="1"/>
          <p:nvPr/>
        </p:nvSpPr>
        <p:spPr>
          <a:xfrm>
            <a:off x="8915400" y="4133088"/>
            <a:ext cx="2606040" cy="457200"/>
          </a:xfrm>
          <a:prstGeom prst="rect">
            <a:avLst/>
          </a:prstGeom>
          <a:noFill/>
          <a:ln/>
        </p:spPr>
        <p:txBody>
          <a:bodyPr wrap="square" lIns="0" tIns="0" rIns="0" bIns="0" rtlCol="0" anchor="ctr"/>
          <a:lstStyle/>
          <a:p>
            <a:pPr indent="0" marL="0">
              <a:buNone/>
            </a:pPr>
            <a:r>
              <a:rPr lang="en-US" sz="1700" b="1" dirty="0">
                <a:solidFill>
                  <a:schemeClr val="bg1"/>
                </a:solidFill>
              </a:rPr>
              <a:t>Agents aren’t humans</a:t>
            </a:r>
            <a:endParaRPr lang="en-US" sz="1700" dirty="0"/>
          </a:p>
        </p:txBody>
      </p:sp>
      <p:sp>
        <p:nvSpPr>
          <p:cNvPr id="33" name="Limit 6 body"/>
          <p:cNvSpPr txBox="1"/>
          <p:nvPr/>
        </p:nvSpPr>
        <p:spPr>
          <a:xfrm>
            <a:off x="8275320" y="4754880"/>
            <a:ext cx="3200400" cy="1234440"/>
          </a:xfrm>
          <a:prstGeom prst="rect">
            <a:avLst/>
          </a:prstGeom>
          <a:noFill/>
          <a:ln/>
        </p:spPr>
        <p:txBody>
          <a:bodyPr wrap="square" lIns="0" tIns="0" rIns="0" bIns="0" rtlCol="0" anchor="t"/>
          <a:lstStyle/>
          <a:p>
            <a:pPr indent="0" marL="0">
              <a:buNone/>
            </a:pPr>
            <a:r>
              <a:rPr lang="en-US" sz="1500" dirty="0">
                <a:solidFill>
                  <a:schemeClr val="bg2"/>
                </a:solidFill>
              </a:rPr>
              <a:t>One company can honestly run 50 agents. The unit is the operator, not the agent; businesses need a KYB-style issuer.</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ROADMAP</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wen zk? the ship plan 🗓️</a:t>
            </a:r>
            <a:endParaRPr lang="en-US" sz="3600" dirty="0"/>
          </a:p>
        </p:txBody>
      </p:sp>
      <p:sp>
        <p:nvSpPr>
          <p:cNvPr id="4" name="Timeline"/>
          <p:cNvSpPr/>
          <p:nvPr/>
        </p:nvSpPr>
        <p:spPr>
          <a:xfrm>
            <a:off x="1856232" y="2130552"/>
            <a:ext cx="8476488" cy="0"/>
          </a:xfrm>
          <a:prstGeom prst="line">
            <a:avLst/>
          </a:prstGeom>
          <a:noFill/>
          <a:ln w="25400">
            <a:solidFill>
              <a:schemeClr val="accent2"/>
            </a:solidFill>
            <a:prstDash val="dash"/>
          </a:ln>
        </p:spPr>
      </p:sp>
      <p:sp>
        <p:nvSpPr>
          <p:cNvPr id="5" name="Phase dot 1"/>
          <p:cNvSpPr/>
          <p:nvPr/>
        </p:nvSpPr>
        <p:spPr>
          <a:xfrm>
            <a:off x="1673352" y="1947672"/>
            <a:ext cx="365760" cy="365760"/>
          </a:xfrm>
          <a:prstGeom prst="ellipse">
            <a:avLst/>
          </a:prstGeom>
          <a:solidFill>
            <a:schemeClr val="accent3"/>
          </a:solidFill>
          <a:ln w="12700">
            <a:solidFill>
              <a:schemeClr val="accent3"/>
            </a:solidFill>
            <a:prstDash val="solid"/>
          </a:ln>
        </p:spPr>
      </p:sp>
      <p:sp>
        <p:nvSpPr>
          <p:cNvPr id="6" name="Phase tag 1"/>
          <p:cNvSpPr txBox="1"/>
          <p:nvPr/>
        </p:nvSpPr>
        <p:spPr>
          <a:xfrm>
            <a:off x="548640" y="1481328"/>
            <a:ext cx="2615184" cy="365760"/>
          </a:xfrm>
          <a:prstGeom prst="rect">
            <a:avLst/>
          </a:prstGeom>
          <a:noFill/>
          <a:ln/>
        </p:spPr>
        <p:txBody>
          <a:bodyPr wrap="square" lIns="0" tIns="0" rIns="0" bIns="0" rtlCol="0" anchor="t"/>
          <a:lstStyle/>
          <a:p>
            <a:pPr algn="ctr" indent="0" marL="0">
              <a:buNone/>
            </a:pPr>
            <a:r>
              <a:rPr lang="en-US" sz="1500" b="1" dirty="0">
                <a:solidFill>
                  <a:schemeClr val="accent3"/>
                </a:solidFill>
                <a:latin typeface="+mj-lt" pitchFamily="34" charset="0"/>
                <a:ea typeface="+mj-lt" pitchFamily="34" charset="-122"/>
                <a:cs typeface="+mj-lt" pitchFamily="34" charset="-120"/>
              </a:rPr>
              <a:t>NOW → OCT 12</a:t>
            </a:r>
            <a:endParaRPr lang="en-US" sz="1500" dirty="0"/>
          </a:p>
        </p:txBody>
      </p:sp>
      <p:sp>
        <p:nvSpPr>
          <p:cNvPr id="7" name="Phase card 1"/>
          <p:cNvSpPr/>
          <p:nvPr/>
        </p:nvSpPr>
        <p:spPr>
          <a:xfrm>
            <a:off x="548640" y="2606040"/>
            <a:ext cx="2615184" cy="3108960"/>
          </a:xfrm>
          <a:prstGeom prst="roundRect">
            <a:avLst>
              <a:gd name="adj" fmla="val 4895"/>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8" name="Phase 1 title"/>
          <p:cNvSpPr txBox="1"/>
          <p:nvPr/>
        </p:nvSpPr>
        <p:spPr>
          <a:xfrm>
            <a:off x="731520" y="2788920"/>
            <a:ext cx="2249424" cy="731520"/>
          </a:xfrm>
          <a:prstGeom prst="rect">
            <a:avLst/>
          </a:prstGeom>
          <a:noFill/>
          <a:ln/>
        </p:spPr>
        <p:txBody>
          <a:bodyPr wrap="square" lIns="0" tIns="0" rIns="0" bIns="0" rtlCol="0" anchor="t"/>
          <a:lstStyle/>
          <a:p>
            <a:pPr indent="0" marL="0">
              <a:buNone/>
            </a:pPr>
            <a:r>
              <a:rPr lang="en-US" sz="1900" b="1" dirty="0">
                <a:solidFill>
                  <a:schemeClr val="bg1"/>
                </a:solidFill>
              </a:rPr>
              <a:t>Don’t ship it. Pitch it.</a:t>
            </a:r>
            <a:endParaRPr lang="en-US" sz="1900" dirty="0"/>
          </a:p>
        </p:txBody>
      </p:sp>
      <p:sp>
        <p:nvSpPr>
          <p:cNvPr id="9" name="Phase 1 body"/>
          <p:cNvSpPr txBox="1"/>
          <p:nvPr/>
        </p:nvSpPr>
        <p:spPr>
          <a:xfrm>
            <a:off x="731520" y="3566160"/>
            <a:ext cx="2249424" cy="2057400"/>
          </a:xfrm>
          <a:prstGeom prst="rect">
            <a:avLst/>
          </a:prstGeom>
          <a:noFill/>
          <a:ln/>
        </p:spPr>
        <p:txBody>
          <a:bodyPr wrap="square" lIns="0" tIns="0" rIns="0" bIns="0" rtlCol="0" anchor="t"/>
          <a:lstStyle/>
          <a:p>
            <a:pPr indent="0" marL="0">
              <a:buNone/>
            </a:pPr>
            <a:r>
              <a:rPr lang="en-US" sz="1600" dirty="0">
                <a:solidFill>
                  <a:schemeClr val="bg2"/>
                </a:solidFill>
              </a:rPr>
              <a:t>One slide and a Q&amp;A answer. Add zk operators to SECURITY.md as the planned fix for C2 and C12.</a:t>
            </a:r>
            <a:endParaRPr lang="en-US" sz="1600" dirty="0"/>
          </a:p>
        </p:txBody>
      </p:sp>
      <p:sp>
        <p:nvSpPr>
          <p:cNvPr id="10" name="Phase dot 2"/>
          <p:cNvSpPr/>
          <p:nvPr/>
        </p:nvSpPr>
        <p:spPr>
          <a:xfrm>
            <a:off x="4498848" y="1947672"/>
            <a:ext cx="365760" cy="365760"/>
          </a:xfrm>
          <a:prstGeom prst="ellipse">
            <a:avLst/>
          </a:prstGeom>
          <a:solidFill>
            <a:schemeClr val="accent5"/>
          </a:solidFill>
          <a:ln w="12700">
            <a:solidFill>
              <a:schemeClr val="accent5"/>
            </a:solidFill>
            <a:prstDash val="solid"/>
          </a:ln>
        </p:spPr>
      </p:sp>
      <p:sp>
        <p:nvSpPr>
          <p:cNvPr id="11" name="Phase tag 2"/>
          <p:cNvSpPr txBox="1"/>
          <p:nvPr/>
        </p:nvSpPr>
        <p:spPr>
          <a:xfrm>
            <a:off x="3374136" y="1481328"/>
            <a:ext cx="2615184" cy="365760"/>
          </a:xfrm>
          <a:prstGeom prst="rect">
            <a:avLst/>
          </a:prstGeom>
          <a:noFill/>
          <a:ln/>
        </p:spPr>
        <p:txBody>
          <a:bodyPr wrap="square" lIns="0" tIns="0" rIns="0" bIns="0" rtlCol="0" anchor="t"/>
          <a:lstStyle/>
          <a:p>
            <a:pPr algn="ctr" indent="0" marL="0">
              <a:buNone/>
            </a:pPr>
            <a:r>
              <a:rPr lang="en-US" sz="1500" b="1" dirty="0">
                <a:solidFill>
                  <a:schemeClr val="accent5"/>
                </a:solidFill>
                <a:latin typeface="+mj-lt" pitchFamily="34" charset="0"/>
                <a:ea typeface="+mj-lt" pitchFamily="34" charset="-122"/>
                <a:cs typeface="+mj-lt" pitchFamily="34" charset="-120"/>
              </a:rPr>
              <a:t>V2 SPRINT</a:t>
            </a:r>
            <a:endParaRPr lang="en-US" sz="1500" dirty="0"/>
          </a:p>
        </p:txBody>
      </p:sp>
      <p:sp>
        <p:nvSpPr>
          <p:cNvPr id="12" name="Phase card 2"/>
          <p:cNvSpPr/>
          <p:nvPr/>
        </p:nvSpPr>
        <p:spPr>
          <a:xfrm>
            <a:off x="3374136" y="2606040"/>
            <a:ext cx="2615184" cy="3108960"/>
          </a:xfrm>
          <a:prstGeom prst="roundRect">
            <a:avLst>
              <a:gd name="adj" fmla="val 4895"/>
            </a:avLst>
          </a:prstGeom>
          <a:solidFill>
            <a:schemeClr val="tx2"/>
          </a:solidFill>
          <a:ln w="12700">
            <a:solidFill>
              <a:schemeClr val="accent2">
                <a:alpha val="45000"/>
              </a:schemeClr>
            </a:solidFill>
            <a:prstDash val="solid"/>
          </a:ln>
        </p:spPr>
      </p:sp>
      <p:sp>
        <p:nvSpPr>
          <p:cNvPr id="13" name="Phase 2 title"/>
          <p:cNvSpPr txBox="1"/>
          <p:nvPr/>
        </p:nvSpPr>
        <p:spPr>
          <a:xfrm>
            <a:off x="3557016" y="2788920"/>
            <a:ext cx="2249424" cy="731520"/>
          </a:xfrm>
          <a:prstGeom prst="rect">
            <a:avLst/>
          </a:prstGeom>
          <a:noFill/>
          <a:ln/>
        </p:spPr>
        <p:txBody>
          <a:bodyPr wrap="square" lIns="0" tIns="0" rIns="0" bIns="0" rtlCol="0" anchor="t"/>
          <a:lstStyle/>
          <a:p>
            <a:pPr indent="0" marL="0">
              <a:buNone/>
            </a:pPr>
            <a:r>
              <a:rPr lang="en-US" sz="1900" b="1" dirty="0">
                <a:solidFill>
                  <a:schemeClr val="bg1"/>
                </a:solidFill>
              </a:rPr>
              <a:t>Operator + verifier</a:t>
            </a:r>
            <a:endParaRPr lang="en-US" sz="1900" dirty="0"/>
          </a:p>
        </p:txBody>
      </p:sp>
      <p:sp>
        <p:nvSpPr>
          <p:cNvPr id="14" name="Phase 2 body"/>
          <p:cNvSpPr txBox="1"/>
          <p:nvPr/>
        </p:nvSpPr>
        <p:spPr>
          <a:xfrm>
            <a:off x="3557016" y="3566160"/>
            <a:ext cx="2249424" cy="2057400"/>
          </a:xfrm>
          <a:prstGeom prst="rect">
            <a:avLst/>
          </a:prstGeom>
          <a:noFill/>
          <a:ln/>
        </p:spPr>
        <p:txBody>
          <a:bodyPr wrap="square" lIns="0" tIns="0" rIns="0" bIns="0" rtlCol="0" anchor="t"/>
          <a:lstStyle/>
          <a:p>
            <a:pPr indent="0" marL="0">
              <a:buNone/>
            </a:pPr>
            <a:r>
              <a:rPr lang="en-US" sz="1600" dirty="0">
                <a:solidFill>
                  <a:schemeClr val="bg2"/>
                </a:solidFill>
              </a:rPr>
              <a:t>Operator account, post_root and prove_operator with Semaphore’s verifying keys. Same-operator trades earn 0.</a:t>
            </a:r>
            <a:endParaRPr lang="en-US" sz="1600" dirty="0"/>
          </a:p>
        </p:txBody>
      </p:sp>
      <p:sp>
        <p:nvSpPr>
          <p:cNvPr id="15" name="Phase dot 3"/>
          <p:cNvSpPr/>
          <p:nvPr/>
        </p:nvSpPr>
        <p:spPr>
          <a:xfrm>
            <a:off x="7324344" y="1947672"/>
            <a:ext cx="365760" cy="365760"/>
          </a:xfrm>
          <a:prstGeom prst="ellipse">
            <a:avLst/>
          </a:prstGeom>
          <a:solidFill>
            <a:schemeClr val="accent4"/>
          </a:solidFill>
          <a:ln w="12700">
            <a:solidFill>
              <a:schemeClr val="accent4"/>
            </a:solidFill>
            <a:prstDash val="solid"/>
          </a:ln>
        </p:spPr>
      </p:sp>
      <p:sp>
        <p:nvSpPr>
          <p:cNvPr id="16" name="Phase tag 3"/>
          <p:cNvSpPr txBox="1"/>
          <p:nvPr/>
        </p:nvSpPr>
        <p:spPr>
          <a:xfrm>
            <a:off x="6199632" y="1481328"/>
            <a:ext cx="2615184" cy="365760"/>
          </a:xfrm>
          <a:prstGeom prst="rect">
            <a:avLst/>
          </a:prstGeom>
          <a:noFill/>
          <a:ln/>
        </p:spPr>
        <p:txBody>
          <a:bodyPr wrap="square" lIns="0" tIns="0" rIns="0" bIns="0" rtlCol="0" anchor="t"/>
          <a:lstStyle/>
          <a:p>
            <a:pPr algn="ctr" indent="0" marL="0">
              <a:buNone/>
            </a:pPr>
            <a:r>
              <a:rPr lang="en-US" sz="1500" b="1" dirty="0">
                <a:solidFill>
                  <a:schemeClr val="accent4"/>
                </a:solidFill>
                <a:latin typeface="+mj-lt" pitchFamily="34" charset="0"/>
                <a:ea typeface="+mj-lt" pitchFamily="34" charset="-122"/>
                <a:cs typeface="+mj-lt" pitchFamily="34" charset="-120"/>
              </a:rPr>
              <a:t>V2 TESTS</a:t>
            </a:r>
            <a:endParaRPr lang="en-US" sz="1500" dirty="0"/>
          </a:p>
        </p:txBody>
      </p:sp>
      <p:sp>
        <p:nvSpPr>
          <p:cNvPr id="17" name="Phase card 3"/>
          <p:cNvSpPr/>
          <p:nvPr/>
        </p:nvSpPr>
        <p:spPr>
          <a:xfrm>
            <a:off x="6199632" y="2606040"/>
            <a:ext cx="2615184" cy="3108960"/>
          </a:xfrm>
          <a:prstGeom prst="roundRect">
            <a:avLst>
              <a:gd name="adj" fmla="val 4895"/>
            </a:avLst>
          </a:prstGeom>
          <a:solidFill>
            <a:schemeClr val="tx2"/>
          </a:solidFill>
          <a:ln w="12700">
            <a:solidFill>
              <a:schemeClr val="accent2">
                <a:alpha val="45000"/>
              </a:schemeClr>
            </a:solidFill>
            <a:prstDash val="solid"/>
          </a:ln>
        </p:spPr>
      </p:sp>
      <p:sp>
        <p:nvSpPr>
          <p:cNvPr id="18" name="Phase 3 title"/>
          <p:cNvSpPr txBox="1"/>
          <p:nvPr/>
        </p:nvSpPr>
        <p:spPr>
          <a:xfrm>
            <a:off x="6382512" y="2788920"/>
            <a:ext cx="2249424" cy="731520"/>
          </a:xfrm>
          <a:prstGeom prst="rect">
            <a:avLst/>
          </a:prstGeom>
          <a:noFill/>
          <a:ln/>
        </p:spPr>
        <p:txBody>
          <a:bodyPr wrap="square" lIns="0" tIns="0" rIns="0" bIns="0" rtlCol="0" anchor="t"/>
          <a:lstStyle/>
          <a:p>
            <a:pPr indent="0" marL="0">
              <a:buNone/>
            </a:pPr>
            <a:r>
              <a:rPr lang="en-US" sz="1900" b="1" dirty="0">
                <a:solidFill>
                  <a:schemeClr val="bg1"/>
                </a:solidFill>
              </a:rPr>
              <a:t>Attack it</a:t>
            </a:r>
            <a:endParaRPr lang="en-US" sz="1900" dirty="0"/>
          </a:p>
        </p:txBody>
      </p:sp>
      <p:sp>
        <p:nvSpPr>
          <p:cNvPr id="19" name="Phase 3 body"/>
          <p:cNvSpPr txBox="1"/>
          <p:nvPr/>
        </p:nvSpPr>
        <p:spPr>
          <a:xfrm>
            <a:off x="6382512" y="3566160"/>
            <a:ext cx="2249424" cy="2057400"/>
          </a:xfrm>
          <a:prstGeom prst="rect">
            <a:avLst/>
          </a:prstGeom>
          <a:noFill/>
          <a:ln/>
        </p:spPr>
        <p:txBody>
          <a:bodyPr wrap="square" lIns="0" tIns="0" rIns="0" bIns="0" rtlCol="0" anchor="t"/>
          <a:lstStyle/>
          <a:p>
            <a:pPr indent="0" marL="0">
              <a:buNone/>
            </a:pPr>
            <a:r>
              <a:rPr lang="en-US" sz="1600" dirty="0">
                <a:solidFill>
                  <a:schemeClr val="bg2"/>
                </a:solidFill>
              </a:rPr>
              <a:t>Add to test-local: a reused nullifier, a stale root, a proof bound to another wallet, link_agent without the agent’s signature.</a:t>
            </a:r>
            <a:endParaRPr lang="en-US" sz="1600" dirty="0"/>
          </a:p>
        </p:txBody>
      </p:sp>
      <p:sp>
        <p:nvSpPr>
          <p:cNvPr id="20" name="Phase dot 4"/>
          <p:cNvSpPr/>
          <p:nvPr/>
        </p:nvSpPr>
        <p:spPr>
          <a:xfrm>
            <a:off x="10149840" y="1947672"/>
            <a:ext cx="365760" cy="365760"/>
          </a:xfrm>
          <a:prstGeom prst="ellipse">
            <a:avLst/>
          </a:prstGeom>
          <a:solidFill>
            <a:schemeClr val="accent1"/>
          </a:solidFill>
          <a:ln w="12700">
            <a:solidFill>
              <a:schemeClr val="accent1"/>
            </a:solidFill>
            <a:prstDash val="solid"/>
          </a:ln>
        </p:spPr>
      </p:sp>
      <p:sp>
        <p:nvSpPr>
          <p:cNvPr id="21" name="Phase tag 4"/>
          <p:cNvSpPr txBox="1"/>
          <p:nvPr/>
        </p:nvSpPr>
        <p:spPr>
          <a:xfrm>
            <a:off x="9025128" y="1481328"/>
            <a:ext cx="2615184" cy="365760"/>
          </a:xfrm>
          <a:prstGeom prst="rect">
            <a:avLst/>
          </a:prstGeom>
          <a:noFill/>
          <a:ln/>
        </p:spPr>
        <p:txBody>
          <a:bodyPr wrap="square" lIns="0" tIns="0" rIns="0" bIns="0" rtlCol="0" anchor="t"/>
          <a:lstStyle/>
          <a:p>
            <a:pPr algn="ctr" indent="0" marL="0">
              <a:buNone/>
            </a:pPr>
            <a:r>
              <a:rPr lang="en-US" sz="1500" b="1" dirty="0">
                <a:solidFill>
                  <a:schemeClr val="accent1"/>
                </a:solidFill>
                <a:latin typeface="+mj-lt" pitchFamily="34" charset="0"/>
                <a:ea typeface="+mj-lt" pitchFamily="34" charset="-122"/>
                <a:cs typeface="+mj-lt" pitchFamily="34" charset="-120"/>
              </a:rPr>
              <a:t>V3</a:t>
            </a:r>
            <a:endParaRPr lang="en-US" sz="1500" dirty="0"/>
          </a:p>
        </p:txBody>
      </p:sp>
      <p:sp>
        <p:nvSpPr>
          <p:cNvPr id="22" name="Phase card 4"/>
          <p:cNvSpPr/>
          <p:nvPr/>
        </p:nvSpPr>
        <p:spPr>
          <a:xfrm>
            <a:off x="9025128" y="2606040"/>
            <a:ext cx="2615184" cy="3108960"/>
          </a:xfrm>
          <a:prstGeom prst="roundRect">
            <a:avLst>
              <a:gd name="adj" fmla="val 4895"/>
            </a:avLst>
          </a:prstGeom>
          <a:solidFill>
            <a:schemeClr val="tx2"/>
          </a:solidFill>
          <a:ln w="12700">
            <a:solidFill>
              <a:schemeClr val="accent2">
                <a:alpha val="45000"/>
              </a:schemeClr>
            </a:solidFill>
            <a:prstDash val="solid"/>
          </a:ln>
        </p:spPr>
      </p:sp>
      <p:sp>
        <p:nvSpPr>
          <p:cNvPr id="23" name="Phase 4 title"/>
          <p:cNvSpPr txBox="1"/>
          <p:nvPr/>
        </p:nvSpPr>
        <p:spPr>
          <a:xfrm>
            <a:off x="9208008" y="2788920"/>
            <a:ext cx="2249424" cy="731520"/>
          </a:xfrm>
          <a:prstGeom prst="rect">
            <a:avLst/>
          </a:prstGeom>
          <a:noFill/>
          <a:ln/>
        </p:spPr>
        <p:txBody>
          <a:bodyPr wrap="square" lIns="0" tIns="0" rIns="0" bIns="0" rtlCol="0" anchor="t"/>
          <a:lstStyle/>
          <a:p>
            <a:pPr indent="0" marL="0">
              <a:buNone/>
            </a:pPr>
            <a:r>
              <a:rPr lang="en-US" sz="1900" b="1" dirty="0">
                <a:solidFill>
                  <a:schemeClr val="bg1"/>
                </a:solidFill>
              </a:rPr>
              <a:t>Turn the dials</a:t>
            </a:r>
            <a:endParaRPr lang="en-US" sz="1900" dirty="0"/>
          </a:p>
        </p:txBody>
      </p:sp>
      <p:sp>
        <p:nvSpPr>
          <p:cNvPr id="24" name="Phase 4 body"/>
          <p:cNvSpPr txBox="1"/>
          <p:nvPr/>
        </p:nvSpPr>
        <p:spPr>
          <a:xfrm>
            <a:off x="9208008" y="3566160"/>
            <a:ext cx="2249424" cy="2057400"/>
          </a:xfrm>
          <a:prstGeom prst="rect">
            <a:avLst/>
          </a:prstGeom>
          <a:noFill/>
          <a:ln/>
        </p:spPr>
        <p:txBody>
          <a:bodyPr wrap="square" lIns="0" tIns="0" rIns="0" bIns="0" rtlCol="0" anchor="t"/>
          <a:lstStyle/>
          <a:p>
            <a:pPr indent="0" marL="0">
              <a:buNone/>
            </a:pPr>
            <a:r>
              <a:rPr lang="en-US" sz="1600" dirty="0">
                <a:solidFill>
                  <a:schemeClr val="bg2"/>
                </a:solidFill>
              </a:rPr>
              <a:t>Penalties and the instant limit per operator. Several issuers. Then an audit, because zk + money = audit.</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731520" y="1371600"/>
            <a:ext cx="8229600" cy="320040"/>
          </a:xfrm>
          <a:prstGeom prst="rect">
            <a:avLst/>
          </a:prstGeom>
          <a:noFill/>
          <a:ln/>
        </p:spPr>
        <p:txBody>
          <a:bodyPr wrap="square" lIns="0" tIns="0" rIns="0" bIns="0" rtlCol="0" anchor="t"/>
          <a:lstStyle/>
          <a:p>
            <a:pPr indent="0" marL="0">
              <a:buNone/>
            </a:pPr>
            <a:r>
              <a:rPr lang="en-US" sz="1400" b="1" spc="300" kern="0" dirty="0">
                <a:solidFill>
                  <a:schemeClr val="accent1"/>
                </a:solidFill>
                <a:latin typeface="+mj-lt" pitchFamily="34" charset="0"/>
                <a:ea typeface="+mj-lt" pitchFamily="34" charset="-122"/>
                <a:cs typeface="+mj-lt" pitchFamily="34" charset="-120"/>
              </a:rPr>
              <a:t>// TL;DR</a:t>
            </a:r>
            <a:endParaRPr lang="en-US" sz="1400" dirty="0"/>
          </a:p>
        </p:txBody>
      </p:sp>
      <p:sp>
        <p:nvSpPr>
          <p:cNvPr id="3" name="Text 0"/>
          <p:cNvSpPr/>
          <p:nvPr>
            <p:ph idx="100" type="title" hasCustomPrompt="1"/>
          </p:nvPr>
        </p:nvSpPr>
        <p:spPr>
          <a:xfrm>
            <a:off x="731520" y="1874520"/>
            <a:ext cx="10698480" cy="1463040"/>
          </a:xfrm>
          <a:prstGeom prst="rect">
            <a:avLst/>
          </a:prstGeom>
          <a:noFill/>
          <a:ln/>
        </p:spPr>
        <p:txBody>
          <a:bodyPr wrap="square" lIns="0" tIns="0" rIns="0" bIns="0" rtlCol="0" anchor="b"/>
          <a:lstStyle/>
          <a:p>
            <a:pPr algn="l" indent="0" marL="0">
              <a:buNone/>
            </a:pPr>
            <a:r>
              <a:rPr lang="en-US" sz="6600" b="1" dirty="0">
                <a:solidFill>
                  <a:schemeClr val="bg1"/>
                </a:solidFill>
              </a:rPr>
              <a:t>few understand.</a:t>
            </a:r>
            <a:endParaRPr lang="en-US" sz="6600" dirty="0"/>
          </a:p>
        </p:txBody>
      </p:sp>
      <p:sp>
        <p:nvSpPr>
          <p:cNvPr id="4" name="Text 0"/>
          <p:cNvSpPr/>
          <p:nvPr>
            <p:ph idx="101" type="body" hasCustomPrompt="1"/>
          </p:nvPr>
        </p:nvSpPr>
        <p:spPr>
          <a:xfrm>
            <a:off x="731520" y="3474720"/>
            <a:ext cx="10698480" cy="822960"/>
          </a:xfrm>
          <a:prstGeom prst="rect">
            <a:avLst/>
          </a:prstGeom>
          <a:noFill/>
          <a:ln/>
        </p:spPr>
        <p:txBody>
          <a:bodyPr wrap="square" lIns="0" tIns="0" rIns="0" bIns="0" rtlCol="0" anchor="t"/>
          <a:lstStyle/>
          <a:p>
            <a:pPr algn="l" indent="0" marL="0">
              <a:buNone/>
            </a:pPr>
            <a:r>
              <a:rPr lang="en-US" sz="2600" dirty="0">
                <a:solidFill>
                  <a:schemeClr val="accent1"/>
                </a:solidFill>
              </a:rPr>
              <a:t>yes · it closes rings + whitewashing · ship after Oct 12</a:t>
            </a:r>
            <a:endParaRPr lang="en-US" sz="2600" dirty="0"/>
          </a:p>
        </p:txBody>
      </p:sp>
      <p:sp>
        <p:nvSpPr>
          <p:cNvPr id="5" name="Closing line"/>
          <p:cNvSpPr txBox="1"/>
          <p:nvPr/>
        </p:nvSpPr>
        <p:spPr>
          <a:xfrm>
            <a:off x="731520" y="4343400"/>
            <a:ext cx="10515600" cy="822960"/>
          </a:xfrm>
          <a:prstGeom prst="rect">
            <a:avLst/>
          </a:prstGeom>
          <a:noFill/>
          <a:ln/>
        </p:spPr>
        <p:txBody>
          <a:bodyPr wrap="square" lIns="0" tIns="0" rIns="0" bIns="0" rtlCol="0" anchor="t"/>
          <a:lstStyle/>
          <a:p>
            <a:pPr indent="0" marL="0">
              <a:buNone/>
            </a:pPr>
            <a:r>
              <a:rPr lang="en-US" sz="2000" dirty="0">
                <a:solidFill>
                  <a:schemeClr val="bg2"/>
                </a:solidFill>
              </a:rPr>
              <a:t>now you do. zk proves you’re one human; it can’t prove your issuer was honest. wagmi 🫡</a:t>
            </a:r>
            <a:endParaRPr lang="en-US" sz="2000" dirty="0"/>
          </a:p>
        </p:txBody>
      </p:sp>
    </p:spTree>
  </p:cSld>
  <p:clrMapOvr>
    <a:masterClrMapping/>
  </p:clrMapOvr>
</p:sld>
</file>

<file path=ppt/theme/theme1.xml><?xml version="1.0" encoding="utf-8"?>
<a:theme xmlns:a="http://schemas.openxmlformats.org/drawingml/2006/main" name="Tessera Degen">
  <a:themeElements>
    <a:clrScheme name="Tessera Degen">
      <a:dk1>
        <a:srgbClr val="0D0B1A"/>
      </a:dk1>
      <a:lt1>
        <a:srgbClr val="FFFFFF"/>
      </a:lt1>
      <a:dk2>
        <a:srgbClr val="1B1733"/>
      </a:dk2>
      <a:lt2>
        <a:srgbClr val="A9A4C9"/>
      </a:lt2>
      <a:accent1>
        <a:srgbClr val="14F195"/>
      </a:accent1>
      <a:accent2>
        <a:srgbClr val="9945FF"/>
      </a:accent2>
      <a:accent3>
        <a:srgbClr val="FFD23F"/>
      </a:accent3>
      <a:accent4>
        <a:srgbClr val="FF4F9A"/>
      </a:accent4>
      <a:accent5>
        <a:srgbClr val="00C2FF"/>
      </a:accent5>
      <a:accent6>
        <a:srgbClr val="FF5A4E"/>
      </a:accent6>
      <a:hlink>
        <a:srgbClr val="14F195"/>
      </a:hlink>
      <a:folHlink>
        <a:srgbClr val="C79BFF"/>
      </a:folHlink>
    </a:clrScheme>
    <a:fontScheme name="Tessera Degen">
      <a:majorFont>
        <a:latin typeface="Courier Ne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Tessera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zk or ngmi: Sybil-proofing Tessera</dc:title>
  <dc:subject>How zero-knowledge proofs and nullifiers would plug into Tessera without KYC exposure</dc:subject>
  <dc:creator>Edison Liu</dc:creator>
  <cp:lastModifiedBy>Edison Liu</cp:lastModifiedBy>
  <cp:revision>1</cp:revision>
  <dcterms:created xsi:type="dcterms:W3CDTF">2026-10-07T16:43:36Z</dcterms:created>
  <dcterms:modified xsi:type="dcterms:W3CDTF">2026-10-07T16:43:36Z</dcterms:modified>
</cp:coreProperties>
</file>